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6" r:id="rId2"/>
    <p:sldId id="259" r:id="rId3"/>
    <p:sldId id="268" r:id="rId4"/>
    <p:sldId id="269" r:id="rId5"/>
    <p:sldId id="270" r:id="rId6"/>
    <p:sldId id="271" r:id="rId7"/>
    <p:sldId id="272" r:id="rId8"/>
    <p:sldId id="266" r:id="rId9"/>
    <p:sldId id="274" r:id="rId10"/>
    <p:sldId id="275" r:id="rId11"/>
    <p:sldId id="277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155" d="100"/>
          <a:sy n="155" d="100"/>
        </p:scale>
        <p:origin x="162" y="21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DE07B-1B3F-4361-8806-A782B5DA0645}" type="datetimeFigureOut">
              <a:rPr lang="ru-RU" smtClean="0"/>
              <a:pPr/>
              <a:t>22.01.2026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67FFF-3B35-4177-8F85-0BFF3145B7F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1681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DE07B-1B3F-4361-8806-A782B5DA0645}" type="datetimeFigureOut">
              <a:rPr lang="ru-RU" smtClean="0"/>
              <a:pPr/>
              <a:t>22.01.2026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67FFF-3B35-4177-8F85-0BFF3145B7F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1574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DE07B-1B3F-4361-8806-A782B5DA0645}" type="datetimeFigureOut">
              <a:rPr lang="ru-RU" smtClean="0"/>
              <a:pPr/>
              <a:t>22.01.2026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67FFF-3B35-4177-8F85-0BFF3145B7F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97842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DE07B-1B3F-4361-8806-A782B5DA0645}" type="datetimeFigureOut">
              <a:rPr lang="ru-RU" smtClean="0"/>
              <a:pPr/>
              <a:t>22.01.2026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67FFF-3B35-4177-8F85-0BFF3145B7F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5011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DE07B-1B3F-4361-8806-A782B5DA0645}" type="datetimeFigureOut">
              <a:rPr lang="ru-RU" smtClean="0"/>
              <a:pPr/>
              <a:t>22.01.2026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67FFF-3B35-4177-8F85-0BFF3145B7F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1993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DE07B-1B3F-4361-8806-A782B5DA0645}" type="datetimeFigureOut">
              <a:rPr lang="ru-RU" smtClean="0"/>
              <a:pPr/>
              <a:t>22.01.2026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67FFF-3B35-4177-8F85-0BFF3145B7F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2040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DE07B-1B3F-4361-8806-A782B5DA0645}" type="datetimeFigureOut">
              <a:rPr lang="ru-RU" smtClean="0"/>
              <a:pPr/>
              <a:t>22.01.2026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67FFF-3B35-4177-8F85-0BFF3145B7F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10256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DE07B-1B3F-4361-8806-A782B5DA0645}" type="datetimeFigureOut">
              <a:rPr lang="ru-RU" smtClean="0"/>
              <a:pPr/>
              <a:t>22.01.2026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67FFF-3B35-4177-8F85-0BFF3145B7F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0960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DE07B-1B3F-4361-8806-A782B5DA0645}" type="datetimeFigureOut">
              <a:rPr lang="ru-RU" smtClean="0"/>
              <a:pPr/>
              <a:t>22.01.2026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67FFF-3B35-4177-8F85-0BFF3145B7F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1161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DE07B-1B3F-4361-8806-A782B5DA0645}" type="datetimeFigureOut">
              <a:rPr lang="ru-RU" smtClean="0"/>
              <a:pPr/>
              <a:t>22.01.2026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67FFF-3B35-4177-8F85-0BFF3145B7F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99141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DE07B-1B3F-4361-8806-A782B5DA0645}" type="datetimeFigureOut">
              <a:rPr lang="ru-RU" smtClean="0"/>
              <a:pPr/>
              <a:t>22.01.2026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67FFF-3B35-4177-8F85-0BFF3145B7F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1577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9DE07B-1B3F-4361-8806-A782B5DA0645}" type="datetimeFigureOut">
              <a:rPr lang="ru-RU" smtClean="0"/>
              <a:pPr/>
              <a:t>22.01.2026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C67FFF-3B35-4177-8F85-0BFF3145B7F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1535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app.diagrams.net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>
                <a:latin typeface="-apple-system"/>
              </a:rPr>
              <a:t>Информатика и компьютерные технологии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>
                <a:latin typeface="-apple-system"/>
              </a:rPr>
              <a:t>Савкин Артём Евгеньевич</a:t>
            </a:r>
          </a:p>
          <a:p>
            <a:r>
              <a:rPr lang="ru-RU" dirty="0">
                <a:latin typeface="-apple-system"/>
              </a:rPr>
              <a:t>Тел.</a:t>
            </a:r>
            <a:r>
              <a:rPr lang="en-US" dirty="0">
                <a:latin typeface="-apple-system"/>
              </a:rPr>
              <a:t>: </a:t>
            </a:r>
            <a:r>
              <a:rPr lang="ru-RU" dirty="0">
                <a:latin typeface="-apple-system"/>
              </a:rPr>
              <a:t>+7-951-914-11-34</a:t>
            </a:r>
          </a:p>
          <a:p>
            <a:r>
              <a:rPr lang="en-US" dirty="0">
                <a:latin typeface="-apple-system"/>
              </a:rPr>
              <a:t>E-mail: sae.20@bk.ru</a:t>
            </a:r>
            <a:endParaRPr lang="ru-RU" dirty="0"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33619319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23280" y="214567"/>
            <a:ext cx="107454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800" dirty="0">
                <a:latin typeface="-apple-system"/>
              </a:rPr>
              <a:t>«Блок-схемы алгоритмов»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BB467F9-F1C8-45EB-A7DE-916833C1EB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4662" y="1369095"/>
            <a:ext cx="3944983" cy="5274338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D3BB525-5E5F-46E4-8D50-5EC8484AFB4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6608" y="1489094"/>
            <a:ext cx="6259629" cy="5034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01897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6048F3-C134-4B76-BE62-3C773E94D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3600" dirty="0">
                <a:latin typeface="-apple-system"/>
              </a:rPr>
              <a:t>Графы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CF5A455-8624-4956-88DB-C625729055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253331"/>
            <a:ext cx="10515600" cy="4351338"/>
          </a:xfrm>
        </p:spPr>
        <p:txBody>
          <a:bodyPr>
            <a:normAutofit/>
          </a:bodyPr>
          <a:lstStyle/>
          <a:p>
            <a:r>
              <a:rPr lang="ru-RU" sz="2200" b="1" i="0" dirty="0">
                <a:solidFill>
                  <a:srgbClr val="111111"/>
                </a:solidFill>
                <a:effectLst/>
                <a:latin typeface="-apple-system"/>
              </a:rPr>
              <a:t>Граф - </a:t>
            </a:r>
            <a:r>
              <a:rPr lang="ru-RU" sz="2200" b="0" i="0" dirty="0">
                <a:solidFill>
                  <a:srgbClr val="111111"/>
                </a:solidFill>
                <a:effectLst/>
                <a:latin typeface="-apple-system"/>
              </a:rPr>
              <a:t>это </a:t>
            </a:r>
            <a:r>
              <a:rPr lang="ru-RU" sz="2200" b="0" i="0" dirty="0" err="1">
                <a:solidFill>
                  <a:srgbClr val="111111"/>
                </a:solidFill>
                <a:effectLst/>
                <a:latin typeface="-apple-system"/>
              </a:rPr>
              <a:t>топологичекая</a:t>
            </a:r>
            <a:r>
              <a:rPr lang="ru-RU" sz="2200" b="0" i="0" dirty="0">
                <a:solidFill>
                  <a:srgbClr val="111111"/>
                </a:solidFill>
                <a:effectLst/>
                <a:latin typeface="-apple-system"/>
              </a:rPr>
              <a:t> модель, которая состоит из множества вершин и множества соединяющих их рёбер. При этом значение имеет только сам факт, какая вершина с какой соединена.</a:t>
            </a:r>
            <a:endParaRPr lang="ru-RU" sz="22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5FD3FA7-CC67-45FE-A685-E78BE3EC8F6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5596" y="2578894"/>
            <a:ext cx="5240806" cy="3930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367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6048F3-C134-4B76-BE62-3C773E94D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3600" dirty="0">
                <a:latin typeface="-apple-system"/>
              </a:rPr>
              <a:t>Ориентированный и неориентированный графы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CF5A455-8624-4956-88DB-C625729055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25563"/>
            <a:ext cx="10515600" cy="4351338"/>
          </a:xfrm>
        </p:spPr>
        <p:txBody>
          <a:bodyPr>
            <a:normAutofit/>
          </a:bodyPr>
          <a:lstStyle/>
          <a:p>
            <a:r>
              <a:rPr lang="ru-RU" sz="2200" b="1" i="0" dirty="0">
                <a:solidFill>
                  <a:srgbClr val="111111"/>
                </a:solidFill>
                <a:effectLst/>
                <a:latin typeface="-apple-system"/>
              </a:rPr>
              <a:t>Ориентированный граф </a:t>
            </a:r>
            <a:r>
              <a:rPr lang="ru-RU" sz="2200" i="0" dirty="0">
                <a:solidFill>
                  <a:srgbClr val="111111"/>
                </a:solidFill>
                <a:effectLst/>
                <a:latin typeface="-apple-system"/>
              </a:rPr>
              <a:t>или</a:t>
            </a:r>
            <a:r>
              <a:rPr lang="ru-RU" sz="2200" b="1" i="0" dirty="0">
                <a:solidFill>
                  <a:srgbClr val="111111"/>
                </a:solidFill>
                <a:effectLst/>
                <a:latin typeface="-apple-system"/>
              </a:rPr>
              <a:t> </a:t>
            </a:r>
            <a:r>
              <a:rPr lang="ru-RU" sz="2200" b="1" dirty="0">
                <a:solidFill>
                  <a:srgbClr val="111111"/>
                </a:solidFill>
                <a:effectLst/>
                <a:latin typeface="-apple-system"/>
              </a:rPr>
              <a:t>Орграф</a:t>
            </a:r>
            <a:r>
              <a:rPr lang="ru-RU" sz="2200" b="0" i="0" dirty="0">
                <a:solidFill>
                  <a:srgbClr val="111111"/>
                </a:solidFill>
                <a:effectLst/>
                <a:latin typeface="-apple-system"/>
              </a:rPr>
              <a:t> - граф, в котором рёбра имеют направления. </a:t>
            </a:r>
          </a:p>
          <a:p>
            <a:pPr marL="0" indent="0">
              <a:buNone/>
            </a:pPr>
            <a:r>
              <a:rPr lang="ru-RU" sz="2200" i="1" dirty="0">
                <a:solidFill>
                  <a:srgbClr val="111111"/>
                </a:solidFill>
                <a:latin typeface="-apple-system"/>
              </a:rPr>
              <a:t>   </a:t>
            </a:r>
            <a:r>
              <a:rPr lang="ru-RU" sz="2200" b="0" i="1" dirty="0">
                <a:solidFill>
                  <a:srgbClr val="111111"/>
                </a:solidFill>
                <a:effectLst/>
                <a:latin typeface="-apple-system"/>
              </a:rPr>
              <a:t>Дуги</a:t>
            </a:r>
            <a:r>
              <a:rPr lang="ru-RU" sz="2200" b="0" i="0" dirty="0">
                <a:solidFill>
                  <a:srgbClr val="111111"/>
                </a:solidFill>
                <a:effectLst/>
                <a:latin typeface="-apple-system"/>
              </a:rPr>
              <a:t> - направленные рёбра в ориентированном графе.</a:t>
            </a:r>
            <a:endParaRPr lang="ru-RU" sz="2200" dirty="0">
              <a:latin typeface="-apple-system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65173AE-8085-4433-A977-D7B6D65E599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5" r="3656"/>
          <a:stretch/>
        </p:blipFill>
        <p:spPr>
          <a:xfrm>
            <a:off x="461551" y="2397032"/>
            <a:ext cx="5634447" cy="4406537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E8905F9-4655-46E7-A75C-4B9C9A020E3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101"/>
          <a:stretch/>
        </p:blipFill>
        <p:spPr>
          <a:xfrm>
            <a:off x="6095999" y="2397033"/>
            <a:ext cx="5634447" cy="4406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069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4FCFED-8C4F-4F12-BA23-7D7973463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3600" dirty="0">
                <a:latin typeface="-apple-system"/>
              </a:rPr>
              <a:t>Блок схема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B8498A8-25CD-4CB7-BFC0-6D39623ADC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085396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200" dirty="0">
                <a:effectLst/>
                <a:latin typeface="-apple-system"/>
                <a:ea typeface="Calibri" panose="020F0502020204030204" pitchFamily="34" charset="0"/>
              </a:rPr>
              <a:t>Блок-схема - это </a:t>
            </a:r>
            <a:r>
              <a:rPr lang="ru-RU" sz="2200" b="1" dirty="0">
                <a:effectLst/>
                <a:latin typeface="-apple-system"/>
                <a:ea typeface="Calibri" panose="020F0502020204030204" pitchFamily="34" charset="0"/>
              </a:rPr>
              <a:t>ориентированный граф</a:t>
            </a:r>
            <a:r>
              <a:rPr lang="ru-RU" sz="2200" dirty="0">
                <a:effectLst/>
                <a:latin typeface="-apple-system"/>
                <a:ea typeface="Calibri" panose="020F0502020204030204" pitchFamily="34" charset="0"/>
              </a:rPr>
              <a:t>, указывающий порядок исполнения команд алгоритма.</a:t>
            </a:r>
            <a:endParaRPr lang="ru-RU" sz="2200" dirty="0">
              <a:latin typeface="-apple-system"/>
            </a:endParaRPr>
          </a:p>
        </p:txBody>
      </p:sp>
      <p:pic>
        <p:nvPicPr>
          <p:cNvPr id="3074" name="Рисунок 12">
            <a:extLst>
              <a:ext uri="{FF2B5EF4-FFF2-40B4-BE49-F238E27FC236}">
                <a16:creationId xmlns:a16="http://schemas.microsoft.com/office/drawing/2014/main" id="{20BC8A73-7E5E-4B53-BCD8-ABD8A03451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2939" y="1828510"/>
            <a:ext cx="5346122" cy="23200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DB04F06-B388-4341-8473-0D1170BD841D}"/>
              </a:ext>
            </a:extLst>
          </p:cNvPr>
          <p:cNvSpPr txBox="1"/>
          <p:nvPr/>
        </p:nvSpPr>
        <p:spPr>
          <a:xfrm>
            <a:off x="702126" y="4313349"/>
            <a:ext cx="10787743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/>
            <a:r>
              <a:rPr lang="x-none" sz="2000" b="1" dirty="0">
                <a:effectLst/>
                <a:latin typeface="-apple-system"/>
                <a:ea typeface="Times New Roman" panose="02020603050405020304" pitchFamily="18" charset="0"/>
              </a:rPr>
              <a:t>(</a:t>
            </a:r>
            <a:r>
              <a:rPr lang="x-none" sz="2000" b="1" i="1" dirty="0">
                <a:effectLst/>
                <a:latin typeface="-apple-system"/>
                <a:ea typeface="Times New Roman" panose="02020603050405020304" pitchFamily="18" charset="0"/>
              </a:rPr>
              <a:t>a</a:t>
            </a:r>
            <a:r>
              <a:rPr lang="x-none" sz="2000" b="1" dirty="0">
                <a:effectLst/>
                <a:latin typeface="-apple-system"/>
                <a:ea typeface="Times New Roman" panose="02020603050405020304" pitchFamily="18" charset="0"/>
              </a:rPr>
              <a:t>)</a:t>
            </a:r>
            <a:r>
              <a:rPr lang="x-none" sz="2000" dirty="0">
                <a:effectLst/>
                <a:latin typeface="-apple-system"/>
                <a:ea typeface="Times New Roman" panose="02020603050405020304" pitchFamily="18" charset="0"/>
              </a:rPr>
              <a:t> </a:t>
            </a:r>
            <a:r>
              <a:rPr lang="x-none" sz="2000" b="1" i="1" dirty="0">
                <a:effectLst/>
                <a:latin typeface="-apple-system"/>
                <a:ea typeface="Times New Roman" panose="02020603050405020304" pitchFamily="18" charset="0"/>
              </a:rPr>
              <a:t>«функциональная» </a:t>
            </a:r>
            <a:r>
              <a:rPr lang="x-none" sz="2000" dirty="0">
                <a:effectLst/>
                <a:latin typeface="-apple-system"/>
                <a:ea typeface="Times New Roman" panose="02020603050405020304" pitchFamily="18" charset="0"/>
              </a:rPr>
              <a:t>вершина (имеющая один вход и один выход);</a:t>
            </a:r>
            <a:r>
              <a:rPr lang="x-none" sz="2000" b="1" dirty="0">
                <a:effectLst/>
                <a:latin typeface="-apple-system"/>
                <a:ea typeface="Times New Roman" panose="02020603050405020304" pitchFamily="18" charset="0"/>
              </a:rPr>
              <a:t> </a:t>
            </a:r>
            <a:endParaRPr lang="ru-RU" sz="2000" b="1" dirty="0">
              <a:effectLst/>
              <a:latin typeface="-apple-system"/>
              <a:ea typeface="Times New Roman" panose="02020603050405020304" pitchFamily="18" charset="0"/>
            </a:endParaRPr>
          </a:p>
          <a:p>
            <a:pPr indent="450215"/>
            <a:r>
              <a:rPr lang="x-none" sz="2000" b="1" i="1" dirty="0">
                <a:effectLst/>
                <a:latin typeface="-apple-system"/>
                <a:ea typeface="Times New Roman" panose="02020603050405020304" pitchFamily="18" charset="0"/>
              </a:rPr>
              <a:t>(б)</a:t>
            </a:r>
            <a:r>
              <a:rPr lang="x-none" sz="2000" b="1" dirty="0">
                <a:effectLst/>
                <a:latin typeface="-apple-system"/>
                <a:ea typeface="Times New Roman" panose="02020603050405020304" pitchFamily="18" charset="0"/>
              </a:rPr>
              <a:t> </a:t>
            </a:r>
            <a:r>
              <a:rPr lang="x-none" sz="2000" b="1" i="1" dirty="0">
                <a:effectLst/>
                <a:latin typeface="-apple-system"/>
                <a:ea typeface="Times New Roman" panose="02020603050405020304" pitchFamily="18" charset="0"/>
              </a:rPr>
              <a:t>«предикатная» </a:t>
            </a:r>
            <a:r>
              <a:rPr lang="x-none" sz="2000" dirty="0">
                <a:effectLst/>
                <a:latin typeface="-apple-system"/>
                <a:ea typeface="Times New Roman" panose="02020603050405020304" pitchFamily="18" charset="0"/>
              </a:rPr>
              <a:t>вершина, имеющая один вход и два выхода (в этом случае функция </a:t>
            </a:r>
            <a:r>
              <a:rPr lang="x-none" sz="2000" i="1" dirty="0">
                <a:effectLst/>
                <a:latin typeface="-apple-system"/>
                <a:ea typeface="Times New Roman" panose="02020603050405020304" pitchFamily="18" charset="0"/>
              </a:rPr>
              <a:t>Р</a:t>
            </a:r>
            <a:r>
              <a:rPr lang="x-none" sz="2000" dirty="0">
                <a:effectLst/>
                <a:latin typeface="-apple-system"/>
                <a:ea typeface="Times New Roman" panose="02020603050405020304" pitchFamily="18" charset="0"/>
              </a:rPr>
              <a:t> передает управление по одной из ветвей в зависимости от значения </a:t>
            </a:r>
            <a:r>
              <a:rPr lang="x-none" sz="2000" i="1" dirty="0">
                <a:effectLst/>
                <a:latin typeface="-apple-system"/>
                <a:ea typeface="Times New Roman" panose="02020603050405020304" pitchFamily="18" charset="0"/>
              </a:rPr>
              <a:t>Р (Т,</a:t>
            </a:r>
            <a:r>
              <a:rPr lang="x-none" sz="2000" dirty="0">
                <a:effectLst/>
                <a:latin typeface="-apple-system"/>
                <a:ea typeface="Times New Roman" panose="02020603050405020304" pitchFamily="18" charset="0"/>
              </a:rPr>
              <a:t> т.е. true, означает «истина», </a:t>
            </a:r>
            <a:r>
              <a:rPr lang="x-none" sz="2000" i="1" dirty="0">
                <a:effectLst/>
                <a:latin typeface="-apple-system"/>
                <a:ea typeface="Times New Roman" panose="02020603050405020304" pitchFamily="18" charset="0"/>
              </a:rPr>
              <a:t>F,</a:t>
            </a:r>
            <a:r>
              <a:rPr lang="x-none" sz="2000" dirty="0">
                <a:effectLst/>
                <a:latin typeface="-apple-system"/>
                <a:ea typeface="Times New Roman" panose="02020603050405020304" pitchFamily="18" charset="0"/>
              </a:rPr>
              <a:t> т.е. false - «ложь»); </a:t>
            </a:r>
            <a:endParaRPr lang="ru-RU" sz="2000" dirty="0">
              <a:effectLst/>
              <a:latin typeface="-apple-system"/>
              <a:ea typeface="Times New Roman" panose="02020603050405020304" pitchFamily="18" charset="0"/>
            </a:endParaRPr>
          </a:p>
          <a:p>
            <a:pPr indent="450215"/>
            <a:r>
              <a:rPr lang="x-none" sz="2000" b="1" dirty="0">
                <a:effectLst/>
                <a:latin typeface="-apple-system"/>
                <a:ea typeface="Times New Roman" panose="02020603050405020304" pitchFamily="18" charset="0"/>
              </a:rPr>
              <a:t>(в) </a:t>
            </a:r>
            <a:r>
              <a:rPr lang="x-none" sz="2000" b="1" i="1" dirty="0">
                <a:effectLst/>
                <a:latin typeface="-apple-system"/>
                <a:ea typeface="Times New Roman" panose="02020603050405020304" pitchFamily="18" charset="0"/>
              </a:rPr>
              <a:t>«объединяющая» </a:t>
            </a:r>
            <a:r>
              <a:rPr lang="x-none" sz="2000" dirty="0">
                <a:effectLst/>
                <a:latin typeface="-apple-system"/>
                <a:ea typeface="Times New Roman" panose="02020603050405020304" pitchFamily="18" charset="0"/>
              </a:rPr>
              <a:t>вершина (вершина «слияния»), обеспечивающая передачу управления от одного из двух входов к выходу. Иногда вместо Т пишут «да» (либо знак +), вместо </a:t>
            </a:r>
            <a:r>
              <a:rPr lang="x-none" sz="2000" i="1" dirty="0">
                <a:effectLst/>
                <a:latin typeface="-apple-system"/>
                <a:ea typeface="Times New Roman" panose="02020603050405020304" pitchFamily="18" charset="0"/>
              </a:rPr>
              <a:t>F-</a:t>
            </a:r>
            <a:r>
              <a:rPr lang="x-none" sz="2000" dirty="0">
                <a:effectLst/>
                <a:latin typeface="-apple-system"/>
                <a:ea typeface="Times New Roman" panose="02020603050405020304" pitchFamily="18" charset="0"/>
              </a:rPr>
              <a:t> «нет» (либо знак -).</a:t>
            </a:r>
            <a:endParaRPr lang="ru-RU" sz="2000" dirty="0">
              <a:effectLst/>
              <a:latin typeface="-apple-system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76847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2CFB3264-F2EB-433C-9053-9B2618AB86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301" y="3505201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x-none" sz="2000" i="1" dirty="0">
                <a:effectLst/>
                <a:latin typeface="-apple-system"/>
                <a:ea typeface="Times New Roman" panose="02020603050405020304" pitchFamily="18" charset="0"/>
              </a:rPr>
              <a:t>а</a:t>
            </a:r>
            <a:r>
              <a:rPr lang="ru-RU" sz="2000" i="1" dirty="0">
                <a:effectLst/>
                <a:latin typeface="-apple-system"/>
                <a:ea typeface="Times New Roman" panose="02020603050405020304" pitchFamily="18" charset="0"/>
              </a:rPr>
              <a:t>)</a:t>
            </a:r>
            <a:r>
              <a:rPr lang="x-none" sz="2000" i="1" dirty="0">
                <a:effectLst/>
                <a:latin typeface="-apple-system"/>
                <a:ea typeface="Times New Roman" panose="02020603050405020304" pitchFamily="18" charset="0"/>
              </a:rPr>
              <a:t> -</a:t>
            </a:r>
            <a:r>
              <a:rPr lang="x-none" sz="2000" b="1" i="1" dirty="0">
                <a:effectLst/>
                <a:latin typeface="-apple-system"/>
                <a:ea typeface="Times New Roman" panose="02020603050405020304" pitchFamily="18" charset="0"/>
              </a:rPr>
              <a:t> композиция</a:t>
            </a:r>
            <a:r>
              <a:rPr lang="x-none" sz="2000" b="1" dirty="0">
                <a:effectLst/>
                <a:latin typeface="-apple-system"/>
                <a:ea typeface="Times New Roman" panose="02020603050405020304" pitchFamily="18" charset="0"/>
              </a:rPr>
              <a:t>,</a:t>
            </a:r>
            <a:r>
              <a:rPr lang="x-none" sz="2000" dirty="0">
                <a:effectLst/>
                <a:latin typeface="-apple-system"/>
                <a:ea typeface="Times New Roman" panose="02020603050405020304" pitchFamily="18" charset="0"/>
              </a:rPr>
              <a:t> или </a:t>
            </a:r>
            <a:r>
              <a:rPr lang="x-none" sz="2000" b="1" i="1" dirty="0">
                <a:effectLst/>
                <a:latin typeface="-apple-system"/>
                <a:ea typeface="Times New Roman" panose="02020603050405020304" pitchFamily="18" charset="0"/>
              </a:rPr>
              <a:t>следование</a:t>
            </a:r>
            <a:r>
              <a:rPr lang="en-US" sz="2000" b="1" i="1" dirty="0">
                <a:latin typeface="-apple-system"/>
                <a:ea typeface="Times New Roman" panose="02020603050405020304" pitchFamily="18" charset="0"/>
              </a:rPr>
              <a:t>;</a:t>
            </a:r>
            <a:r>
              <a:rPr lang="x-none" sz="2000" dirty="0">
                <a:effectLst/>
                <a:latin typeface="-apple-system"/>
                <a:ea typeface="Times New Roman" panose="02020603050405020304" pitchFamily="18" charset="0"/>
              </a:rPr>
              <a:t> </a:t>
            </a:r>
            <a:endParaRPr lang="ru-RU" sz="2000" dirty="0">
              <a:latin typeface="-apple-system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x-none" sz="2000" i="1" dirty="0">
                <a:effectLst/>
                <a:latin typeface="-apple-system"/>
                <a:ea typeface="Times New Roman" panose="02020603050405020304" pitchFamily="18" charset="0"/>
              </a:rPr>
              <a:t>б</a:t>
            </a:r>
            <a:r>
              <a:rPr lang="ru-RU" sz="2000" i="1" dirty="0">
                <a:effectLst/>
                <a:latin typeface="-apple-system"/>
                <a:ea typeface="Times New Roman" panose="02020603050405020304" pitchFamily="18" charset="0"/>
              </a:rPr>
              <a:t>)</a:t>
            </a:r>
            <a:r>
              <a:rPr lang="x-none" sz="2000" i="1" dirty="0">
                <a:effectLst/>
                <a:latin typeface="-apple-system"/>
                <a:ea typeface="Times New Roman" panose="02020603050405020304" pitchFamily="18" charset="0"/>
              </a:rPr>
              <a:t> -</a:t>
            </a:r>
            <a:r>
              <a:rPr lang="x-none" sz="2000" b="1" dirty="0">
                <a:effectLst/>
                <a:latin typeface="-apple-system"/>
                <a:ea typeface="Times New Roman" panose="02020603050405020304" pitchFamily="18" charset="0"/>
              </a:rPr>
              <a:t> </a:t>
            </a:r>
            <a:r>
              <a:rPr lang="x-none" sz="2000" b="1" i="1" dirty="0">
                <a:effectLst/>
                <a:latin typeface="-apple-system"/>
                <a:ea typeface="Times New Roman" panose="02020603050405020304" pitchFamily="18" charset="0"/>
              </a:rPr>
              <a:t>альтернатива</a:t>
            </a:r>
            <a:r>
              <a:rPr lang="x-none" sz="2000" b="1" dirty="0">
                <a:effectLst/>
                <a:latin typeface="-apple-system"/>
                <a:ea typeface="Times New Roman" panose="02020603050405020304" pitchFamily="18" charset="0"/>
              </a:rPr>
              <a:t>,</a:t>
            </a:r>
            <a:r>
              <a:rPr lang="x-none" sz="2000" dirty="0">
                <a:effectLst/>
                <a:latin typeface="-apple-system"/>
                <a:ea typeface="Times New Roman" panose="02020603050405020304" pitchFamily="18" charset="0"/>
              </a:rPr>
              <a:t> или</a:t>
            </a:r>
            <a:r>
              <a:rPr lang="x-none" sz="2000" b="1" dirty="0">
                <a:effectLst/>
                <a:latin typeface="-apple-system"/>
                <a:ea typeface="Times New Roman" panose="02020603050405020304" pitchFamily="18" charset="0"/>
              </a:rPr>
              <a:t> </a:t>
            </a:r>
            <a:r>
              <a:rPr lang="x-none" sz="2000" b="1" i="1" dirty="0">
                <a:effectLst/>
                <a:latin typeface="-apple-system"/>
                <a:ea typeface="Times New Roman" panose="02020603050405020304" pitchFamily="18" charset="0"/>
              </a:rPr>
              <a:t>развилка</a:t>
            </a:r>
            <a:r>
              <a:rPr lang="en-US" sz="2000" b="1" i="1" dirty="0">
                <a:effectLst/>
                <a:latin typeface="-apple-system"/>
                <a:ea typeface="Times New Roman" panose="02020603050405020304" pitchFamily="18" charset="0"/>
              </a:rPr>
              <a:t>;</a:t>
            </a:r>
            <a:endParaRPr lang="ru-RU" sz="2000" b="1" dirty="0">
              <a:effectLst/>
              <a:latin typeface="-apple-system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x-none" sz="2000" i="1" dirty="0">
                <a:effectLst/>
                <a:latin typeface="-apple-system"/>
                <a:ea typeface="Times New Roman" panose="02020603050405020304" pitchFamily="18" charset="0"/>
              </a:rPr>
              <a:t>в</a:t>
            </a:r>
            <a:r>
              <a:rPr lang="ru-RU" sz="2000" i="1" dirty="0">
                <a:effectLst/>
                <a:latin typeface="-apple-system"/>
                <a:ea typeface="Times New Roman" panose="02020603050405020304" pitchFamily="18" charset="0"/>
              </a:rPr>
              <a:t>)</a:t>
            </a:r>
            <a:r>
              <a:rPr lang="x-none" sz="2000" dirty="0">
                <a:effectLst/>
                <a:latin typeface="-apple-system"/>
                <a:ea typeface="Times New Roman" panose="02020603050405020304" pitchFamily="18" charset="0"/>
              </a:rPr>
              <a:t> и </a:t>
            </a:r>
            <a:r>
              <a:rPr lang="x-none" sz="2000" i="1" dirty="0">
                <a:effectLst/>
                <a:latin typeface="-apple-system"/>
                <a:ea typeface="Times New Roman" panose="02020603050405020304" pitchFamily="18" charset="0"/>
              </a:rPr>
              <a:t>г</a:t>
            </a:r>
            <a:r>
              <a:rPr lang="ru-RU" sz="2000" i="1" dirty="0">
                <a:effectLst/>
                <a:latin typeface="-apple-system"/>
                <a:ea typeface="Times New Roman" panose="02020603050405020304" pitchFamily="18" charset="0"/>
              </a:rPr>
              <a:t>)</a:t>
            </a:r>
            <a:r>
              <a:rPr lang="x-none" sz="2000" b="1" i="1" dirty="0">
                <a:effectLst/>
                <a:latin typeface="-apple-system"/>
                <a:ea typeface="Times New Roman" panose="02020603050405020304" pitchFamily="18" charset="0"/>
              </a:rPr>
              <a:t> -</a:t>
            </a:r>
            <a:r>
              <a:rPr lang="x-none" sz="2000" dirty="0">
                <a:effectLst/>
                <a:latin typeface="-apple-system"/>
                <a:ea typeface="Times New Roman" panose="02020603050405020304" pitchFamily="18" charset="0"/>
              </a:rPr>
              <a:t> блок-схемы, каждую из которых называют</a:t>
            </a:r>
            <a:r>
              <a:rPr lang="x-none" sz="2000" b="1" dirty="0">
                <a:effectLst/>
                <a:latin typeface="-apple-system"/>
                <a:ea typeface="Times New Roman" panose="02020603050405020304" pitchFamily="18" charset="0"/>
              </a:rPr>
              <a:t> </a:t>
            </a:r>
            <a:r>
              <a:rPr lang="x-none" sz="2000" b="1" i="1" dirty="0">
                <a:effectLst/>
                <a:latin typeface="-apple-system"/>
                <a:ea typeface="Times New Roman" panose="02020603050405020304" pitchFamily="18" charset="0"/>
              </a:rPr>
              <a:t>итерацией</a:t>
            </a:r>
            <a:r>
              <a:rPr lang="x-none" sz="2000" b="1" dirty="0">
                <a:effectLst/>
                <a:latin typeface="-apple-system"/>
                <a:ea typeface="Times New Roman" panose="02020603050405020304" pitchFamily="18" charset="0"/>
              </a:rPr>
              <a:t>,</a:t>
            </a:r>
            <a:r>
              <a:rPr lang="x-none" sz="2000" dirty="0">
                <a:effectLst/>
                <a:latin typeface="-apple-system"/>
                <a:ea typeface="Times New Roman" panose="02020603050405020304" pitchFamily="18" charset="0"/>
              </a:rPr>
              <a:t> или</a:t>
            </a:r>
            <a:r>
              <a:rPr lang="ru-RU" sz="2000" dirty="0">
                <a:effectLst/>
                <a:latin typeface="-apple-system"/>
                <a:ea typeface="Times New Roman" panose="02020603050405020304" pitchFamily="18" charset="0"/>
              </a:rPr>
              <a:t> </a:t>
            </a:r>
            <a:r>
              <a:rPr lang="x-none" sz="2000" b="1" i="1" dirty="0">
                <a:effectLst/>
                <a:latin typeface="-apple-system"/>
                <a:ea typeface="Times New Roman" panose="02020603050405020304" pitchFamily="18" charset="0"/>
              </a:rPr>
              <a:t>циклом</a:t>
            </a:r>
            <a:r>
              <a:rPr lang="x-none" sz="2000" dirty="0">
                <a:effectLst/>
                <a:latin typeface="-apple-system"/>
                <a:ea typeface="Times New Roman" panose="02020603050405020304" pitchFamily="18" charset="0"/>
              </a:rPr>
              <a:t> (</a:t>
            </a:r>
            <a:r>
              <a:rPr lang="x-none" sz="2000" i="1" u="sng" dirty="0">
                <a:effectLst/>
                <a:latin typeface="-apple-system"/>
                <a:ea typeface="Times New Roman" panose="02020603050405020304" pitchFamily="18" charset="0"/>
              </a:rPr>
              <a:t>с предусловием </a:t>
            </a:r>
            <a:r>
              <a:rPr lang="x-none" sz="2000" dirty="0">
                <a:effectLst/>
                <a:latin typeface="-apple-system"/>
                <a:ea typeface="Times New Roman" panose="02020603050405020304" pitchFamily="18" charset="0"/>
              </a:rPr>
              <a:t>(</a:t>
            </a:r>
            <a:r>
              <a:rPr lang="x-none" sz="2000" i="1" dirty="0">
                <a:effectLst/>
                <a:latin typeface="-apple-system"/>
                <a:ea typeface="Times New Roman" panose="02020603050405020304" pitchFamily="18" charset="0"/>
              </a:rPr>
              <a:t>в</a:t>
            </a:r>
            <a:r>
              <a:rPr lang="x-none" sz="2000" dirty="0">
                <a:effectLst/>
                <a:latin typeface="-apple-system"/>
                <a:ea typeface="Times New Roman" panose="02020603050405020304" pitchFamily="18" charset="0"/>
              </a:rPr>
              <a:t>), </a:t>
            </a:r>
            <a:r>
              <a:rPr lang="x-none" sz="2000" i="1" u="sng" dirty="0">
                <a:effectLst/>
                <a:latin typeface="-apple-system"/>
                <a:ea typeface="Times New Roman" panose="02020603050405020304" pitchFamily="18" charset="0"/>
              </a:rPr>
              <a:t>с постусловием </a:t>
            </a:r>
            <a:r>
              <a:rPr lang="x-none" sz="2000" dirty="0">
                <a:effectLst/>
                <a:latin typeface="-apple-system"/>
                <a:ea typeface="Times New Roman" panose="02020603050405020304" pitchFamily="18" charset="0"/>
              </a:rPr>
              <a:t>(</a:t>
            </a:r>
            <a:r>
              <a:rPr lang="x-none" sz="2000" i="1" dirty="0">
                <a:effectLst/>
                <a:latin typeface="-apple-system"/>
                <a:ea typeface="Times New Roman" panose="02020603050405020304" pitchFamily="18" charset="0"/>
              </a:rPr>
              <a:t>г</a:t>
            </a:r>
            <a:r>
              <a:rPr lang="x-none" sz="2000" dirty="0">
                <a:effectLst/>
                <a:latin typeface="-apple-system"/>
                <a:ea typeface="Times New Roman" panose="02020603050405020304" pitchFamily="18" charset="0"/>
              </a:rPr>
              <a:t>)). </a:t>
            </a:r>
            <a:endParaRPr lang="ru-RU" sz="2000" dirty="0">
              <a:effectLst/>
              <a:latin typeface="-apple-system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x-none" sz="2000" i="1" dirty="0">
                <a:effectLst/>
                <a:latin typeface="-apple-system"/>
                <a:ea typeface="Times New Roman" panose="02020603050405020304" pitchFamily="18" charset="0"/>
              </a:rPr>
              <a:t>S1</a:t>
            </a:r>
            <a:r>
              <a:rPr lang="x-none" sz="2000" dirty="0">
                <a:effectLst/>
                <a:latin typeface="-apple-system"/>
                <a:ea typeface="Times New Roman" panose="02020603050405020304" pitchFamily="18" charset="0"/>
              </a:rPr>
              <a:t> и </a:t>
            </a:r>
            <a:r>
              <a:rPr lang="x-none" sz="2000" i="1" dirty="0">
                <a:effectLst/>
                <a:latin typeface="-apple-system"/>
                <a:ea typeface="Times New Roman" panose="02020603050405020304" pitchFamily="18" charset="0"/>
              </a:rPr>
              <a:t>S2 </a:t>
            </a:r>
            <a:r>
              <a:rPr lang="x-none" sz="2000" dirty="0">
                <a:effectLst/>
                <a:latin typeface="-apple-system"/>
                <a:ea typeface="Times New Roman" panose="02020603050405020304" pitchFamily="18" charset="0"/>
              </a:rPr>
              <a:t>представляют собой в общем случае некоторые серии команд для соответствующего исполнителя, </a:t>
            </a:r>
            <a:r>
              <a:rPr lang="x-none" sz="2000" i="1" dirty="0">
                <a:effectLst/>
                <a:latin typeface="-apple-system"/>
                <a:ea typeface="Times New Roman" panose="02020603050405020304" pitchFamily="18" charset="0"/>
              </a:rPr>
              <a:t>В -</a:t>
            </a:r>
            <a:r>
              <a:rPr lang="x-none" sz="2000" dirty="0">
                <a:effectLst/>
                <a:latin typeface="-apple-system"/>
                <a:ea typeface="Times New Roman" panose="02020603050405020304" pitchFamily="18" charset="0"/>
              </a:rPr>
              <a:t> это условие, в зависимости от истинности </a:t>
            </a:r>
            <a:r>
              <a:rPr lang="x-none" sz="2000" i="1" dirty="0">
                <a:effectLst/>
                <a:latin typeface="-apple-system"/>
                <a:ea typeface="Times New Roman" panose="02020603050405020304" pitchFamily="18" charset="0"/>
              </a:rPr>
              <a:t>(Т)</a:t>
            </a:r>
            <a:r>
              <a:rPr lang="x-none" sz="2000" dirty="0">
                <a:effectLst/>
                <a:latin typeface="-apple-system"/>
                <a:ea typeface="Times New Roman" panose="02020603050405020304" pitchFamily="18" charset="0"/>
              </a:rPr>
              <a:t> или ложности </a:t>
            </a:r>
            <a:r>
              <a:rPr lang="x-none" sz="2000" i="1" dirty="0">
                <a:effectLst/>
                <a:latin typeface="-apple-system"/>
                <a:ea typeface="Times New Roman" panose="02020603050405020304" pitchFamily="18" charset="0"/>
              </a:rPr>
              <a:t>(F) </a:t>
            </a:r>
            <a:r>
              <a:rPr lang="x-none" sz="2000" dirty="0">
                <a:effectLst/>
                <a:latin typeface="-apple-system"/>
                <a:ea typeface="Times New Roman" panose="02020603050405020304" pitchFamily="18" charset="0"/>
              </a:rPr>
              <a:t>которого управление передаётся по одной из двух ветвей. </a:t>
            </a:r>
            <a:endParaRPr lang="ru-RU" sz="2000" dirty="0">
              <a:effectLst/>
              <a:latin typeface="-apple-system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x-none" sz="2000" dirty="0">
                <a:effectLst/>
                <a:latin typeface="-apple-system"/>
                <a:ea typeface="Times New Roman" panose="02020603050405020304" pitchFamily="18" charset="0"/>
              </a:rPr>
              <a:t>Можно доказать, что для составления любого алгоритма достаточно представленных выше четырех блок-схем, если пользоваться их последовательностями и/или суперпозициями.</a:t>
            </a:r>
            <a:endParaRPr lang="ru-RU" sz="2000" dirty="0">
              <a:effectLst/>
              <a:latin typeface="-apple-system"/>
              <a:ea typeface="Times New Roman" panose="02020603050405020304" pitchFamily="18" charset="0"/>
            </a:endParaRPr>
          </a:p>
          <a:p>
            <a:endParaRPr lang="ru-RU" dirty="0"/>
          </a:p>
        </p:txBody>
      </p:sp>
      <p:pic>
        <p:nvPicPr>
          <p:cNvPr id="4099" name="Рисунок 11">
            <a:extLst>
              <a:ext uri="{FF2B5EF4-FFF2-40B4-BE49-F238E27FC236}">
                <a16:creationId xmlns:a16="http://schemas.microsoft.com/office/drawing/2014/main" id="{F679CE24-3A35-4D50-A205-6BBD8EE67C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1208" y="405357"/>
            <a:ext cx="7065787" cy="2947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480523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38CA3207-6E8E-4294-9720-93586CA709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4885772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ru-RU" sz="2000" dirty="0">
                <a:effectLst/>
                <a:latin typeface="-apple-system"/>
                <a:ea typeface="Times New Roman" panose="02020603050405020304" pitchFamily="18" charset="0"/>
              </a:rPr>
              <a:t>а</a:t>
            </a:r>
            <a:r>
              <a:rPr lang="x-none" sz="2000" dirty="0">
                <a:effectLst/>
                <a:latin typeface="-apple-system"/>
                <a:ea typeface="Times New Roman" panose="02020603050405020304" pitchFamily="18" charset="0"/>
              </a:rPr>
              <a:t>) - </a:t>
            </a:r>
            <a:r>
              <a:rPr lang="x-none" sz="2000" b="1" i="1" dirty="0">
                <a:effectLst/>
                <a:latin typeface="-apple-system"/>
                <a:ea typeface="Times New Roman" panose="02020603050405020304" pitchFamily="18" charset="0"/>
              </a:rPr>
              <a:t>неполная развилка</a:t>
            </a:r>
            <a:r>
              <a:rPr lang="ru-RU" sz="2000" dirty="0">
                <a:latin typeface="-apple-system"/>
                <a:ea typeface="Times New Roman" panose="02020603050405020304" pitchFamily="18" charset="0"/>
              </a:rPr>
              <a:t>, </a:t>
            </a:r>
            <a:r>
              <a:rPr lang="x-none" sz="2000" dirty="0">
                <a:effectLst/>
                <a:latin typeface="-apple-system"/>
                <a:ea typeface="Times New Roman" panose="02020603050405020304" pitchFamily="18" charset="0"/>
              </a:rPr>
              <a:t>Блок-схема «альтернатива» может иметь и сокращенную форму, в которой отсутствует ветвь </a:t>
            </a:r>
            <a:r>
              <a:rPr lang="x-none" sz="2000" i="1" dirty="0">
                <a:effectLst/>
                <a:latin typeface="-apple-system"/>
                <a:ea typeface="Times New Roman" panose="02020603050405020304" pitchFamily="18" charset="0"/>
              </a:rPr>
              <a:t>S2</a:t>
            </a:r>
            <a:r>
              <a:rPr lang="x-none" sz="2000" dirty="0">
                <a:effectLst/>
                <a:latin typeface="-apple-system"/>
                <a:ea typeface="Times New Roman" panose="02020603050405020304" pitchFamily="18" charset="0"/>
              </a:rPr>
              <a:t> ; </a:t>
            </a:r>
            <a:endParaRPr lang="ru-RU" sz="2000" dirty="0">
              <a:effectLst/>
              <a:latin typeface="-apple-system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x-none" sz="2000" i="1" dirty="0">
                <a:effectLst/>
                <a:latin typeface="-apple-system"/>
                <a:ea typeface="Times New Roman" panose="02020603050405020304" pitchFamily="18" charset="0"/>
              </a:rPr>
              <a:t>б) -</a:t>
            </a:r>
            <a:r>
              <a:rPr lang="x-none" sz="2000" dirty="0">
                <a:effectLst/>
                <a:latin typeface="-apple-system"/>
                <a:ea typeface="Times New Roman" panose="02020603050405020304" pitchFamily="18" charset="0"/>
              </a:rPr>
              <a:t> </a:t>
            </a:r>
            <a:r>
              <a:rPr lang="x-none" sz="2000" b="1" i="1" dirty="0">
                <a:effectLst/>
                <a:latin typeface="-apple-system"/>
                <a:ea typeface="Times New Roman" panose="02020603050405020304" pitchFamily="18" charset="0"/>
              </a:rPr>
              <a:t>структура «выбор»</a:t>
            </a:r>
            <a:r>
              <a:rPr lang="ru-RU" sz="2000" dirty="0">
                <a:effectLst/>
                <a:latin typeface="-apple-system"/>
                <a:ea typeface="Times New Roman" panose="02020603050405020304" pitchFamily="18" charset="0"/>
              </a:rPr>
              <a:t>, </a:t>
            </a:r>
            <a:r>
              <a:rPr lang="x-none" sz="2000" dirty="0">
                <a:effectLst/>
                <a:latin typeface="-apple-system"/>
                <a:ea typeface="Times New Roman" panose="02020603050405020304" pitchFamily="18" charset="0"/>
              </a:rPr>
              <a:t>Развитием блок-схемы типа альтернатива является блок-схема «выбор»</a:t>
            </a:r>
            <a:r>
              <a:rPr lang="ru-RU" sz="2000" dirty="0">
                <a:effectLst/>
                <a:latin typeface="-apple-system"/>
                <a:ea typeface="Times New Roman" panose="02020603050405020304" pitchFamily="18" charset="0"/>
              </a:rPr>
              <a:t>.</a:t>
            </a:r>
          </a:p>
          <a:p>
            <a:endParaRPr lang="ru-RU" dirty="0"/>
          </a:p>
        </p:txBody>
      </p:sp>
      <p:pic>
        <p:nvPicPr>
          <p:cNvPr id="5122" name="Рисунок 10">
            <a:extLst>
              <a:ext uri="{FF2B5EF4-FFF2-40B4-BE49-F238E27FC236}">
                <a16:creationId xmlns:a16="http://schemas.microsoft.com/office/drawing/2014/main" id="{59546B8C-0CD5-4EFC-B908-FDC63DA685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852" y="469203"/>
            <a:ext cx="7134293" cy="38156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239905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0" y="130629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dirty="0">
                <a:latin typeface="-apple-system"/>
              </a:rPr>
              <a:t>Основные блоки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A10D0F2-2D1B-4B86-8A5B-450FDA7C8B0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0" b="15246"/>
          <a:stretch/>
        </p:blipFill>
        <p:spPr>
          <a:xfrm>
            <a:off x="1971620" y="1111649"/>
            <a:ext cx="8126839" cy="5149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9412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Объект 2">
            <a:extLst>
              <a:ext uri="{FF2B5EF4-FFF2-40B4-BE49-F238E27FC236}">
                <a16:creationId xmlns:a16="http://schemas.microsoft.com/office/drawing/2014/main" id="{DC0B801A-4287-405B-B306-EF5C301070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74080" y="2700023"/>
            <a:ext cx="6217920" cy="4207870"/>
          </a:xfrm>
        </p:spPr>
        <p:txBody>
          <a:bodyPr>
            <a:normAutofit fontScale="70000" lnSpcReduction="20000"/>
          </a:bodyPr>
          <a:lstStyle/>
          <a:p>
            <a:pPr marL="342900" lvl="0" indent="-342900">
              <a:lnSpc>
                <a:spcPct val="115000"/>
              </a:lnSpc>
              <a:buFont typeface="+mj-lt"/>
              <a:buAutoNum type="arabicParenR"/>
            </a:pPr>
            <a:r>
              <a:rPr lang="ru-RU" sz="1500" dirty="0">
                <a:solidFill>
                  <a:srgbClr val="000000"/>
                </a:solidFill>
                <a:effectLst/>
                <a:latin typeface="-apple-system"/>
                <a:ea typeface="Calibri" panose="020F0502020204030204" pitchFamily="34" charset="0"/>
                <a:cs typeface="Times New Roman" panose="02020603050405020304" pitchFamily="18" charset="0"/>
              </a:rPr>
              <a:t>Вводим строку</a:t>
            </a:r>
            <a:r>
              <a:rPr lang="en-US" sz="1500" dirty="0">
                <a:solidFill>
                  <a:srgbClr val="000000"/>
                </a:solidFill>
                <a:effectLst/>
                <a:latin typeface="-apple-system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500" dirty="0">
                <a:solidFill>
                  <a:srgbClr val="000000"/>
                </a:solidFill>
                <a:latin typeface="-apple-system"/>
                <a:ea typeface="Calibri" panose="020F0502020204030204" pitchFamily="34" charset="0"/>
                <a:cs typeface="Times New Roman" panose="02020603050405020304" pitchFamily="18" charset="0"/>
              </a:rPr>
              <a:t>str</a:t>
            </a:r>
            <a:r>
              <a:rPr lang="ru-RU" sz="1500" dirty="0">
                <a:solidFill>
                  <a:srgbClr val="000000"/>
                </a:solidFill>
                <a:effectLst/>
                <a:latin typeface="-apple-system"/>
                <a:ea typeface="Calibri" panose="020F0502020204030204" pitchFamily="34" charset="0"/>
                <a:cs typeface="Times New Roman" panose="02020603050405020304" pitchFamily="18" charset="0"/>
              </a:rPr>
              <a:t>, последний символ которой решетка (#)</a:t>
            </a:r>
            <a:endParaRPr lang="en-US" sz="1500" dirty="0">
              <a:solidFill>
                <a:srgbClr val="000000"/>
              </a:solidFill>
              <a:effectLst/>
              <a:latin typeface="-apple-system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+mj-lt"/>
              <a:buAutoNum type="arabicParenR"/>
            </a:pPr>
            <a:r>
              <a:rPr lang="ru-RU" sz="1500" dirty="0">
                <a:solidFill>
                  <a:srgbClr val="000000"/>
                </a:solidFill>
                <a:latin typeface="-apple-system"/>
                <a:ea typeface="Calibri" panose="020F0502020204030204" pitchFamily="34" charset="0"/>
                <a:cs typeface="Times New Roman" panose="02020603050405020304" pitchFamily="18" charset="0"/>
              </a:rPr>
              <a:t>О</a:t>
            </a:r>
            <a:r>
              <a:rPr lang="ru-RU" sz="1500" dirty="0">
                <a:solidFill>
                  <a:srgbClr val="000000"/>
                </a:solidFill>
                <a:effectLst/>
                <a:latin typeface="-apple-system"/>
                <a:ea typeface="Calibri" panose="020F0502020204030204" pitchFamily="34" charset="0"/>
                <a:cs typeface="Times New Roman" panose="02020603050405020304" pitchFamily="18" charset="0"/>
              </a:rPr>
              <a:t>бнуляем счетчики </a:t>
            </a:r>
            <a:r>
              <a:rPr lang="en-US" sz="1500" dirty="0" err="1">
                <a:solidFill>
                  <a:srgbClr val="000000"/>
                </a:solidFill>
                <a:latin typeface="-apple-system"/>
                <a:ea typeface="Calibri" panose="020F0502020204030204" pitchFamily="34" charset="0"/>
                <a:cs typeface="Times New Roman" panose="02020603050405020304" pitchFamily="18" charset="0"/>
              </a:rPr>
              <a:t>str_length</a:t>
            </a:r>
            <a:r>
              <a:rPr lang="ru-RU" sz="1500" dirty="0">
                <a:solidFill>
                  <a:srgbClr val="000000"/>
                </a:solidFill>
                <a:latin typeface="-apple-system"/>
                <a:ea typeface="Calibri" panose="020F0502020204030204" pitchFamily="34" charset="0"/>
                <a:cs typeface="Times New Roman" panose="02020603050405020304" pitchFamily="18" charset="0"/>
              </a:rPr>
              <a:t> (длина строки)</a:t>
            </a:r>
            <a:r>
              <a:rPr lang="en-US" sz="1500" dirty="0">
                <a:solidFill>
                  <a:srgbClr val="000000"/>
                </a:solidFill>
                <a:latin typeface="-apple-system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r>
              <a:rPr lang="ru-RU" sz="1500" dirty="0">
                <a:solidFill>
                  <a:srgbClr val="000000"/>
                </a:solidFill>
                <a:effectLst/>
                <a:latin typeface="-apple-system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effectLst/>
                <a:latin typeface="-apple-system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1500" dirty="0">
                <a:solidFill>
                  <a:srgbClr val="000000"/>
                </a:solidFill>
                <a:effectLst/>
                <a:latin typeface="-apple-system"/>
                <a:ea typeface="Calibri" panose="020F0502020204030204" pitchFamily="34" charset="0"/>
                <a:cs typeface="Times New Roman" panose="02020603050405020304" pitchFamily="18" charset="0"/>
              </a:rPr>
              <a:t>, j</a:t>
            </a:r>
            <a:endParaRPr lang="ru-RU" sz="1400" dirty="0">
              <a:effectLst/>
              <a:latin typeface="-apple-system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+mj-lt"/>
              <a:buAutoNum type="arabicParenR"/>
            </a:pPr>
            <a:r>
              <a:rPr lang="ru-RU" sz="1500" dirty="0">
                <a:solidFill>
                  <a:srgbClr val="000000"/>
                </a:solidFill>
                <a:effectLst/>
                <a:latin typeface="-apple-system"/>
                <a:ea typeface="Calibri" panose="020F0502020204030204" pitchFamily="34" charset="0"/>
                <a:cs typeface="Times New Roman" panose="02020603050405020304" pitchFamily="18" charset="0"/>
              </a:rPr>
              <a:t>Вызываем вспомогательный алгоритм </a:t>
            </a:r>
            <a:r>
              <a:rPr lang="ru-RU" sz="1500" dirty="0">
                <a:solidFill>
                  <a:srgbClr val="000000"/>
                </a:solidFill>
                <a:latin typeface="-apple-system"/>
                <a:ea typeface="Calibri" panose="020F0502020204030204" pitchFamily="34" charset="0"/>
                <a:cs typeface="Times New Roman" panose="02020603050405020304" pitchFamily="18" charset="0"/>
              </a:rPr>
              <a:t>подсчета </a:t>
            </a:r>
            <a:r>
              <a:rPr lang="ru-RU" sz="1500" dirty="0">
                <a:solidFill>
                  <a:srgbClr val="000000"/>
                </a:solidFill>
                <a:effectLst/>
                <a:latin typeface="-apple-system"/>
                <a:ea typeface="Calibri" panose="020F0502020204030204" pitchFamily="34" charset="0"/>
                <a:cs typeface="Times New Roman" panose="02020603050405020304" pitchFamily="18" charset="0"/>
              </a:rPr>
              <a:t>размера строки</a:t>
            </a:r>
            <a:endParaRPr lang="ru-RU" sz="1400" dirty="0">
              <a:effectLst/>
              <a:latin typeface="-apple-system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buFont typeface="+mj-lt"/>
              <a:buAutoNum type="alphaLcPeriod"/>
            </a:pPr>
            <a:r>
              <a:rPr lang="ru-RU" sz="1500" dirty="0">
                <a:solidFill>
                  <a:srgbClr val="000000"/>
                </a:solidFill>
                <a:effectLst/>
                <a:latin typeface="-apple-system"/>
                <a:ea typeface="Calibri" panose="020F0502020204030204" pitchFamily="34" charset="0"/>
                <a:cs typeface="Times New Roman" panose="02020603050405020304" pitchFamily="18" charset="0"/>
              </a:rPr>
              <a:t>Идем по строке, выбирая текущий символ </a:t>
            </a:r>
            <a:endParaRPr lang="ru-RU" sz="1400" dirty="0">
              <a:effectLst/>
              <a:latin typeface="-apple-system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buFont typeface="+mj-lt"/>
              <a:buAutoNum type="alphaLcPeriod"/>
            </a:pPr>
            <a:r>
              <a:rPr lang="ru-RU" sz="1500" dirty="0">
                <a:solidFill>
                  <a:srgbClr val="000000"/>
                </a:solidFill>
                <a:effectLst/>
                <a:latin typeface="-apple-system"/>
                <a:ea typeface="Calibri" panose="020F0502020204030204" pitchFamily="34" charset="0"/>
                <a:cs typeface="Times New Roman" panose="02020603050405020304" pitchFamily="18" charset="0"/>
              </a:rPr>
              <a:t>Если текущий символ не решетка (#)</a:t>
            </a:r>
            <a:endParaRPr lang="ru-RU" sz="1400" dirty="0">
              <a:effectLst/>
              <a:latin typeface="-apple-system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lvl="2" indent="-228600">
              <a:lnSpc>
                <a:spcPct val="115000"/>
              </a:lnSpc>
              <a:buFont typeface="+mj-lt"/>
              <a:buAutoNum type="romanLcPeriod"/>
            </a:pPr>
            <a:r>
              <a:rPr lang="ru-RU" sz="1500" b="1" dirty="0">
                <a:solidFill>
                  <a:srgbClr val="00B050"/>
                </a:solidFill>
                <a:effectLst/>
                <a:latin typeface="-apple-system"/>
                <a:ea typeface="Calibri" panose="020F0502020204030204" pitchFamily="34" charset="0"/>
                <a:cs typeface="Times New Roman" panose="02020603050405020304" pitchFamily="18" charset="0"/>
              </a:rPr>
              <a:t>ДА</a:t>
            </a:r>
            <a:r>
              <a:rPr lang="en-US" sz="1500" b="1" dirty="0">
                <a:solidFill>
                  <a:srgbClr val="00B050"/>
                </a:solidFill>
                <a:effectLst/>
                <a:latin typeface="-apple-system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r>
              <a:rPr lang="en-US" sz="1500" dirty="0">
                <a:solidFill>
                  <a:srgbClr val="00B050"/>
                </a:solidFill>
                <a:effectLst/>
                <a:latin typeface="-apple-system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500" dirty="0">
                <a:solidFill>
                  <a:srgbClr val="000000"/>
                </a:solidFill>
                <a:effectLst/>
                <a:latin typeface="-apple-system"/>
                <a:ea typeface="Calibri" panose="020F0502020204030204" pitchFamily="34" charset="0"/>
                <a:cs typeface="Times New Roman" panose="02020603050405020304" pitchFamily="18" charset="0"/>
              </a:rPr>
              <a:t>увеличиваем </a:t>
            </a:r>
            <a:r>
              <a:rPr lang="en-US" sz="1500" dirty="0" err="1">
                <a:solidFill>
                  <a:srgbClr val="000000"/>
                </a:solidFill>
                <a:latin typeface="-apple-system"/>
                <a:ea typeface="Calibri" panose="020F0502020204030204" pitchFamily="34" charset="0"/>
                <a:cs typeface="Times New Roman" panose="02020603050405020304" pitchFamily="18" charset="0"/>
              </a:rPr>
              <a:t>str_length</a:t>
            </a:r>
            <a:r>
              <a:rPr lang="ru-RU" sz="1500" dirty="0">
                <a:solidFill>
                  <a:srgbClr val="000000"/>
                </a:solidFill>
                <a:latin typeface="-apple-system"/>
                <a:ea typeface="Calibri" panose="020F0502020204030204" pitchFamily="34" charset="0"/>
                <a:cs typeface="Times New Roman" panose="02020603050405020304" pitchFamily="18" charset="0"/>
              </a:rPr>
              <a:t> (длину строки)</a:t>
            </a:r>
            <a:r>
              <a:rPr lang="ru-RU" sz="1500" dirty="0">
                <a:solidFill>
                  <a:srgbClr val="000000"/>
                </a:solidFill>
                <a:effectLst/>
                <a:latin typeface="-apple-system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ru-RU" sz="1400" dirty="0">
              <a:effectLst/>
              <a:latin typeface="-apple-system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lvl="2" indent="-228600">
              <a:lnSpc>
                <a:spcPct val="115000"/>
              </a:lnSpc>
              <a:buFont typeface="+mj-lt"/>
              <a:buAutoNum type="romanLcPeriod"/>
            </a:pPr>
            <a:r>
              <a:rPr lang="ru-RU" sz="1500" b="1" dirty="0">
                <a:solidFill>
                  <a:srgbClr val="00B050"/>
                </a:solidFill>
                <a:effectLst/>
                <a:latin typeface="-apple-system"/>
                <a:ea typeface="Calibri" panose="020F0502020204030204" pitchFamily="34" charset="0"/>
                <a:cs typeface="Times New Roman" panose="02020603050405020304" pitchFamily="18" charset="0"/>
              </a:rPr>
              <a:t>НЕТ</a:t>
            </a:r>
            <a:r>
              <a:rPr lang="en-US" sz="1500" b="1" dirty="0">
                <a:solidFill>
                  <a:srgbClr val="00B050"/>
                </a:solidFill>
                <a:effectLst/>
                <a:latin typeface="-apple-system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r>
              <a:rPr lang="en-US" sz="1500" dirty="0">
                <a:solidFill>
                  <a:srgbClr val="000000"/>
                </a:solidFill>
                <a:effectLst/>
                <a:latin typeface="-apple-system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500" dirty="0">
                <a:solidFill>
                  <a:srgbClr val="000000"/>
                </a:solidFill>
                <a:effectLst/>
                <a:latin typeface="-apple-system"/>
                <a:ea typeface="Calibri" panose="020F0502020204030204" pitchFamily="34" charset="0"/>
                <a:cs typeface="Times New Roman" panose="02020603050405020304" pitchFamily="18" charset="0"/>
              </a:rPr>
              <a:t>переходим в основной алгоритм</a:t>
            </a:r>
            <a:endParaRPr lang="ru-RU" sz="1400" dirty="0">
              <a:effectLst/>
              <a:latin typeface="-apple-system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+mj-lt"/>
              <a:buAutoNum type="arabicParenR"/>
            </a:pPr>
            <a:r>
              <a:rPr lang="ru-RU" sz="1600" dirty="0">
                <a:effectLst/>
                <a:latin typeface="-apple-system"/>
                <a:ea typeface="Calibri" panose="020F0502020204030204" pitchFamily="34" charset="0"/>
                <a:cs typeface="Times New Roman" panose="02020603050405020304" pitchFamily="18" charset="0"/>
              </a:rPr>
              <a:t>Создаём дополнительную строку </a:t>
            </a:r>
            <a:r>
              <a:rPr lang="en-US" sz="1600" dirty="0" err="1">
                <a:latin typeface="-apple-system"/>
                <a:ea typeface="Calibri" panose="020F0502020204030204" pitchFamily="34" charset="0"/>
                <a:cs typeface="Times New Roman" panose="02020603050405020304" pitchFamily="18" charset="0"/>
              </a:rPr>
              <a:t>str_final</a:t>
            </a:r>
            <a:r>
              <a:rPr lang="en-US" sz="1600" dirty="0">
                <a:latin typeface="-apple-system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-apple-system"/>
                <a:ea typeface="Calibri" panose="020F0502020204030204" pitchFamily="34" charset="0"/>
                <a:cs typeface="Times New Roman" panose="02020603050405020304" pitchFamily="18" charset="0"/>
              </a:rPr>
              <a:t>размерности </a:t>
            </a:r>
            <a:r>
              <a:rPr lang="en-US" sz="1600" dirty="0" err="1">
                <a:latin typeface="-apple-system"/>
                <a:ea typeface="Calibri" panose="020F0502020204030204" pitchFamily="34" charset="0"/>
                <a:cs typeface="Times New Roman" panose="02020603050405020304" pitchFamily="18" charset="0"/>
              </a:rPr>
              <a:t>str_length</a:t>
            </a:r>
            <a:endParaRPr lang="ru-RU" sz="1500" dirty="0">
              <a:solidFill>
                <a:srgbClr val="000000"/>
              </a:solidFill>
              <a:effectLst/>
              <a:latin typeface="-apple-system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+mj-lt"/>
              <a:buAutoNum type="arabicParenR"/>
            </a:pPr>
            <a:r>
              <a:rPr lang="ru-RU" sz="1500" dirty="0">
                <a:solidFill>
                  <a:srgbClr val="000000"/>
                </a:solidFill>
                <a:effectLst/>
                <a:latin typeface="-apple-system"/>
                <a:ea typeface="Calibri" panose="020F0502020204030204" pitchFamily="34" charset="0"/>
                <a:cs typeface="Times New Roman" panose="02020603050405020304" pitchFamily="18" charset="0"/>
              </a:rPr>
              <a:t>Если </a:t>
            </a:r>
            <a:r>
              <a:rPr lang="ru-RU" sz="1500" dirty="0">
                <a:solidFill>
                  <a:srgbClr val="000000"/>
                </a:solidFill>
                <a:latin typeface="-apple-system"/>
                <a:ea typeface="Calibri" panose="020F0502020204030204" pitchFamily="34" charset="0"/>
                <a:cs typeface="Times New Roman" panose="02020603050405020304" pitchFamily="18" charset="0"/>
              </a:rPr>
              <a:t>счётчик </a:t>
            </a:r>
            <a:r>
              <a:rPr lang="en-US" sz="1500" dirty="0" err="1">
                <a:solidFill>
                  <a:srgbClr val="000000"/>
                </a:solidFill>
                <a:latin typeface="-apple-system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1500" dirty="0">
                <a:solidFill>
                  <a:srgbClr val="000000"/>
                </a:solidFill>
                <a:effectLst/>
                <a:latin typeface="-apple-system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500" dirty="0">
                <a:solidFill>
                  <a:srgbClr val="000000"/>
                </a:solidFill>
                <a:effectLst/>
                <a:latin typeface="-apple-system"/>
                <a:ea typeface="Calibri" panose="020F0502020204030204" pitchFamily="34" charset="0"/>
                <a:cs typeface="Times New Roman" panose="02020603050405020304" pitchFamily="18" charset="0"/>
              </a:rPr>
              <a:t>не равен </a:t>
            </a:r>
            <a:r>
              <a:rPr lang="en-US" sz="1500" dirty="0" err="1">
                <a:solidFill>
                  <a:srgbClr val="000000"/>
                </a:solidFill>
                <a:latin typeface="-apple-system"/>
                <a:ea typeface="Calibri" panose="020F0502020204030204" pitchFamily="34" charset="0"/>
                <a:cs typeface="Times New Roman" panose="02020603050405020304" pitchFamily="18" charset="0"/>
              </a:rPr>
              <a:t>str_length</a:t>
            </a:r>
            <a:r>
              <a:rPr lang="ru-RU" sz="1500" dirty="0">
                <a:solidFill>
                  <a:srgbClr val="000000"/>
                </a:solidFill>
                <a:latin typeface="-apple-system"/>
                <a:ea typeface="Calibri" panose="020F0502020204030204" pitchFamily="34" charset="0"/>
                <a:cs typeface="Times New Roman" panose="02020603050405020304" pitchFamily="18" charset="0"/>
              </a:rPr>
              <a:t>-1</a:t>
            </a:r>
            <a:r>
              <a:rPr lang="en-US" sz="1500" dirty="0">
                <a:solidFill>
                  <a:srgbClr val="000000"/>
                </a:solidFill>
                <a:latin typeface="-apple-system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ru-RU" sz="1500" dirty="0">
                <a:solidFill>
                  <a:srgbClr val="000000"/>
                </a:solidFill>
                <a:latin typeface="-apple-system"/>
                <a:ea typeface="Calibri" panose="020F0502020204030204" pitchFamily="34" charset="0"/>
                <a:cs typeface="Times New Roman" panose="02020603050405020304" pitchFamily="18" charset="0"/>
              </a:rPr>
              <a:t>номер текущего символа меньше длины строки-1)</a:t>
            </a:r>
            <a:endParaRPr lang="ru-RU" sz="1400" dirty="0">
              <a:effectLst/>
              <a:latin typeface="-apple-system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buFont typeface="+mj-lt"/>
              <a:buAutoNum type="alphaLcPeriod"/>
            </a:pPr>
            <a:r>
              <a:rPr lang="ru-RU" sz="1500" b="1" dirty="0">
                <a:solidFill>
                  <a:srgbClr val="00B050"/>
                </a:solidFill>
                <a:effectLst/>
                <a:latin typeface="-apple-system"/>
                <a:ea typeface="Calibri" panose="020F0502020204030204" pitchFamily="34" charset="0"/>
                <a:cs typeface="Times New Roman" panose="02020603050405020304" pitchFamily="18" charset="0"/>
              </a:rPr>
              <a:t>ДА:</a:t>
            </a:r>
            <a:r>
              <a:rPr lang="ru-RU" sz="1500" dirty="0">
                <a:solidFill>
                  <a:srgbClr val="000000"/>
                </a:solidFill>
                <a:effectLst/>
                <a:latin typeface="-apple-system"/>
                <a:ea typeface="Calibri" panose="020F0502020204030204" pitchFamily="34" charset="0"/>
                <a:cs typeface="Times New Roman" panose="02020603050405020304" pitchFamily="18" charset="0"/>
              </a:rPr>
              <a:t> Если </a:t>
            </a:r>
            <a:r>
              <a:rPr lang="en-US" sz="1500" dirty="0" err="1">
                <a:solidFill>
                  <a:srgbClr val="000000"/>
                </a:solidFill>
                <a:effectLst/>
                <a:latin typeface="-apple-system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ru-RU" sz="1500" dirty="0">
                <a:solidFill>
                  <a:srgbClr val="000000"/>
                </a:solidFill>
                <a:effectLst/>
                <a:latin typeface="-apple-system"/>
                <a:ea typeface="Calibri" panose="020F0502020204030204" pitchFamily="34" charset="0"/>
                <a:cs typeface="Times New Roman" panose="02020603050405020304" pitchFamily="18" charset="0"/>
              </a:rPr>
              <a:t>-</a:t>
            </a:r>
            <a:r>
              <a:rPr lang="ru-RU" sz="1500" dirty="0" err="1">
                <a:solidFill>
                  <a:srgbClr val="000000"/>
                </a:solidFill>
                <a:effectLst/>
                <a:latin typeface="-apple-system"/>
                <a:ea typeface="Calibri" panose="020F0502020204030204" pitchFamily="34" charset="0"/>
                <a:cs typeface="Times New Roman" panose="02020603050405020304" pitchFamily="18" charset="0"/>
              </a:rPr>
              <a:t>тый</a:t>
            </a:r>
            <a:r>
              <a:rPr lang="ru-RU" sz="1500" dirty="0">
                <a:solidFill>
                  <a:srgbClr val="000000"/>
                </a:solidFill>
                <a:effectLst/>
                <a:latin typeface="-apple-system"/>
                <a:ea typeface="Calibri" panose="020F0502020204030204" pitchFamily="34" charset="0"/>
                <a:cs typeface="Times New Roman" panose="02020603050405020304" pitchFamily="18" charset="0"/>
              </a:rPr>
              <a:t> (текущий) символ пробел и </a:t>
            </a:r>
            <a:r>
              <a:rPr lang="en-US" sz="1500" dirty="0" err="1">
                <a:solidFill>
                  <a:srgbClr val="000000"/>
                </a:solidFill>
                <a:effectLst/>
                <a:latin typeface="-apple-system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ru-RU" sz="1500" dirty="0">
                <a:solidFill>
                  <a:srgbClr val="000000"/>
                </a:solidFill>
                <a:latin typeface="-apple-system"/>
                <a:ea typeface="Calibri" panose="020F0502020204030204" pitchFamily="34" charset="0"/>
                <a:cs typeface="Times New Roman" panose="02020603050405020304" pitchFamily="18" charset="0"/>
              </a:rPr>
              <a:t>+</a:t>
            </a:r>
            <a:r>
              <a:rPr lang="ru-RU" sz="1500" dirty="0">
                <a:solidFill>
                  <a:srgbClr val="000000"/>
                </a:solidFill>
                <a:effectLst/>
                <a:latin typeface="-apple-system"/>
                <a:ea typeface="Calibri" panose="020F0502020204030204" pitchFamily="34" charset="0"/>
                <a:cs typeface="Times New Roman" panose="02020603050405020304" pitchFamily="18" charset="0"/>
              </a:rPr>
              <a:t>1-тый (следующий) символ это пробел</a:t>
            </a:r>
            <a:endParaRPr lang="ru-RU" sz="1400" dirty="0">
              <a:effectLst/>
              <a:latin typeface="-apple-system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2">
              <a:lnSpc>
                <a:spcPct val="115000"/>
              </a:lnSpc>
              <a:buFont typeface="+mj-lt"/>
              <a:buAutoNum type="romanLcPeriod"/>
            </a:pPr>
            <a:r>
              <a:rPr lang="ru-RU" sz="1500" b="1" dirty="0">
                <a:solidFill>
                  <a:srgbClr val="C00000"/>
                </a:solidFill>
                <a:effectLst/>
                <a:latin typeface="-apple-system"/>
                <a:ea typeface="Calibri" panose="020F0502020204030204" pitchFamily="34" charset="0"/>
                <a:cs typeface="Times New Roman" panose="02020603050405020304" pitchFamily="18" charset="0"/>
              </a:rPr>
              <a:t>ДА:</a:t>
            </a:r>
            <a:r>
              <a:rPr lang="ru-RU" sz="1500" dirty="0">
                <a:solidFill>
                  <a:srgbClr val="000000"/>
                </a:solidFill>
                <a:effectLst/>
                <a:latin typeface="-apple-system"/>
                <a:ea typeface="Calibri" panose="020F0502020204030204" pitchFamily="34" charset="0"/>
                <a:cs typeface="Times New Roman" panose="02020603050405020304" pitchFamily="18" charset="0"/>
              </a:rPr>
              <a:t> идём дальше</a:t>
            </a:r>
            <a:endParaRPr lang="ru-RU" sz="1500" dirty="0">
              <a:solidFill>
                <a:srgbClr val="000000"/>
              </a:solidFill>
              <a:latin typeface="-apple-system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lvl="2" indent="-228600">
              <a:lnSpc>
                <a:spcPct val="115000"/>
              </a:lnSpc>
              <a:buFont typeface="+mj-lt"/>
              <a:buAutoNum type="romanLcPeriod"/>
            </a:pPr>
            <a:r>
              <a:rPr lang="ru-RU" sz="1500" b="1" dirty="0">
                <a:solidFill>
                  <a:srgbClr val="C00000"/>
                </a:solidFill>
                <a:effectLst/>
                <a:latin typeface="-apple-system"/>
                <a:ea typeface="Calibri" panose="020F0502020204030204" pitchFamily="34" charset="0"/>
                <a:cs typeface="Times New Roman" panose="02020603050405020304" pitchFamily="18" charset="0"/>
              </a:rPr>
              <a:t>НЕТ</a:t>
            </a:r>
            <a:r>
              <a:rPr lang="en-US" sz="1500" b="1" dirty="0">
                <a:solidFill>
                  <a:srgbClr val="C00000"/>
                </a:solidFill>
                <a:effectLst/>
                <a:latin typeface="-apple-system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r>
              <a:rPr lang="en-US" sz="1500" dirty="0">
                <a:solidFill>
                  <a:srgbClr val="C00000"/>
                </a:solidFill>
                <a:effectLst/>
                <a:latin typeface="-apple-system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500" dirty="0">
                <a:solidFill>
                  <a:srgbClr val="000000"/>
                </a:solidFill>
                <a:effectLst/>
                <a:latin typeface="-apple-system"/>
                <a:ea typeface="Calibri" panose="020F0502020204030204" pitchFamily="34" charset="0"/>
                <a:cs typeface="Times New Roman" panose="02020603050405020304" pitchFamily="18" charset="0"/>
              </a:rPr>
              <a:t>записываем </a:t>
            </a:r>
            <a:r>
              <a:rPr lang="en-US" sz="1500" dirty="0" err="1">
                <a:solidFill>
                  <a:srgbClr val="000000"/>
                </a:solidFill>
                <a:effectLst/>
                <a:latin typeface="-apple-system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1500" dirty="0">
                <a:solidFill>
                  <a:srgbClr val="000000"/>
                </a:solidFill>
                <a:effectLst/>
                <a:latin typeface="-apple-system"/>
                <a:ea typeface="Calibri" panose="020F0502020204030204" pitchFamily="34" charset="0"/>
                <a:cs typeface="Times New Roman" panose="02020603050405020304" pitchFamily="18" charset="0"/>
              </a:rPr>
              <a:t>-</a:t>
            </a:r>
            <a:r>
              <a:rPr lang="ru-RU" sz="1500" dirty="0" err="1">
                <a:solidFill>
                  <a:srgbClr val="000000"/>
                </a:solidFill>
                <a:effectLst/>
                <a:latin typeface="-apple-system"/>
                <a:ea typeface="Calibri" panose="020F0502020204030204" pitchFamily="34" charset="0"/>
                <a:cs typeface="Times New Roman" panose="02020603050405020304" pitchFamily="18" charset="0"/>
              </a:rPr>
              <a:t>ый</a:t>
            </a:r>
            <a:r>
              <a:rPr lang="ru-RU" sz="1500" dirty="0">
                <a:solidFill>
                  <a:srgbClr val="000000"/>
                </a:solidFill>
                <a:effectLst/>
                <a:latin typeface="-apple-system"/>
                <a:ea typeface="Calibri" panose="020F0502020204030204" pitchFamily="34" charset="0"/>
                <a:cs typeface="Times New Roman" panose="02020603050405020304" pitchFamily="18" charset="0"/>
              </a:rPr>
              <a:t> символ в дополнительную строку </a:t>
            </a:r>
            <a:r>
              <a:rPr lang="en-US" sz="1500" dirty="0" err="1">
                <a:solidFill>
                  <a:srgbClr val="000000"/>
                </a:solidFill>
                <a:effectLst/>
                <a:latin typeface="-apple-system"/>
                <a:ea typeface="Calibri" panose="020F0502020204030204" pitchFamily="34" charset="0"/>
                <a:cs typeface="Times New Roman" panose="02020603050405020304" pitchFamily="18" charset="0"/>
              </a:rPr>
              <a:t>str_</a:t>
            </a:r>
            <a:r>
              <a:rPr lang="en-US" sz="1500" dirty="0" err="1">
                <a:solidFill>
                  <a:srgbClr val="000000"/>
                </a:solidFill>
                <a:latin typeface="-apple-system"/>
                <a:ea typeface="Calibri" panose="020F0502020204030204" pitchFamily="34" charset="0"/>
                <a:cs typeface="Times New Roman" panose="02020603050405020304" pitchFamily="18" charset="0"/>
              </a:rPr>
              <a:t>final</a:t>
            </a:r>
            <a:r>
              <a:rPr lang="en-US" sz="1500" dirty="0">
                <a:solidFill>
                  <a:srgbClr val="000000"/>
                </a:solidFill>
                <a:latin typeface="-apple-system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500" dirty="0">
                <a:solidFill>
                  <a:srgbClr val="000000"/>
                </a:solidFill>
                <a:latin typeface="-apple-system"/>
                <a:ea typeface="Calibri" panose="020F0502020204030204" pitchFamily="34" charset="0"/>
                <a:cs typeface="Times New Roman" panose="02020603050405020304" pitchFamily="18" charset="0"/>
              </a:rPr>
              <a:t>на </a:t>
            </a:r>
            <a:r>
              <a:rPr lang="en-US" sz="1500" dirty="0">
                <a:solidFill>
                  <a:srgbClr val="000000"/>
                </a:solidFill>
                <a:latin typeface="-apple-system"/>
                <a:ea typeface="Calibri" panose="020F0502020204030204" pitchFamily="34" charset="0"/>
                <a:cs typeface="Times New Roman" panose="02020603050405020304" pitchFamily="18" charset="0"/>
              </a:rPr>
              <a:t>j-</a:t>
            </a:r>
            <a:r>
              <a:rPr lang="ru-RU" sz="1500" dirty="0">
                <a:solidFill>
                  <a:srgbClr val="000000"/>
                </a:solidFill>
                <a:latin typeface="-apple-system"/>
                <a:ea typeface="Calibri" panose="020F0502020204030204" pitchFamily="34" charset="0"/>
                <a:cs typeface="Times New Roman" panose="02020603050405020304" pitchFamily="18" charset="0"/>
              </a:rPr>
              <a:t>ю позицию, счётчик </a:t>
            </a:r>
            <a:r>
              <a:rPr lang="en-US" sz="1500" dirty="0">
                <a:solidFill>
                  <a:srgbClr val="000000"/>
                </a:solidFill>
                <a:latin typeface="-apple-system"/>
                <a:ea typeface="Calibri" panose="020F0502020204030204" pitchFamily="34" charset="0"/>
                <a:cs typeface="Times New Roman" panose="02020603050405020304" pitchFamily="18" charset="0"/>
              </a:rPr>
              <a:t>j</a:t>
            </a:r>
            <a:r>
              <a:rPr lang="ru-RU" sz="1500" dirty="0">
                <a:solidFill>
                  <a:srgbClr val="000000"/>
                </a:solidFill>
                <a:latin typeface="-apple-system"/>
                <a:ea typeface="Calibri" panose="020F0502020204030204" pitchFamily="34" charset="0"/>
                <a:cs typeface="Times New Roman" panose="02020603050405020304" pitchFamily="18" charset="0"/>
              </a:rPr>
              <a:t> увеличиваем</a:t>
            </a:r>
            <a:endParaRPr lang="ru-RU" sz="1400" dirty="0">
              <a:effectLst/>
              <a:latin typeface="-apple-system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lvl="2" indent="-228600">
              <a:lnSpc>
                <a:spcPct val="115000"/>
              </a:lnSpc>
              <a:buFont typeface="+mj-lt"/>
              <a:buAutoNum type="romanLcPeriod"/>
            </a:pPr>
            <a:r>
              <a:rPr lang="ru-RU" sz="1500" dirty="0">
                <a:effectLst/>
                <a:latin typeface="-apple-system"/>
                <a:ea typeface="Calibri" panose="020F0502020204030204" pitchFamily="34" charset="0"/>
                <a:cs typeface="Times New Roman" panose="02020603050405020304" pitchFamily="18" charset="0"/>
              </a:rPr>
              <a:t>Вне зависимости от ветки увеличиваем счётчик </a:t>
            </a:r>
            <a:r>
              <a:rPr lang="en-US" sz="1500" dirty="0" err="1">
                <a:effectLst/>
                <a:latin typeface="-apple-system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1500" dirty="0">
                <a:effectLst/>
                <a:latin typeface="-apple-system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500" dirty="0">
                <a:effectLst/>
                <a:latin typeface="-apple-system"/>
                <a:ea typeface="Calibri" panose="020F0502020204030204" pitchFamily="34" charset="0"/>
                <a:cs typeface="Times New Roman" panose="02020603050405020304" pitchFamily="18" charset="0"/>
              </a:rPr>
              <a:t>и возвращаемся в оператор условного выбора</a:t>
            </a:r>
            <a:endParaRPr lang="ru-RU" sz="1400" dirty="0">
              <a:effectLst/>
              <a:latin typeface="-apple-system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buFont typeface="+mj-lt"/>
              <a:buAutoNum type="alphaLcPeriod"/>
            </a:pPr>
            <a:r>
              <a:rPr lang="ru-RU" sz="1500" b="1" dirty="0">
                <a:solidFill>
                  <a:srgbClr val="00B050"/>
                </a:solidFill>
                <a:effectLst/>
                <a:latin typeface="-apple-system"/>
                <a:ea typeface="Calibri" panose="020F0502020204030204" pitchFamily="34" charset="0"/>
                <a:cs typeface="Times New Roman" panose="02020603050405020304" pitchFamily="18" charset="0"/>
              </a:rPr>
              <a:t>Нет: </a:t>
            </a:r>
            <a:r>
              <a:rPr lang="ru-RU" sz="1500" dirty="0">
                <a:effectLst/>
                <a:latin typeface="-apple-system"/>
                <a:ea typeface="Calibri" panose="020F0502020204030204" pitchFamily="34" charset="0"/>
                <a:cs typeface="Times New Roman" panose="02020603050405020304" pitchFamily="18" charset="0"/>
              </a:rPr>
              <a:t>Когда </a:t>
            </a:r>
            <a:r>
              <a:rPr lang="ru-RU" sz="1500" dirty="0">
                <a:latin typeface="-apple-system"/>
                <a:ea typeface="Calibri" panose="020F0502020204030204" pitchFamily="34" charset="0"/>
                <a:cs typeface="Times New Roman" panose="02020603050405020304" pitchFamily="18" charset="0"/>
              </a:rPr>
              <a:t>счётчик </a:t>
            </a:r>
            <a:r>
              <a:rPr lang="en-US" sz="1500" dirty="0" err="1">
                <a:latin typeface="-apple-system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1500" dirty="0">
                <a:effectLst/>
                <a:latin typeface="-apple-system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500" dirty="0">
                <a:effectLst/>
                <a:latin typeface="-apple-system"/>
                <a:ea typeface="Calibri" panose="020F0502020204030204" pitchFamily="34" charset="0"/>
                <a:cs typeface="Times New Roman" panose="02020603050405020304" pitchFamily="18" charset="0"/>
              </a:rPr>
              <a:t>и длина строки </a:t>
            </a:r>
            <a:r>
              <a:rPr lang="en-US" sz="1500" dirty="0">
                <a:effectLst/>
                <a:latin typeface="-apple-system"/>
                <a:ea typeface="Calibri" panose="020F0502020204030204" pitchFamily="34" charset="0"/>
                <a:cs typeface="Times New Roman" panose="02020603050405020304" pitchFamily="18" charset="0"/>
              </a:rPr>
              <a:t>str_length-1</a:t>
            </a:r>
            <a:r>
              <a:rPr lang="ru-RU" sz="1500" dirty="0">
                <a:effectLst/>
                <a:latin typeface="-apple-system"/>
                <a:ea typeface="Calibri" panose="020F0502020204030204" pitchFamily="34" charset="0"/>
                <a:cs typeface="Times New Roman" panose="02020603050405020304" pitchFamily="18" charset="0"/>
              </a:rPr>
              <a:t> сравняются, значит мы дошли до конца строки, выходим из цикла</a:t>
            </a:r>
            <a:endParaRPr lang="ru-RU" sz="1400" dirty="0">
              <a:latin typeface="-apple-system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1600" dirty="0">
                <a:latin typeface="-apple-system"/>
                <a:cs typeface="Times New Roman" panose="02020603050405020304" pitchFamily="18" charset="0"/>
              </a:rPr>
              <a:t>5) Выводим строку </a:t>
            </a:r>
            <a:r>
              <a:rPr lang="en-US" sz="1600" dirty="0" err="1">
                <a:latin typeface="-apple-system"/>
                <a:cs typeface="Times New Roman" panose="02020603050405020304" pitchFamily="18" charset="0"/>
              </a:rPr>
              <a:t>str_final</a:t>
            </a:r>
            <a:r>
              <a:rPr lang="en-US" sz="1600" dirty="0">
                <a:latin typeface="-apple-system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-apple-system"/>
                <a:cs typeface="Times New Roman" panose="02020603050405020304" pitchFamily="18" charset="0"/>
              </a:rPr>
              <a:t>с удаленными пробелами и выходим из программы.</a:t>
            </a:r>
          </a:p>
          <a:p>
            <a:endParaRPr lang="ru-RU" dirty="0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78D5ABC9-6BE4-4C2D-828D-094987E72C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7412"/>
            <a:ext cx="10273937" cy="592818"/>
          </a:xfrm>
        </p:spPr>
        <p:txBody>
          <a:bodyPr>
            <a:normAutofit fontScale="90000"/>
          </a:bodyPr>
          <a:lstStyle/>
          <a:p>
            <a:pPr algn="ctr"/>
            <a:r>
              <a:rPr lang="ru-RU" sz="2200" b="1" dirty="0">
                <a:latin typeface="-apple-system"/>
                <a:ea typeface="Calibri" panose="020F0502020204030204" pitchFamily="34" charset="0"/>
              </a:rPr>
              <a:t>Пример</a:t>
            </a:r>
            <a:r>
              <a:rPr lang="en-US" sz="2200" b="1" dirty="0">
                <a:latin typeface="-apple-system"/>
                <a:ea typeface="Calibri" panose="020F0502020204030204" pitchFamily="34" charset="0"/>
              </a:rPr>
              <a:t>: </a:t>
            </a:r>
            <a:r>
              <a:rPr lang="ru-RU" sz="2200" dirty="0">
                <a:latin typeface="-apple-system"/>
                <a:ea typeface="Calibri" panose="020F0502020204030204" pitchFamily="34" charset="0"/>
              </a:rPr>
              <a:t>у</a:t>
            </a:r>
            <a:r>
              <a:rPr lang="ru-RU" sz="2200" dirty="0">
                <a:effectLst/>
                <a:latin typeface="-apple-system"/>
                <a:ea typeface="Calibri" panose="020F0502020204030204" pitchFamily="34" charset="0"/>
              </a:rPr>
              <a:t>далить все лишние пробелы из заданной строки, т.е. оставить между словами не более одного пробела.</a:t>
            </a:r>
            <a:endParaRPr lang="ru-RU" sz="2200" dirty="0">
              <a:latin typeface="-apple-system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B703EA0-AE8A-4884-B673-D0F42DE8B3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009" y="487679"/>
            <a:ext cx="3858951" cy="6302709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3355E514-481F-4CE7-B556-E147D59461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9508" y="740230"/>
            <a:ext cx="3266323" cy="1959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139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F09C34-C6AC-4D55-B37C-4124931D1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-apple-system"/>
                <a:hlinkClick r:id="rId2"/>
              </a:rPr>
              <a:t>https://app.diagrams.net/</a:t>
            </a:r>
            <a:endParaRPr lang="ru-RU" sz="3600" dirty="0">
              <a:latin typeface="-apple-system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DC318F0-1FC4-42F2-A160-335C5FA347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7AE1D46-D368-4E74-8631-5E17D93CB1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469" y="993476"/>
            <a:ext cx="10598331" cy="532124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98B7332-6E4F-417C-9490-A663E0A66071}"/>
              </a:ext>
            </a:extLst>
          </p:cNvPr>
          <p:cNvSpPr txBox="1"/>
          <p:nvPr/>
        </p:nvSpPr>
        <p:spPr>
          <a:xfrm>
            <a:off x="0" y="6314721"/>
            <a:ext cx="1219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latin typeface="-apple-system"/>
              </a:rPr>
              <a:t>Предлагаемый сайт для создания блок-схем</a:t>
            </a:r>
          </a:p>
        </p:txBody>
      </p:sp>
    </p:spTree>
    <p:extLst>
      <p:ext uri="{BB962C8B-B14F-4D97-AF65-F5344CB8AC3E}">
        <p14:creationId xmlns:p14="http://schemas.microsoft.com/office/powerpoint/2010/main" val="7388459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BCDCF7-1AEE-44C0-AA34-0B9021AE7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F77C664-F532-4D6B-BDCA-0DC9B57951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D079D5BE-C185-4532-A1A3-474FC9B7DA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072911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393</TotalTime>
  <Words>573</Words>
  <Application>Microsoft Office PowerPoint</Application>
  <PresentationFormat>Широкоэкранный</PresentationFormat>
  <Paragraphs>41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6" baseType="lpstr">
      <vt:lpstr>-apple-system</vt:lpstr>
      <vt:lpstr>Arial</vt:lpstr>
      <vt:lpstr>Calibri</vt:lpstr>
      <vt:lpstr>Calibri Light</vt:lpstr>
      <vt:lpstr>Тема Office</vt:lpstr>
      <vt:lpstr>Информатика и компьютерные технологии</vt:lpstr>
      <vt:lpstr>Презентация PowerPoint</vt:lpstr>
      <vt:lpstr>Графы</vt:lpstr>
      <vt:lpstr>Ориентированный и неориентированный графы</vt:lpstr>
      <vt:lpstr>Блок схема</vt:lpstr>
      <vt:lpstr>Презентация PowerPoint</vt:lpstr>
      <vt:lpstr>Презентация PowerPoint</vt:lpstr>
      <vt:lpstr>Презентация PowerPoint</vt:lpstr>
      <vt:lpstr>Пример: удалить все лишние пробелы из заданной строки, т.е. оставить между словами не более одного пробела.</vt:lpstr>
      <vt:lpstr>https://app.diagrams.net/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Андрей</dc:creator>
  <cp:lastModifiedBy>Савкин Артем</cp:lastModifiedBy>
  <cp:revision>45</cp:revision>
  <dcterms:created xsi:type="dcterms:W3CDTF">2016-12-02T14:14:53Z</dcterms:created>
  <dcterms:modified xsi:type="dcterms:W3CDTF">2026-01-22T20:38:15Z</dcterms:modified>
</cp:coreProperties>
</file>