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82" r:id="rId3"/>
    <p:sldId id="305" r:id="rId4"/>
    <p:sldId id="292" r:id="rId5"/>
    <p:sldId id="294" r:id="rId6"/>
    <p:sldId id="290" r:id="rId7"/>
    <p:sldId id="299" r:id="rId8"/>
    <p:sldId id="300" r:id="rId9"/>
    <p:sldId id="301" r:id="rId10"/>
    <p:sldId id="303" r:id="rId11"/>
    <p:sldId id="302" r:id="rId12"/>
    <p:sldId id="306" r:id="rId13"/>
    <p:sldId id="304" r:id="rId14"/>
    <p:sldId id="298" r:id="rId15"/>
    <p:sldId id="296" r:id="rId16"/>
    <p:sldId id="297" r:id="rId17"/>
    <p:sldId id="283"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67173922-2C28-48F7-A3FB-7125E042575B}">
          <p14:sldIdLst>
            <p14:sldId id="256"/>
            <p14:sldId id="282"/>
            <p14:sldId id="305"/>
            <p14:sldId id="292"/>
            <p14:sldId id="294"/>
            <p14:sldId id="290"/>
            <p14:sldId id="299"/>
            <p14:sldId id="300"/>
            <p14:sldId id="301"/>
            <p14:sldId id="303"/>
            <p14:sldId id="302"/>
            <p14:sldId id="306"/>
            <p14:sldId id="304"/>
            <p14:sldId id="298"/>
            <p14:sldId id="296"/>
            <p14:sldId id="297"/>
            <p14:sldId id="28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52" autoAdjust="0"/>
    <p:restoredTop sz="94660"/>
  </p:normalViewPr>
  <p:slideViewPr>
    <p:cSldViewPr snapToGrid="0">
      <p:cViewPr varScale="1">
        <p:scale>
          <a:sx n="150" d="100"/>
          <a:sy n="150" d="100"/>
        </p:scale>
        <p:origin x="192"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B458C-8D59-4863-9661-F77FA5434047}" type="datetimeFigureOut">
              <a:rPr lang="ru-RU" smtClean="0"/>
              <a:t>22.01.2026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0126BC-38B4-42C5-92DB-8009D6C1BD26}" type="slidenum">
              <a:rPr lang="ru-RU" smtClean="0"/>
              <a:t>‹#›</a:t>
            </a:fld>
            <a:endParaRPr lang="ru-RU"/>
          </a:p>
        </p:txBody>
      </p:sp>
    </p:spTree>
    <p:extLst>
      <p:ext uri="{BB962C8B-B14F-4D97-AF65-F5344CB8AC3E}">
        <p14:creationId xmlns:p14="http://schemas.microsoft.com/office/powerpoint/2010/main" val="83532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E0126BC-38B4-42C5-92DB-8009D6C1BD26}" type="slidenum">
              <a:rPr lang="ru-RU" smtClean="0"/>
              <a:t>16</a:t>
            </a:fld>
            <a:endParaRPr lang="ru-RU"/>
          </a:p>
        </p:txBody>
      </p:sp>
    </p:spTree>
    <p:extLst>
      <p:ext uri="{BB962C8B-B14F-4D97-AF65-F5344CB8AC3E}">
        <p14:creationId xmlns:p14="http://schemas.microsoft.com/office/powerpoint/2010/main" val="323358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43C798-C681-4F0B-A474-5203D94872C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0279F0F-495F-443D-9E1E-25C8B25DA7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8BB88A4C-6641-45EA-8FB1-285D327CC107}"/>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5" name="Нижний колонтитул 4">
            <a:extLst>
              <a:ext uri="{FF2B5EF4-FFF2-40B4-BE49-F238E27FC236}">
                <a16:creationId xmlns:a16="http://schemas.microsoft.com/office/drawing/2014/main" id="{AF2CC204-D022-4849-AF1D-691441FE736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D10DB07-2878-4A9B-809D-2212D801CE40}"/>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404881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20A630-ECE8-45F5-BE42-5A03F327B71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EA983D2-6D05-4325-8242-CCE579A420DB}"/>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F0DA30E-37EB-43A4-8CAD-DDA4CDBA6117}"/>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5" name="Нижний колонтитул 4">
            <a:extLst>
              <a:ext uri="{FF2B5EF4-FFF2-40B4-BE49-F238E27FC236}">
                <a16:creationId xmlns:a16="http://schemas.microsoft.com/office/drawing/2014/main" id="{51CE3523-7D3B-456A-9AB2-A83A7CE46E8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75123AB-0199-43F0-B6C4-B0AC38AFC44A}"/>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3190432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462D49-0BCC-4F1F-B0FC-EA62CBC4DF1C}"/>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1F4D49B-A778-46A8-975B-8E89DE586E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0C8E13CC-19D2-40DA-8D60-8C4A30AC11A2}"/>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5" name="Нижний колонтитул 4">
            <a:extLst>
              <a:ext uri="{FF2B5EF4-FFF2-40B4-BE49-F238E27FC236}">
                <a16:creationId xmlns:a16="http://schemas.microsoft.com/office/drawing/2014/main" id="{BABDF7CD-4DF0-43DD-B768-E2FBB905F41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39A3733-2980-4695-AAE1-31B766B89982}"/>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546744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39C935-5358-4B25-A115-45C46B532CF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AD0250C-D204-4A3E-A157-131B1FE989E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FB75C825-112C-4BFA-B9C8-8869DABD4088}"/>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383FB0E-1293-4632-902E-1A4B430E4C62}"/>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6" name="Нижний колонтитул 5">
            <a:extLst>
              <a:ext uri="{FF2B5EF4-FFF2-40B4-BE49-F238E27FC236}">
                <a16:creationId xmlns:a16="http://schemas.microsoft.com/office/drawing/2014/main" id="{EE84EFC0-E7CF-4DD2-8D4F-67E469011E6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0F0CE11-AFD2-47D8-AB04-9519777B4775}"/>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248856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E65C22-428D-4947-AC5E-D406C4938636}"/>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5E3F9FEB-5585-425C-85E5-A6F66B042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93E3ADB-B85F-43B5-A6B2-956D3E9A4FA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BA4B3C42-92F1-4E1E-9430-1DE184654C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D408337-4A23-4BA9-9403-A1377E60A1D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2AA9C7A-7A05-456B-B7FB-91F4AD5575DF}"/>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8" name="Нижний колонтитул 7">
            <a:extLst>
              <a:ext uri="{FF2B5EF4-FFF2-40B4-BE49-F238E27FC236}">
                <a16:creationId xmlns:a16="http://schemas.microsoft.com/office/drawing/2014/main" id="{23DC9AE1-A924-407E-8184-3D0CE3B1A9E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7968870-878F-4AE6-9330-CB68E77988BE}"/>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3555944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F4FBDE-9B05-4B51-A951-05A04691D73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956F6BA-64CB-4715-93EF-A22A8764D885}"/>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4" name="Нижний колонтитул 3">
            <a:extLst>
              <a:ext uri="{FF2B5EF4-FFF2-40B4-BE49-F238E27FC236}">
                <a16:creationId xmlns:a16="http://schemas.microsoft.com/office/drawing/2014/main" id="{12492E9B-7F59-4577-BA9C-26BEEFF0234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A1809F6-1A28-412C-B7DA-AD6E53D4BB63}"/>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2173026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BD488C8-72C5-46BC-9001-7A7D333AB275}"/>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3" name="Нижний колонтитул 2">
            <a:extLst>
              <a:ext uri="{FF2B5EF4-FFF2-40B4-BE49-F238E27FC236}">
                <a16:creationId xmlns:a16="http://schemas.microsoft.com/office/drawing/2014/main" id="{C7F9230F-1180-4BAC-8511-7FB8F8972E8D}"/>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9FDA42D-FAEB-472D-99CD-EFB5A2E3199F}"/>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4275515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6BF221-CF6B-42C2-A20C-7BE7C015AC8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9DBC04FC-0B48-4055-B7B5-FE402672DC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777A2B68-7715-4A5B-AC06-8C205CC5C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EA52B99-9E85-4C99-A172-1DBE70449F18}"/>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6" name="Нижний колонтитул 5">
            <a:extLst>
              <a:ext uri="{FF2B5EF4-FFF2-40B4-BE49-F238E27FC236}">
                <a16:creationId xmlns:a16="http://schemas.microsoft.com/office/drawing/2014/main" id="{C1FC9176-1CE8-4D93-BB07-134D4F6653D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8CBA618-08E0-4B30-AAC9-B676A455692A}"/>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3942821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536A29-516C-4BC2-9149-80C832BC22E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1E98398-1498-443A-83F8-0F1EC754A4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13920954-D714-49D5-9AFD-D8F8E2035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3D45E9A-05C0-4360-952E-8058C711CEA4}"/>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6" name="Нижний колонтитул 5">
            <a:extLst>
              <a:ext uri="{FF2B5EF4-FFF2-40B4-BE49-F238E27FC236}">
                <a16:creationId xmlns:a16="http://schemas.microsoft.com/office/drawing/2014/main" id="{5B1C654D-5BFC-4F73-8E1F-4BF3B0AF8DE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5EC4DF0-7BD8-43DC-B274-86CB494D834A}"/>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243535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DADFB1-2473-4459-810C-874E8385FD7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DB2C9CA-9F25-45BE-95C6-66DFB745F8A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0B71FD7-A9DA-4929-BE78-ABE5324AB345}"/>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5" name="Нижний колонтитул 4">
            <a:extLst>
              <a:ext uri="{FF2B5EF4-FFF2-40B4-BE49-F238E27FC236}">
                <a16:creationId xmlns:a16="http://schemas.microsoft.com/office/drawing/2014/main" id="{66B845F7-5CEC-451D-85A6-54E0C3E8925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A5DF2E3-6997-4FC3-92A8-237DEF552B97}"/>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487447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BED0572-DFEF-4D06-8FE6-081839481403}"/>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8ACCCC6-1080-422F-9175-0887F32D2E8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383905B-1800-435E-BEEC-A6DDAAC68993}"/>
              </a:ext>
            </a:extLst>
          </p:cNvPr>
          <p:cNvSpPr>
            <a:spLocks noGrp="1"/>
          </p:cNvSpPr>
          <p:nvPr>
            <p:ph type="dt" sz="half" idx="10"/>
          </p:nvPr>
        </p:nvSpPr>
        <p:spPr/>
        <p:txBody>
          <a:bodyPr/>
          <a:lstStyle/>
          <a:p>
            <a:fld id="{BE9EC8F3-9CC8-4C60-9AFC-48A34770AE5B}" type="datetimeFigureOut">
              <a:rPr lang="ru-RU" smtClean="0"/>
              <a:t>22.01.2026</a:t>
            </a:fld>
            <a:endParaRPr lang="ru-RU"/>
          </a:p>
        </p:txBody>
      </p:sp>
      <p:sp>
        <p:nvSpPr>
          <p:cNvPr id="5" name="Нижний колонтитул 4">
            <a:extLst>
              <a:ext uri="{FF2B5EF4-FFF2-40B4-BE49-F238E27FC236}">
                <a16:creationId xmlns:a16="http://schemas.microsoft.com/office/drawing/2014/main" id="{4FC626E2-D3DF-4D8A-886B-5AFF78BFFD5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46DA712-CF57-4C2F-9A5F-826F2095B700}"/>
              </a:ext>
            </a:extLst>
          </p:cNvPr>
          <p:cNvSpPr>
            <a:spLocks noGrp="1"/>
          </p:cNvSpPr>
          <p:nvPr>
            <p:ph type="sldNum" sz="quarter" idx="12"/>
          </p:nvPr>
        </p:nvSpPr>
        <p:spPr/>
        <p:txBody>
          <a:bodyPr/>
          <a:lstStyle/>
          <a:p>
            <a:fld id="{5819D2A5-3489-4E8E-ACC6-D3ECE2E01B63}" type="slidenum">
              <a:rPr lang="ru-RU" smtClean="0"/>
              <a:t>‹#›</a:t>
            </a:fld>
            <a:endParaRPr lang="ru-RU"/>
          </a:p>
        </p:txBody>
      </p:sp>
    </p:spTree>
    <p:extLst>
      <p:ext uri="{BB962C8B-B14F-4D97-AF65-F5344CB8AC3E}">
        <p14:creationId xmlns:p14="http://schemas.microsoft.com/office/powerpoint/2010/main" val="3679099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8632AD-4ADD-4908-94A5-DC27A27432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0D4A41D9-4519-4C08-AB70-15561B266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7F994E7-29B5-4187-B6B2-800CD178A4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9EC8F3-9CC8-4C60-9AFC-48A34770AE5B}" type="datetimeFigureOut">
              <a:rPr lang="ru-RU" smtClean="0"/>
              <a:t>22.01.2026</a:t>
            </a:fld>
            <a:endParaRPr lang="ru-RU"/>
          </a:p>
        </p:txBody>
      </p:sp>
      <p:sp>
        <p:nvSpPr>
          <p:cNvPr id="5" name="Нижний колонтитул 4">
            <a:extLst>
              <a:ext uri="{FF2B5EF4-FFF2-40B4-BE49-F238E27FC236}">
                <a16:creationId xmlns:a16="http://schemas.microsoft.com/office/drawing/2014/main" id="{8B0B5A10-CD29-49B0-80EC-D3192AEE6A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F9A994DB-C352-43B4-8A52-666F56A259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19D2A5-3489-4E8E-ACC6-D3ECE2E01B63}" type="slidenum">
              <a:rPr lang="ru-RU" smtClean="0"/>
              <a:t>‹#›</a:t>
            </a:fld>
            <a:endParaRPr lang="ru-RU"/>
          </a:p>
        </p:txBody>
      </p:sp>
    </p:spTree>
    <p:extLst>
      <p:ext uri="{BB962C8B-B14F-4D97-AF65-F5344CB8AC3E}">
        <p14:creationId xmlns:p14="http://schemas.microsoft.com/office/powerpoint/2010/main" val="249520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jwt.io/introduction/" TargetMode="External"/><Relationship Id="rId7" Type="http://schemas.openxmlformats.org/officeDocument/2006/relationships/hyperlink" Target="https://tproger.ru/articles/fido-u2f" TargetMode="External"/><Relationship Id="rId2" Type="http://schemas.openxmlformats.org/officeDocument/2006/relationships/hyperlink" Target="https://ru.wikipedia.org/wiki/%D0%90%D1%83%D1%82%D0%B5%D0%BD%D1%82%D0%B8%D1%84%D0%B8%D0%BA%D0%B0%D1%86%D0%B8%D1%8F" TargetMode="External"/><Relationship Id="rId1" Type="http://schemas.openxmlformats.org/officeDocument/2006/relationships/slideLayout" Target="../slideLayouts/slideLayout2.xml"/><Relationship Id="rId6" Type="http://schemas.openxmlformats.org/officeDocument/2006/relationships/hyperlink" Target="https://oauth.net/" TargetMode="External"/><Relationship Id="rId5" Type="http://schemas.openxmlformats.org/officeDocument/2006/relationships/hyperlink" Target="https://aws.amazon.com/ru/iam/details/mfa/" TargetMode="External"/><Relationship Id="rId4" Type="http://schemas.openxmlformats.org/officeDocument/2006/relationships/hyperlink" Target="https://www.google.com/landing/2step/"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ru.wikipedia.org/wiki/%D0%90%D0%B2%D1%82%D0%BE%D1%80%D0%B8%D0%B7%D0%B0%D1%86%D0%B8%D1%8F" TargetMode="External"/><Relationship Id="rId2" Type="http://schemas.openxmlformats.org/officeDocument/2006/relationships/hyperlink" Target="https://ru.wikipedia.org/wiki/%D0%90%D1%83%D1%82%D0%B5%D0%BD%D1%82%D0%B8%D1%84%D0%B8%D0%BA%D0%B0%D1%86%D0%B8%D1%8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ru.wikipedia.org/wiki/API"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habrahabr.ru/post/38730/"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habr.com/ru/companies/hexlet/articles/274675/"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proger.ru/translations/frontend-backend-interaction" TargetMode="External"/><Relationship Id="rId7" Type="http://schemas.openxmlformats.org/officeDocument/2006/relationships/hyperlink" Target="https://tproger.ru/articles/web-api" TargetMode="External"/><Relationship Id="rId2" Type="http://schemas.openxmlformats.org/officeDocument/2006/relationships/hyperlink" Target="https://habr.com/ru/companies/yandex/articles/499534/" TargetMode="External"/><Relationship Id="rId1" Type="http://schemas.openxmlformats.org/officeDocument/2006/relationships/slideLayout" Target="../slideLayouts/slideLayout2.xml"/><Relationship Id="rId6" Type="http://schemas.openxmlformats.org/officeDocument/2006/relationships/hyperlink" Target="https://habr.com/ru/companies/oleg-bunin/articles/309324/" TargetMode="External"/><Relationship Id="rId5" Type="http://schemas.openxmlformats.org/officeDocument/2006/relationships/hyperlink" Target="https://tproger.ru/translations/backend-web-development" TargetMode="External"/><Relationship Id="rId4" Type="http://schemas.openxmlformats.org/officeDocument/2006/relationships/hyperlink" Target="https://timeweb.com/ru/community/articles/znakomstvo-s-freymvorkami-chast-1-html-css-php-i-python-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0EBF47-7D89-4894-9784-172351802D02}"/>
              </a:ext>
            </a:extLst>
          </p:cNvPr>
          <p:cNvSpPr>
            <a:spLocks noGrp="1"/>
          </p:cNvSpPr>
          <p:nvPr>
            <p:ph type="ctrTitle"/>
          </p:nvPr>
        </p:nvSpPr>
        <p:spPr/>
        <p:txBody>
          <a:bodyPr/>
          <a:lstStyle/>
          <a:p>
            <a:r>
              <a:rPr lang="ru-RU" b="1" dirty="0"/>
              <a:t>Создание веб-сайтов</a:t>
            </a:r>
          </a:p>
        </p:txBody>
      </p:sp>
    </p:spTree>
    <p:extLst>
      <p:ext uri="{BB962C8B-B14F-4D97-AF65-F5344CB8AC3E}">
        <p14:creationId xmlns:p14="http://schemas.microsoft.com/office/powerpoint/2010/main" val="181585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4E78B4-4517-4E19-B776-61356E51E4E4}"/>
              </a:ext>
            </a:extLst>
          </p:cNvPr>
          <p:cNvSpPr>
            <a:spLocks noGrp="1"/>
          </p:cNvSpPr>
          <p:nvPr>
            <p:ph type="title"/>
          </p:nvPr>
        </p:nvSpPr>
        <p:spPr>
          <a:xfrm>
            <a:off x="838200" y="0"/>
            <a:ext cx="10515600" cy="1325563"/>
          </a:xfrm>
        </p:spPr>
        <p:txBody>
          <a:bodyPr>
            <a:normAutofit/>
          </a:bodyPr>
          <a:lstStyle/>
          <a:p>
            <a:pPr algn="ctr"/>
            <a:r>
              <a:rPr lang="en-US" sz="3600" dirty="0">
                <a:latin typeface="-apple-system"/>
              </a:rPr>
              <a:t>Back-end</a:t>
            </a:r>
            <a:endParaRPr lang="ru-RU" sz="3600" dirty="0">
              <a:latin typeface="-apple-system"/>
            </a:endParaRPr>
          </a:p>
        </p:txBody>
      </p:sp>
      <p:sp>
        <p:nvSpPr>
          <p:cNvPr id="3" name="Объект 2">
            <a:extLst>
              <a:ext uri="{FF2B5EF4-FFF2-40B4-BE49-F238E27FC236}">
                <a16:creationId xmlns:a16="http://schemas.microsoft.com/office/drawing/2014/main" id="{4FF9E7AB-18EA-4DB2-B5AE-6A3B6B7B7035}"/>
              </a:ext>
            </a:extLst>
          </p:cNvPr>
          <p:cNvSpPr>
            <a:spLocks noGrp="1"/>
          </p:cNvSpPr>
          <p:nvPr>
            <p:ph idx="1"/>
          </p:nvPr>
        </p:nvSpPr>
        <p:spPr>
          <a:xfrm>
            <a:off x="284018" y="914400"/>
            <a:ext cx="11590482" cy="4812145"/>
          </a:xfrm>
        </p:spPr>
        <p:txBody>
          <a:bodyPr>
            <a:normAutofit/>
          </a:bodyPr>
          <a:lstStyle/>
          <a:p>
            <a:pPr marL="0" indent="0">
              <a:lnSpc>
                <a:spcPct val="110000"/>
              </a:lnSpc>
              <a:buNone/>
            </a:pPr>
            <a:r>
              <a:rPr lang="ru-RU" sz="2000" b="1" dirty="0">
                <a:solidFill>
                  <a:srgbClr val="111111"/>
                </a:solidFill>
                <a:latin typeface="-apple-system"/>
              </a:rPr>
              <a:t>Бэкенд</a:t>
            </a:r>
            <a:r>
              <a:rPr lang="ru-RU" sz="2000" dirty="0">
                <a:solidFill>
                  <a:srgbClr val="111111"/>
                </a:solidFill>
                <a:latin typeface="-apple-system"/>
              </a:rPr>
              <a:t> — это серверная часть веб-приложения или сайта, которая отвечает за обработку данных, управление бизнес-логикой и взаимодействие с базами данных. Он играет ключевую роль в обеспечении функциональности и производительности приложения, обеспечивая обработку запросов от </a:t>
            </a:r>
            <a:r>
              <a:rPr lang="ru-RU" sz="2000" dirty="0" err="1">
                <a:solidFill>
                  <a:srgbClr val="111111"/>
                </a:solidFill>
                <a:latin typeface="-apple-system"/>
              </a:rPr>
              <a:t>фронтенда</a:t>
            </a:r>
            <a:r>
              <a:rPr lang="ru-RU" sz="2000" dirty="0">
                <a:solidFill>
                  <a:srgbClr val="111111"/>
                </a:solidFill>
                <a:latin typeface="-apple-system"/>
              </a:rPr>
              <a:t>, т.е. той части, которую видит пользователь.</a:t>
            </a:r>
            <a:endParaRPr lang="en-US" sz="2000" dirty="0">
              <a:solidFill>
                <a:srgbClr val="111111"/>
              </a:solidFill>
              <a:latin typeface="-apple-system"/>
            </a:endParaRPr>
          </a:p>
          <a:p>
            <a:pPr marL="0" indent="0" algn="l" fontAlgn="base" latinLnBrk="0">
              <a:lnSpc>
                <a:spcPct val="110000"/>
              </a:lnSpc>
              <a:buNone/>
            </a:pPr>
            <a:endParaRPr lang="ru-RU" sz="2600" dirty="0">
              <a:solidFill>
                <a:srgbClr val="111111"/>
              </a:solidFill>
              <a:latin typeface="-apple-system"/>
            </a:endParaRPr>
          </a:p>
          <a:p>
            <a:pPr marL="0" indent="0">
              <a:buNone/>
            </a:pPr>
            <a:endParaRPr lang="ru-RU" sz="2800" dirty="0"/>
          </a:p>
        </p:txBody>
      </p:sp>
      <p:pic>
        <p:nvPicPr>
          <p:cNvPr id="4" name="Рисунок 3">
            <a:extLst>
              <a:ext uri="{FF2B5EF4-FFF2-40B4-BE49-F238E27FC236}">
                <a16:creationId xmlns:a16="http://schemas.microsoft.com/office/drawing/2014/main" id="{1CEDF8E1-79E5-4017-B2C1-81A63135F92A}"/>
              </a:ext>
            </a:extLst>
          </p:cNvPr>
          <p:cNvPicPr>
            <a:picLocks noChangeAspect="1"/>
          </p:cNvPicPr>
          <p:nvPr/>
        </p:nvPicPr>
        <p:blipFill>
          <a:blip r:embed="rId2"/>
          <a:stretch>
            <a:fillRect/>
          </a:stretch>
        </p:blipFill>
        <p:spPr>
          <a:xfrm>
            <a:off x="3025511" y="2419349"/>
            <a:ext cx="6140978" cy="4315423"/>
          </a:xfrm>
          <a:prstGeom prst="rect">
            <a:avLst/>
          </a:prstGeom>
        </p:spPr>
      </p:pic>
    </p:spTree>
    <p:extLst>
      <p:ext uri="{BB962C8B-B14F-4D97-AF65-F5344CB8AC3E}">
        <p14:creationId xmlns:p14="http://schemas.microsoft.com/office/powerpoint/2010/main" val="4272111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9">
            <a:extLst>
              <a:ext uri="{FF2B5EF4-FFF2-40B4-BE49-F238E27FC236}">
                <a16:creationId xmlns:a16="http://schemas.microsoft.com/office/drawing/2014/main" id="{9415AE85-1245-4C0A-8B26-377A565A9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73" y="459084"/>
            <a:ext cx="12447545" cy="5939832"/>
          </a:xfrm>
          <a:prstGeom prst="rect">
            <a:avLst/>
          </a:prstGeom>
        </p:spPr>
      </p:pic>
    </p:spTree>
    <p:extLst>
      <p:ext uri="{BB962C8B-B14F-4D97-AF65-F5344CB8AC3E}">
        <p14:creationId xmlns:p14="http://schemas.microsoft.com/office/powerpoint/2010/main" val="1863344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3" name="Объект 2">
            <a:extLst>
              <a:ext uri="{FF2B5EF4-FFF2-40B4-BE49-F238E27FC236}">
                <a16:creationId xmlns:a16="http://schemas.microsoft.com/office/drawing/2014/main" id="{124CB9EA-F669-47AC-B901-F56351E603B7}"/>
              </a:ext>
            </a:extLst>
          </p:cNvPr>
          <p:cNvSpPr>
            <a:spLocks noGrp="1"/>
          </p:cNvSpPr>
          <p:nvPr>
            <p:ph idx="1"/>
          </p:nvPr>
        </p:nvSpPr>
        <p:spPr>
          <a:xfrm>
            <a:off x="311150" y="1123950"/>
            <a:ext cx="11576050" cy="5528310"/>
          </a:xfrm>
        </p:spPr>
        <p:txBody>
          <a:bodyPr>
            <a:normAutofit lnSpcReduction="10000"/>
          </a:bodyPr>
          <a:lstStyle/>
          <a:p>
            <a:pPr marL="0" indent="0">
              <a:buNone/>
            </a:pPr>
            <a:r>
              <a:rPr lang="ru-RU" sz="2200" dirty="0">
                <a:solidFill>
                  <a:srgbClr val="111111"/>
                </a:solidFill>
                <a:latin typeface="-apple-system"/>
              </a:rPr>
              <a:t>Сегодня существует несколько основных архитектур, определяющих, как будут взаимодействовать ваши бэкенд и </a:t>
            </a:r>
            <a:r>
              <a:rPr lang="ru-RU" sz="2200" dirty="0" err="1">
                <a:solidFill>
                  <a:srgbClr val="111111"/>
                </a:solidFill>
                <a:latin typeface="-apple-system"/>
              </a:rPr>
              <a:t>фронтенд</a:t>
            </a:r>
            <a:r>
              <a:rPr lang="ru-RU" sz="2200" dirty="0">
                <a:solidFill>
                  <a:srgbClr val="111111"/>
                </a:solidFill>
                <a:latin typeface="-apple-system"/>
              </a:rPr>
              <a:t>.</a:t>
            </a:r>
          </a:p>
          <a:p>
            <a:r>
              <a:rPr lang="ru-RU" sz="2200" b="1" dirty="0">
                <a:solidFill>
                  <a:srgbClr val="111111"/>
                </a:solidFill>
                <a:latin typeface="-apple-system"/>
              </a:rPr>
              <a:t>Серверные приложения</a:t>
            </a:r>
          </a:p>
          <a:p>
            <a:pPr marL="0" indent="0">
              <a:buNone/>
            </a:pPr>
            <a:r>
              <a:rPr lang="ru-RU" sz="2200" dirty="0">
                <a:solidFill>
                  <a:srgbClr val="111111"/>
                </a:solidFill>
                <a:latin typeface="-apple-system"/>
              </a:rPr>
              <a:t>В этом случае HTTP-запросы отправляются напрямую на сервер приложения, а сервер отвечает HTML-страницей.</a:t>
            </a:r>
          </a:p>
          <a:p>
            <a:pPr marL="0" indent="0">
              <a:buNone/>
            </a:pPr>
            <a:r>
              <a:rPr lang="ru-RU" sz="2200" dirty="0">
                <a:solidFill>
                  <a:srgbClr val="111111"/>
                </a:solidFill>
                <a:latin typeface="-apple-system"/>
              </a:rPr>
              <a:t>Между получением запроса и ответом сервер обычно ищет по запросу информацию в базе данных и встраивает ее в шаблон (ERB, </a:t>
            </a:r>
            <a:r>
              <a:rPr lang="ru-RU" sz="2200" dirty="0" err="1">
                <a:solidFill>
                  <a:srgbClr val="111111"/>
                </a:solidFill>
                <a:latin typeface="-apple-system"/>
              </a:rPr>
              <a:t>Blade</a:t>
            </a:r>
            <a:r>
              <a:rPr lang="ru-RU" sz="2200" dirty="0">
                <a:solidFill>
                  <a:srgbClr val="111111"/>
                </a:solidFill>
                <a:latin typeface="-apple-system"/>
              </a:rPr>
              <a:t>, EJS, </a:t>
            </a:r>
            <a:r>
              <a:rPr lang="ru-RU" sz="2200" dirty="0" err="1">
                <a:solidFill>
                  <a:srgbClr val="111111"/>
                </a:solidFill>
                <a:latin typeface="-apple-system"/>
              </a:rPr>
              <a:t>Handlebars</a:t>
            </a:r>
            <a:r>
              <a:rPr lang="ru-RU" sz="2200" dirty="0">
                <a:solidFill>
                  <a:srgbClr val="111111"/>
                </a:solidFill>
                <a:latin typeface="-apple-system"/>
              </a:rPr>
              <a:t>).</a:t>
            </a:r>
          </a:p>
          <a:p>
            <a:pPr marL="0" indent="0">
              <a:buNone/>
            </a:pPr>
            <a:r>
              <a:rPr lang="ru-RU" sz="2200" dirty="0">
                <a:solidFill>
                  <a:srgbClr val="111111"/>
                </a:solidFill>
                <a:latin typeface="-apple-system"/>
              </a:rPr>
              <a:t>Когда страница загружена в браузере, HTML определяет, что будет показано, CSS — как это будет выглядеть, а JS — всякие особые взаимодействия.</a:t>
            </a:r>
          </a:p>
          <a:p>
            <a:r>
              <a:rPr lang="ru-RU" sz="2200" b="1" dirty="0">
                <a:solidFill>
                  <a:srgbClr val="111111"/>
                </a:solidFill>
                <a:latin typeface="-apple-system"/>
              </a:rPr>
              <a:t>Связь с использованием </a:t>
            </a:r>
            <a:r>
              <a:rPr lang="en-US" sz="2200" b="1" dirty="0">
                <a:solidFill>
                  <a:srgbClr val="111111"/>
                </a:solidFill>
                <a:latin typeface="-apple-system"/>
              </a:rPr>
              <a:t>AJAX</a:t>
            </a:r>
            <a:endParaRPr lang="ru-RU" sz="2200" b="1" dirty="0">
              <a:solidFill>
                <a:srgbClr val="111111"/>
              </a:solidFill>
              <a:latin typeface="-apple-system"/>
            </a:endParaRPr>
          </a:p>
          <a:p>
            <a:pPr marL="0" indent="0">
              <a:buNone/>
            </a:pPr>
            <a:r>
              <a:rPr lang="ru-RU" sz="2200" dirty="0">
                <a:solidFill>
                  <a:srgbClr val="111111"/>
                </a:solidFill>
                <a:latin typeface="-apple-system"/>
              </a:rPr>
              <a:t>Другой тип архитектуры использует для связи AJAX (</a:t>
            </a:r>
            <a:r>
              <a:rPr lang="ru-RU" sz="2200" dirty="0" err="1">
                <a:solidFill>
                  <a:srgbClr val="111111"/>
                </a:solidFill>
                <a:latin typeface="-apple-system"/>
              </a:rPr>
              <a:t>Asynchronous</a:t>
            </a:r>
            <a:r>
              <a:rPr lang="ru-RU" sz="2200" dirty="0">
                <a:solidFill>
                  <a:srgbClr val="111111"/>
                </a:solidFill>
                <a:latin typeface="-apple-system"/>
              </a:rPr>
              <a:t> </a:t>
            </a:r>
            <a:r>
              <a:rPr lang="ru-RU" sz="2200" dirty="0" err="1">
                <a:solidFill>
                  <a:srgbClr val="111111"/>
                </a:solidFill>
                <a:latin typeface="-apple-system"/>
              </a:rPr>
              <a:t>JavaScript</a:t>
            </a:r>
            <a:r>
              <a:rPr lang="ru-RU" sz="2200" dirty="0">
                <a:solidFill>
                  <a:srgbClr val="111111"/>
                </a:solidFill>
                <a:latin typeface="-apple-system"/>
              </a:rPr>
              <a:t> </a:t>
            </a:r>
            <a:r>
              <a:rPr lang="ru-RU" sz="2200" dirty="0" err="1">
                <a:solidFill>
                  <a:srgbClr val="111111"/>
                </a:solidFill>
                <a:latin typeface="-apple-system"/>
              </a:rPr>
              <a:t>and</a:t>
            </a:r>
            <a:r>
              <a:rPr lang="ru-RU" sz="2200" dirty="0">
                <a:solidFill>
                  <a:srgbClr val="111111"/>
                </a:solidFill>
                <a:latin typeface="-apple-system"/>
              </a:rPr>
              <a:t> XML). Это означает, что </a:t>
            </a:r>
            <a:r>
              <a:rPr lang="ru-RU" sz="2200" dirty="0" err="1">
                <a:solidFill>
                  <a:srgbClr val="111111"/>
                </a:solidFill>
                <a:latin typeface="-apple-system"/>
              </a:rPr>
              <a:t>JavaScript</a:t>
            </a:r>
            <a:r>
              <a:rPr lang="ru-RU" sz="2200" dirty="0">
                <a:solidFill>
                  <a:srgbClr val="111111"/>
                </a:solidFill>
                <a:latin typeface="-apple-system"/>
              </a:rPr>
              <a:t>, загруженный в браузере, отправляет HTTP-запрос (XHR, XML HTTP </a:t>
            </a:r>
            <a:r>
              <a:rPr lang="ru-RU" sz="2200" dirty="0" err="1">
                <a:solidFill>
                  <a:srgbClr val="111111"/>
                </a:solidFill>
                <a:latin typeface="-apple-system"/>
              </a:rPr>
              <a:t>Request</a:t>
            </a:r>
            <a:r>
              <a:rPr lang="ru-RU" sz="2200" dirty="0">
                <a:solidFill>
                  <a:srgbClr val="111111"/>
                </a:solidFill>
                <a:latin typeface="-apple-system"/>
              </a:rPr>
              <a:t>) изнутри страницы и (так сложилось исторически) получает XML-ответ. Сейчас для ответов также можно использовать формат JSON.</a:t>
            </a:r>
          </a:p>
          <a:p>
            <a:pPr marL="0" indent="0">
              <a:buNone/>
            </a:pPr>
            <a:r>
              <a:rPr lang="ru-RU" sz="2200" dirty="0">
                <a:solidFill>
                  <a:srgbClr val="111111"/>
                </a:solidFill>
                <a:latin typeface="-apple-system"/>
              </a:rPr>
              <a:t>Это значит, что у вашего сервера должна быть конечная точка, которая отвечает на запросы JSON- или XML-кодом. Два примера протоколов, используемых для этого — REST и SOAP.</a:t>
            </a:r>
          </a:p>
          <a:p>
            <a:pPr marL="514350" indent="-514350">
              <a:buFont typeface="+mj-lt"/>
              <a:buAutoNum type="arabicPeriod"/>
            </a:pPr>
            <a:endParaRPr lang="ru-RU" sz="2200" dirty="0"/>
          </a:p>
        </p:txBody>
      </p:sp>
      <p:sp>
        <p:nvSpPr>
          <p:cNvPr id="4" name="Заголовок 1">
            <a:extLst>
              <a:ext uri="{FF2B5EF4-FFF2-40B4-BE49-F238E27FC236}">
                <a16:creationId xmlns:a16="http://schemas.microsoft.com/office/drawing/2014/main" id="{7B50D071-F0EE-4A8A-B803-3B82B502FD0C}"/>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600" dirty="0">
                <a:latin typeface="-apple-system"/>
              </a:rPr>
              <a:t>Структура взаимодействия бэкенда и </a:t>
            </a:r>
            <a:r>
              <a:rPr lang="ru-RU" sz="3600" dirty="0" err="1">
                <a:latin typeface="-apple-system"/>
              </a:rPr>
              <a:t>фронтенда</a:t>
            </a:r>
            <a:endParaRPr lang="ru-RU" sz="3600" dirty="0">
              <a:latin typeface="-apple-system"/>
            </a:endParaRPr>
          </a:p>
        </p:txBody>
      </p:sp>
    </p:spTree>
    <p:extLst>
      <p:ext uri="{BB962C8B-B14F-4D97-AF65-F5344CB8AC3E}">
        <p14:creationId xmlns:p14="http://schemas.microsoft.com/office/powerpoint/2010/main" val="2002827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3" name="Объект 2">
            <a:extLst>
              <a:ext uri="{FF2B5EF4-FFF2-40B4-BE49-F238E27FC236}">
                <a16:creationId xmlns:a16="http://schemas.microsoft.com/office/drawing/2014/main" id="{124CB9EA-F669-47AC-B901-F56351E603B7}"/>
              </a:ext>
            </a:extLst>
          </p:cNvPr>
          <p:cNvSpPr>
            <a:spLocks noGrp="1"/>
          </p:cNvSpPr>
          <p:nvPr>
            <p:ph idx="1"/>
          </p:nvPr>
        </p:nvSpPr>
        <p:spPr>
          <a:xfrm>
            <a:off x="311150" y="487680"/>
            <a:ext cx="11576050" cy="5689283"/>
          </a:xfrm>
        </p:spPr>
        <p:txBody>
          <a:bodyPr>
            <a:normAutofit/>
          </a:bodyPr>
          <a:lstStyle/>
          <a:p>
            <a:r>
              <a:rPr lang="ru-RU" sz="2200" b="1" dirty="0">
                <a:solidFill>
                  <a:srgbClr val="111111"/>
                </a:solidFill>
                <a:latin typeface="-apple-system"/>
              </a:rPr>
              <a:t>Клиентские (одностраничные) приложения</a:t>
            </a:r>
          </a:p>
          <a:p>
            <a:pPr marL="0" indent="0">
              <a:buNone/>
            </a:pPr>
            <a:r>
              <a:rPr lang="ru-RU" sz="2200" dirty="0">
                <a:solidFill>
                  <a:srgbClr val="111111"/>
                </a:solidFill>
                <a:latin typeface="-apple-system"/>
              </a:rPr>
              <a:t>AJAX позволяет вам загружать данные без обновления страницы. Больше всего это используется в таких фреймворках, как </a:t>
            </a:r>
            <a:r>
              <a:rPr lang="ru-RU" sz="2200" dirty="0" err="1">
                <a:solidFill>
                  <a:srgbClr val="111111"/>
                </a:solidFill>
                <a:latin typeface="-apple-system"/>
              </a:rPr>
              <a:t>Angular</a:t>
            </a:r>
            <a:r>
              <a:rPr lang="ru-RU" sz="2200" dirty="0">
                <a:solidFill>
                  <a:srgbClr val="111111"/>
                </a:solidFill>
                <a:latin typeface="-apple-system"/>
              </a:rPr>
              <a:t> и </a:t>
            </a:r>
            <a:r>
              <a:rPr lang="ru-RU" sz="2200" dirty="0" err="1">
                <a:solidFill>
                  <a:srgbClr val="111111"/>
                </a:solidFill>
                <a:latin typeface="-apple-system"/>
              </a:rPr>
              <a:t>Ember</a:t>
            </a:r>
            <a:r>
              <a:rPr lang="ru-RU" sz="2200" dirty="0">
                <a:solidFill>
                  <a:srgbClr val="111111"/>
                </a:solidFill>
                <a:latin typeface="-apple-system"/>
              </a:rPr>
              <a:t>. После сборки такие приложения отправляются в браузер, и любой последующий рендеринг выполняется на стороне клиента (в браузере).</a:t>
            </a:r>
          </a:p>
          <a:p>
            <a:pPr marL="0" indent="0">
              <a:buNone/>
            </a:pPr>
            <a:r>
              <a:rPr lang="ru-RU" sz="2200" dirty="0">
                <a:solidFill>
                  <a:srgbClr val="111111"/>
                </a:solidFill>
                <a:latin typeface="-apple-system"/>
              </a:rPr>
              <a:t>Такой </a:t>
            </a:r>
            <a:r>
              <a:rPr lang="ru-RU" sz="2200" dirty="0" err="1">
                <a:solidFill>
                  <a:srgbClr val="111111"/>
                </a:solidFill>
                <a:latin typeface="-apple-system"/>
              </a:rPr>
              <a:t>фронтенд</a:t>
            </a:r>
            <a:r>
              <a:rPr lang="ru-RU" sz="2200" dirty="0">
                <a:solidFill>
                  <a:srgbClr val="111111"/>
                </a:solidFill>
                <a:latin typeface="-apple-system"/>
              </a:rPr>
              <a:t> общается с бэкендом через HTTP, используя JSON- или XML-ответы.</a:t>
            </a:r>
          </a:p>
          <a:p>
            <a:r>
              <a:rPr lang="ru-RU" sz="2200" b="1" dirty="0">
                <a:solidFill>
                  <a:srgbClr val="111111"/>
                </a:solidFill>
                <a:latin typeface="-apple-system"/>
              </a:rPr>
              <a:t>Универсальные/изоморфные приложения</a:t>
            </a:r>
          </a:p>
          <a:p>
            <a:pPr marL="0" indent="0">
              <a:buNone/>
            </a:pPr>
            <a:r>
              <a:rPr lang="ru-RU" sz="2200" dirty="0">
                <a:solidFill>
                  <a:srgbClr val="111111"/>
                </a:solidFill>
                <a:latin typeface="-apple-system"/>
              </a:rPr>
              <a:t>Некоторые библиотеки и фреймворки, например, </a:t>
            </a:r>
            <a:r>
              <a:rPr lang="ru-RU" sz="2200" dirty="0" err="1">
                <a:solidFill>
                  <a:srgbClr val="111111"/>
                </a:solidFill>
                <a:latin typeface="-apple-system"/>
              </a:rPr>
              <a:t>React</a:t>
            </a:r>
            <a:r>
              <a:rPr lang="ru-RU" sz="2200" dirty="0">
                <a:solidFill>
                  <a:srgbClr val="111111"/>
                </a:solidFill>
                <a:latin typeface="-apple-system"/>
              </a:rPr>
              <a:t> и </a:t>
            </a:r>
            <a:r>
              <a:rPr lang="ru-RU" sz="2200" dirty="0" err="1">
                <a:solidFill>
                  <a:srgbClr val="111111"/>
                </a:solidFill>
                <a:latin typeface="-apple-system"/>
              </a:rPr>
              <a:t>Ember</a:t>
            </a:r>
            <a:r>
              <a:rPr lang="ru-RU" sz="2200" dirty="0">
                <a:solidFill>
                  <a:srgbClr val="111111"/>
                </a:solidFill>
                <a:latin typeface="-apple-system"/>
              </a:rPr>
              <a:t>, позволяют вам исполнять приложения как на сервере, так и в клиенте.</a:t>
            </a:r>
          </a:p>
          <a:p>
            <a:pPr marL="0" indent="0">
              <a:buNone/>
            </a:pPr>
            <a:r>
              <a:rPr lang="ru-RU" sz="2200" dirty="0">
                <a:solidFill>
                  <a:srgbClr val="111111"/>
                </a:solidFill>
                <a:latin typeface="-apple-system"/>
              </a:rPr>
              <a:t>В этом случае для связи </a:t>
            </a:r>
            <a:r>
              <a:rPr lang="ru-RU" sz="2200" dirty="0" err="1">
                <a:solidFill>
                  <a:srgbClr val="111111"/>
                </a:solidFill>
                <a:latin typeface="-apple-system"/>
              </a:rPr>
              <a:t>фронтенда</a:t>
            </a:r>
            <a:r>
              <a:rPr lang="ru-RU" sz="2200" dirty="0">
                <a:solidFill>
                  <a:srgbClr val="111111"/>
                </a:solidFill>
                <a:latin typeface="-apple-system"/>
              </a:rPr>
              <a:t> с бэкендом приложение использует и AJAX, и обрабатываемый на сервере HTML.</a:t>
            </a:r>
          </a:p>
          <a:p>
            <a:pPr marL="0" indent="0">
              <a:buNone/>
            </a:pPr>
            <a:endParaRPr lang="ru-RU" sz="2200" dirty="0">
              <a:solidFill>
                <a:srgbClr val="111111"/>
              </a:solidFill>
              <a:latin typeface="-apple-system"/>
            </a:endParaRPr>
          </a:p>
          <a:p>
            <a:pPr marL="514350" indent="-514350">
              <a:buFont typeface="+mj-lt"/>
              <a:buAutoNum type="arabicPeriod"/>
            </a:pPr>
            <a:endParaRPr lang="ru-RU" sz="2200" dirty="0"/>
          </a:p>
        </p:txBody>
      </p:sp>
    </p:spTree>
    <p:extLst>
      <p:ext uri="{BB962C8B-B14F-4D97-AF65-F5344CB8AC3E}">
        <p14:creationId xmlns:p14="http://schemas.microsoft.com/office/powerpoint/2010/main" val="3373009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3" name="Объект 2">
            <a:extLst>
              <a:ext uri="{FF2B5EF4-FFF2-40B4-BE49-F238E27FC236}">
                <a16:creationId xmlns:a16="http://schemas.microsoft.com/office/drawing/2014/main" id="{124CB9EA-F669-47AC-B901-F56351E603B7}"/>
              </a:ext>
            </a:extLst>
          </p:cNvPr>
          <p:cNvSpPr>
            <a:spLocks noGrp="1"/>
          </p:cNvSpPr>
          <p:nvPr>
            <p:ph idx="1"/>
          </p:nvPr>
        </p:nvSpPr>
        <p:spPr>
          <a:xfrm>
            <a:off x="311150" y="1123950"/>
            <a:ext cx="11576050" cy="5053013"/>
          </a:xfrm>
        </p:spPr>
        <p:txBody>
          <a:bodyPr>
            <a:normAutofit/>
          </a:bodyPr>
          <a:lstStyle/>
          <a:p>
            <a:pPr marL="514350" indent="-514350">
              <a:buFont typeface="+mj-lt"/>
              <a:buAutoNum type="arabicPeriod"/>
            </a:pPr>
            <a:r>
              <a:rPr lang="ru-RU" sz="2200" b="1" dirty="0">
                <a:solidFill>
                  <a:srgbClr val="111111"/>
                </a:solidFill>
                <a:latin typeface="-apple-system"/>
              </a:rPr>
              <a:t>Обработка запросов: </a:t>
            </a:r>
            <a:r>
              <a:rPr lang="ru-RU" sz="2200" dirty="0">
                <a:solidFill>
                  <a:srgbClr val="111111"/>
                </a:solidFill>
                <a:latin typeface="-apple-system"/>
              </a:rPr>
              <a:t>Бэкенд принимает запросы от клиента (</a:t>
            </a:r>
            <a:r>
              <a:rPr lang="ru-RU" sz="2200" dirty="0" err="1">
                <a:solidFill>
                  <a:srgbClr val="111111"/>
                </a:solidFill>
                <a:latin typeface="-apple-system"/>
              </a:rPr>
              <a:t>фронтенда</a:t>
            </a:r>
            <a:r>
              <a:rPr lang="ru-RU" sz="2200" dirty="0">
                <a:solidFill>
                  <a:srgbClr val="111111"/>
                </a:solidFill>
                <a:latin typeface="-apple-system"/>
              </a:rPr>
              <a:t>) и обрабатывает их в соответствии с заданной бизнес-логикой. Это может включать в себя выполнение математических операций, валидацию данных и взаимодействие с базами данных.</a:t>
            </a:r>
          </a:p>
          <a:p>
            <a:pPr marL="514350" indent="-514350">
              <a:buFont typeface="+mj-lt"/>
              <a:buAutoNum type="arabicPeriod"/>
            </a:pPr>
            <a:r>
              <a:rPr lang="ru-RU" sz="2200" b="1" dirty="0">
                <a:solidFill>
                  <a:srgbClr val="111111"/>
                </a:solidFill>
                <a:latin typeface="-apple-system"/>
              </a:rPr>
              <a:t>Управление данными: </a:t>
            </a:r>
            <a:r>
              <a:rPr lang="ru-RU" sz="2200" dirty="0">
                <a:solidFill>
                  <a:srgbClr val="111111"/>
                </a:solidFill>
                <a:latin typeface="-apple-system"/>
              </a:rPr>
              <a:t>Бэкенд обеспечивает взаимодействие с базами данных, что позволяет хранить, извлекать и изменять данные. Это важный аспект, так как большинство веб-приложений требуют работы с данными пользователей или продуктами.</a:t>
            </a:r>
          </a:p>
          <a:p>
            <a:pPr marL="514350" indent="-514350">
              <a:buFont typeface="+mj-lt"/>
              <a:buAutoNum type="arabicPeriod"/>
            </a:pPr>
            <a:r>
              <a:rPr lang="ru-RU" sz="2200" b="1" dirty="0">
                <a:solidFill>
                  <a:srgbClr val="111111"/>
                </a:solidFill>
                <a:latin typeface="-apple-system"/>
              </a:rPr>
              <a:t>Аутентификация и авторизация: </a:t>
            </a:r>
            <a:r>
              <a:rPr lang="ru-RU" sz="2200" dirty="0">
                <a:solidFill>
                  <a:srgbClr val="111111"/>
                </a:solidFill>
                <a:latin typeface="-apple-system"/>
              </a:rPr>
              <a:t>Бэкенд управляет пользователями и их правами, обеспечивая защиту данных и предотвращая несанкционированный доступ.</a:t>
            </a:r>
          </a:p>
          <a:p>
            <a:pPr marL="514350" indent="-514350">
              <a:buFont typeface="+mj-lt"/>
              <a:buAutoNum type="arabicPeriod"/>
            </a:pPr>
            <a:r>
              <a:rPr lang="ru-RU" sz="2200" b="1" dirty="0">
                <a:solidFill>
                  <a:srgbClr val="111111"/>
                </a:solidFill>
                <a:latin typeface="-apple-system"/>
              </a:rPr>
              <a:t>Интеграция с внешними сервисами</a:t>
            </a:r>
            <a:r>
              <a:rPr lang="ru-RU" sz="2200" dirty="0">
                <a:solidFill>
                  <a:srgbClr val="111111"/>
                </a:solidFill>
                <a:latin typeface="-apple-system"/>
              </a:rPr>
              <a:t>: Бэкенд может взаимодействовать с различными API, позволяя обмениваться данными между разными системами.</a:t>
            </a:r>
          </a:p>
          <a:p>
            <a:pPr marL="514350" indent="-514350">
              <a:buFont typeface="+mj-lt"/>
              <a:buAutoNum type="arabicPeriod"/>
            </a:pPr>
            <a:r>
              <a:rPr lang="ru-RU" sz="2200" b="1" dirty="0">
                <a:solidFill>
                  <a:srgbClr val="111111"/>
                </a:solidFill>
                <a:latin typeface="-apple-system"/>
              </a:rPr>
              <a:t>Отладка и мониторинг: </a:t>
            </a:r>
            <a:r>
              <a:rPr lang="ru-RU" sz="2200" dirty="0">
                <a:solidFill>
                  <a:srgbClr val="111111"/>
                </a:solidFill>
                <a:latin typeface="-apple-system"/>
              </a:rPr>
              <a:t>Современные бэкенды включают инструменты для мониторинга производительности и логирования операций, что помогает разработчикам обнаруживать и устранять проблемы.</a:t>
            </a:r>
          </a:p>
          <a:p>
            <a:endParaRPr lang="ru-RU" sz="2200" dirty="0"/>
          </a:p>
        </p:txBody>
      </p:sp>
      <p:sp>
        <p:nvSpPr>
          <p:cNvPr id="4" name="Заголовок 1">
            <a:extLst>
              <a:ext uri="{FF2B5EF4-FFF2-40B4-BE49-F238E27FC236}">
                <a16:creationId xmlns:a16="http://schemas.microsoft.com/office/drawing/2014/main" id="{7B50D071-F0EE-4A8A-B803-3B82B502FD0C}"/>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600" dirty="0">
                <a:latin typeface="-apple-system"/>
              </a:rPr>
              <a:t>Основные функции бэкенда</a:t>
            </a:r>
          </a:p>
        </p:txBody>
      </p:sp>
    </p:spTree>
    <p:extLst>
      <p:ext uri="{BB962C8B-B14F-4D97-AF65-F5344CB8AC3E}">
        <p14:creationId xmlns:p14="http://schemas.microsoft.com/office/powerpoint/2010/main" val="2383722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152400" y="142875"/>
            <a:ext cx="11811000" cy="6715126"/>
          </a:xfrm>
        </p:spPr>
        <p:txBody>
          <a:bodyPr>
            <a:normAutofit fontScale="25000" lnSpcReduction="20000"/>
          </a:bodyPr>
          <a:lstStyle/>
          <a:p>
            <a:pPr marL="0" indent="0">
              <a:buNone/>
            </a:pPr>
            <a:r>
              <a:rPr lang="ru-RU" sz="8000" b="1" dirty="0">
                <a:solidFill>
                  <a:srgbClr val="111111"/>
                </a:solidFill>
                <a:latin typeface="-apple-system"/>
              </a:rPr>
              <a:t>1. Аутентификация</a:t>
            </a:r>
          </a:p>
          <a:p>
            <a:pPr marL="0" indent="0">
              <a:lnSpc>
                <a:spcPct val="110000"/>
              </a:lnSpc>
              <a:buNone/>
            </a:pPr>
            <a:r>
              <a:rPr lang="ru-RU" sz="8000" dirty="0">
                <a:solidFill>
                  <a:srgbClr val="111111"/>
                </a:solidFill>
                <a:latin typeface="-apple-system"/>
              </a:rPr>
              <a:t>Большинство приложений необходим механизм, позволяющий пользователям регистрироваться, аутентифицироваться и менять свои учётные данные.</a:t>
            </a:r>
          </a:p>
          <a:p>
            <a:pPr marL="0" indent="0">
              <a:lnSpc>
                <a:spcPct val="110000"/>
              </a:lnSpc>
              <a:buNone/>
            </a:pPr>
            <a:r>
              <a:rPr lang="ru-RU" sz="8000" dirty="0">
                <a:solidFill>
                  <a:srgbClr val="111111"/>
                </a:solidFill>
                <a:latin typeface="-apple-system"/>
              </a:rPr>
              <a:t>Можно выделить два основных типа </a:t>
            </a:r>
            <a:r>
              <a:rPr lang="ru-RU" sz="8000" dirty="0">
                <a:solidFill>
                  <a:srgbClr val="111111"/>
                </a:solidFill>
                <a:latin typeface="-apple-system"/>
                <a:hlinkClick r:id="rId2">
                  <a:extLst>
                    <a:ext uri="{A12FA001-AC4F-418D-AE19-62706E023703}">
                      <ahyp:hlinkClr xmlns:ahyp="http://schemas.microsoft.com/office/drawing/2018/hyperlinkcolor" val="tx"/>
                    </a:ext>
                  </a:extLst>
                </a:hlinkClick>
              </a:rPr>
              <a:t>аутентификации</a:t>
            </a:r>
            <a:r>
              <a:rPr lang="ru-RU" sz="8000" dirty="0">
                <a:solidFill>
                  <a:srgbClr val="111111"/>
                </a:solidFill>
                <a:latin typeface="-apple-system"/>
              </a:rPr>
              <a:t>:</a:t>
            </a:r>
          </a:p>
          <a:p>
            <a:pPr>
              <a:lnSpc>
                <a:spcPct val="110000"/>
              </a:lnSpc>
            </a:pPr>
            <a:r>
              <a:rPr lang="ru-RU" sz="8000" b="1" dirty="0">
                <a:solidFill>
                  <a:srgbClr val="111111"/>
                </a:solidFill>
                <a:latin typeface="-apple-system"/>
              </a:rPr>
              <a:t>Запоминающая предыдущее состояние </a:t>
            </a:r>
            <a:r>
              <a:rPr lang="ru-RU" sz="8000" dirty="0">
                <a:solidFill>
                  <a:srgbClr val="111111"/>
                </a:solidFill>
                <a:latin typeface="-apple-system"/>
              </a:rPr>
              <a:t>— реализуется с помощью сессий. Пользователь авторизуется один раз, а затем получает возможность свободно передвигаться по приложению и доступ к защищенным ресурсам (таким, как банковские транзакции или селфи в </a:t>
            </a:r>
            <a:r>
              <a:rPr lang="ru-RU" sz="8000" dirty="0" err="1">
                <a:solidFill>
                  <a:srgbClr val="111111"/>
                </a:solidFill>
                <a:latin typeface="-apple-system"/>
              </a:rPr>
              <a:t>Snapchat</a:t>
            </a:r>
            <a:r>
              <a:rPr lang="ru-RU" sz="8000" dirty="0">
                <a:solidFill>
                  <a:srgbClr val="111111"/>
                </a:solidFill>
                <a:latin typeface="-apple-system"/>
              </a:rPr>
              <a:t>), не отправляя данные, которые подтверждают его вход повторно.</a:t>
            </a:r>
          </a:p>
          <a:p>
            <a:pPr>
              <a:lnSpc>
                <a:spcPct val="110000"/>
              </a:lnSpc>
            </a:pPr>
            <a:r>
              <a:rPr lang="ru-RU" sz="8000" b="1" dirty="0">
                <a:solidFill>
                  <a:srgbClr val="111111"/>
                </a:solidFill>
                <a:latin typeface="-apple-system"/>
              </a:rPr>
              <a:t>Не запоминающая предыдущее состояние </a:t>
            </a:r>
            <a:r>
              <a:rPr lang="ru-RU" sz="8000" dirty="0">
                <a:solidFill>
                  <a:srgbClr val="111111"/>
                </a:solidFill>
                <a:latin typeface="-apple-system"/>
              </a:rPr>
              <a:t>— реализуется с помощью токенов. Пользователи делают все то же самое, но при выполнении каждого HTTP-запроса пользователю нужно отправлять идентификационные данные. Так обычно поступают с REST API. Сейчас золотой стандарт, </a:t>
            </a:r>
            <a:r>
              <a:rPr lang="ru-RU" sz="8000" b="1" dirty="0"/>
              <a:t>JSON </a:t>
            </a:r>
            <a:r>
              <a:rPr lang="ru-RU" sz="8000" b="1" dirty="0" err="1"/>
              <a:t>Web</a:t>
            </a:r>
            <a:r>
              <a:rPr lang="ru-RU" sz="8000" b="1" dirty="0"/>
              <a:t> </a:t>
            </a:r>
            <a:r>
              <a:rPr lang="ru-RU" sz="8000" b="1" dirty="0" err="1"/>
              <a:t>Token</a:t>
            </a:r>
            <a:r>
              <a:rPr lang="ru-RU" sz="8000" b="1" dirty="0"/>
              <a:t> (</a:t>
            </a:r>
            <a:r>
              <a:rPr lang="ru-RU" sz="8000" b="1" dirty="0">
                <a:solidFill>
                  <a:srgbClr val="111111"/>
                </a:solidFill>
                <a:latin typeface="-apple-system"/>
                <a:hlinkClick r:id="rId3">
                  <a:extLst>
                    <a:ext uri="{A12FA001-AC4F-418D-AE19-62706E023703}">
                      <ahyp:hlinkClr xmlns:ahyp="http://schemas.microsoft.com/office/drawing/2018/hyperlinkcolor" val="tx"/>
                    </a:ext>
                  </a:extLst>
                </a:hlinkClick>
              </a:rPr>
              <a:t>JWT</a:t>
            </a:r>
            <a:r>
              <a:rPr lang="ru-RU" sz="8000" b="1" dirty="0">
                <a:solidFill>
                  <a:srgbClr val="111111"/>
                </a:solidFill>
                <a:latin typeface="-apple-system"/>
              </a:rPr>
              <a:t>) </a:t>
            </a:r>
            <a:r>
              <a:rPr lang="ru-RU" sz="8000" dirty="0">
                <a:solidFill>
                  <a:srgbClr val="111111"/>
                </a:solidFill>
                <a:latin typeface="-apple-system"/>
              </a:rPr>
              <a:t>— это специальный формат токена, который позволяет безопасно передавать данные между клиентом и сервером. </a:t>
            </a:r>
          </a:p>
          <a:p>
            <a:pPr marL="0" indent="0">
              <a:lnSpc>
                <a:spcPct val="110000"/>
              </a:lnSpc>
              <a:buNone/>
            </a:pPr>
            <a:r>
              <a:rPr lang="ru-RU" sz="8000" dirty="0">
                <a:solidFill>
                  <a:srgbClr val="111111"/>
                </a:solidFill>
                <a:latin typeface="-apple-system"/>
              </a:rPr>
              <a:t>Есть и более продвинутый сценарий — многофакторная аутентификация. Она повышает безопасность приложения, добавляя дополнительные уровни защиты к логину и паролю. Хорошие примеры реализации есть у </a:t>
            </a:r>
            <a:r>
              <a:rPr lang="ru-RU" sz="8000" dirty="0" err="1">
                <a:solidFill>
                  <a:srgbClr val="111111"/>
                </a:solidFill>
                <a:latin typeface="-apple-system"/>
                <a:hlinkClick r:id="rId4">
                  <a:extLst>
                    <a:ext uri="{A12FA001-AC4F-418D-AE19-62706E023703}">
                      <ahyp:hlinkClr xmlns:ahyp="http://schemas.microsoft.com/office/drawing/2018/hyperlinkcolor" val="tx"/>
                    </a:ext>
                  </a:extLst>
                </a:hlinkClick>
              </a:rPr>
              <a:t>Google</a:t>
            </a:r>
            <a:r>
              <a:rPr lang="ru-RU" sz="8000" dirty="0">
                <a:solidFill>
                  <a:srgbClr val="111111"/>
                </a:solidFill>
                <a:latin typeface="-apple-system"/>
              </a:rPr>
              <a:t> и </a:t>
            </a:r>
            <a:r>
              <a:rPr lang="ru-RU" sz="8000" dirty="0" err="1">
                <a:solidFill>
                  <a:srgbClr val="111111"/>
                </a:solidFill>
                <a:latin typeface="-apple-system"/>
                <a:hlinkClick r:id="rId5">
                  <a:extLst>
                    <a:ext uri="{A12FA001-AC4F-418D-AE19-62706E023703}">
                      <ahyp:hlinkClr xmlns:ahyp="http://schemas.microsoft.com/office/drawing/2018/hyperlinkcolor" val="tx"/>
                    </a:ext>
                  </a:extLst>
                </a:hlinkClick>
              </a:rPr>
              <a:t>Amazon</a:t>
            </a:r>
            <a:r>
              <a:rPr lang="ru-RU" sz="8000" dirty="0">
                <a:solidFill>
                  <a:srgbClr val="111111"/>
                </a:solidFill>
                <a:latin typeface="-apple-system"/>
              </a:rPr>
              <a:t>.</a:t>
            </a:r>
          </a:p>
          <a:p>
            <a:pPr marL="0" indent="0">
              <a:lnSpc>
                <a:spcPct val="110000"/>
              </a:lnSpc>
              <a:buNone/>
            </a:pPr>
            <a:r>
              <a:rPr lang="ru-RU" sz="8000" dirty="0" err="1">
                <a:solidFill>
                  <a:srgbClr val="111111"/>
                </a:solidFill>
                <a:latin typeface="-apple-system"/>
                <a:hlinkClick r:id="rId6">
                  <a:extLst>
                    <a:ext uri="{A12FA001-AC4F-418D-AE19-62706E023703}">
                      <ahyp:hlinkClr xmlns:ahyp="http://schemas.microsoft.com/office/drawing/2018/hyperlinkcolor" val="tx"/>
                    </a:ext>
                  </a:extLst>
                </a:hlinkClick>
              </a:rPr>
              <a:t>OAuth</a:t>
            </a:r>
            <a:r>
              <a:rPr lang="ru-RU" sz="8000" dirty="0">
                <a:solidFill>
                  <a:srgbClr val="111111"/>
                </a:solidFill>
                <a:latin typeface="-apple-system"/>
              </a:rPr>
              <a:t> — другой широко распространенный сценарий. Он дает пользователям вашего приложения возможность зарегистрироваться и войти в него одним кликом, используя аккаунт одной из социальных сетей. Аутентификация происходит за счет того, что пользователи предоставляют вашему приложению некоторые свои данные из социальной сети, но при этом не вводят их вручную.</a:t>
            </a:r>
          </a:p>
          <a:p>
            <a:pPr marL="0" indent="0">
              <a:buNone/>
            </a:pPr>
            <a:r>
              <a:rPr lang="ru-RU" sz="8000" i="1" dirty="0">
                <a:solidFill>
                  <a:srgbClr val="111111"/>
                </a:solidFill>
                <a:latin typeface="-apple-system"/>
                <a:hlinkClick r:id="rId7">
                  <a:extLst>
                    <a:ext uri="{A12FA001-AC4F-418D-AE19-62706E023703}">
                      <ahyp:hlinkClr xmlns:ahyp="http://schemas.microsoft.com/office/drawing/2018/hyperlinkcolor" val="tx"/>
                    </a:ext>
                  </a:extLst>
                </a:hlinkClick>
              </a:rPr>
              <a:t>*Разъясняющая статья</a:t>
            </a:r>
            <a:r>
              <a:rPr lang="ru-RU" sz="8000" i="1" dirty="0">
                <a:solidFill>
                  <a:srgbClr val="111111"/>
                </a:solidFill>
                <a:latin typeface="-apple-system"/>
              </a:rPr>
              <a:t> про двухфакторную аутентификацию и протокол FIDO U2F.</a:t>
            </a:r>
          </a:p>
          <a:p>
            <a:endParaRPr lang="ru-RU" dirty="0"/>
          </a:p>
        </p:txBody>
      </p:sp>
    </p:spTree>
    <p:extLst>
      <p:ext uri="{BB962C8B-B14F-4D97-AF65-F5344CB8AC3E}">
        <p14:creationId xmlns:p14="http://schemas.microsoft.com/office/powerpoint/2010/main" val="2158750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247650" y="171450"/>
            <a:ext cx="11734800" cy="6686550"/>
          </a:xfrm>
        </p:spPr>
        <p:txBody>
          <a:bodyPr>
            <a:normAutofit fontScale="77500" lnSpcReduction="20000"/>
          </a:bodyPr>
          <a:lstStyle/>
          <a:p>
            <a:pPr marL="0" indent="0">
              <a:lnSpc>
                <a:spcPct val="110000"/>
              </a:lnSpc>
              <a:buNone/>
            </a:pPr>
            <a:r>
              <a:rPr lang="ru-RU" sz="2900" b="1" dirty="0">
                <a:solidFill>
                  <a:srgbClr val="111111"/>
                </a:solidFill>
                <a:latin typeface="-apple-system"/>
              </a:rPr>
              <a:t>2. Роли, разрешения и контроль доступа</a:t>
            </a:r>
          </a:p>
          <a:p>
            <a:pPr marL="0" indent="0">
              <a:lnSpc>
                <a:spcPct val="110000"/>
              </a:lnSpc>
              <a:buNone/>
            </a:pPr>
            <a:r>
              <a:rPr lang="ru-RU" sz="2900" dirty="0">
                <a:solidFill>
                  <a:srgbClr val="111111"/>
                </a:solidFill>
                <a:latin typeface="-apple-system"/>
              </a:rPr>
              <a:t>Многие путают авторизацию с аутентификацией, не понимая, что это разные понятия.</a:t>
            </a:r>
            <a:r>
              <a:rPr lang="ru-RU" sz="2900" b="1" dirty="0">
                <a:solidFill>
                  <a:srgbClr val="111111"/>
                </a:solidFill>
                <a:latin typeface="-apple-system"/>
              </a:rPr>
              <a:t> </a:t>
            </a:r>
            <a:r>
              <a:rPr lang="ru-RU" sz="2900" b="1" dirty="0">
                <a:solidFill>
                  <a:srgbClr val="111111"/>
                </a:solidFill>
                <a:latin typeface="-apple-system"/>
                <a:hlinkClick r:id="rId2">
                  <a:extLst>
                    <a:ext uri="{A12FA001-AC4F-418D-AE19-62706E023703}">
                      <ahyp:hlinkClr xmlns:ahyp="http://schemas.microsoft.com/office/drawing/2018/hyperlinkcolor" val="tx"/>
                    </a:ext>
                  </a:extLst>
                </a:hlinkClick>
              </a:rPr>
              <a:t>Аутентификация</a:t>
            </a:r>
            <a:r>
              <a:rPr lang="ru-RU" sz="2900" b="1" dirty="0">
                <a:solidFill>
                  <a:srgbClr val="111111"/>
                </a:solidFill>
                <a:latin typeface="-apple-system"/>
              </a:rPr>
              <a:t> </a:t>
            </a:r>
            <a:r>
              <a:rPr lang="ru-RU" sz="2900" dirty="0">
                <a:solidFill>
                  <a:srgbClr val="111111"/>
                </a:solidFill>
                <a:latin typeface="-apple-system"/>
              </a:rPr>
              <a:t>определяет то, как пользователь входит в приложение. </a:t>
            </a:r>
            <a:r>
              <a:rPr lang="ru-RU" sz="2900" b="1" dirty="0">
                <a:solidFill>
                  <a:srgbClr val="111111"/>
                </a:solidFill>
                <a:latin typeface="-apple-system"/>
                <a:hlinkClick r:id="rId3">
                  <a:extLst>
                    <a:ext uri="{A12FA001-AC4F-418D-AE19-62706E023703}">
                      <ahyp:hlinkClr xmlns:ahyp="http://schemas.microsoft.com/office/drawing/2018/hyperlinkcolor" val="tx"/>
                    </a:ext>
                  </a:extLst>
                </a:hlinkClick>
              </a:rPr>
              <a:t>Авторизация</a:t>
            </a:r>
            <a:r>
              <a:rPr lang="ru-RU" sz="2900" dirty="0">
                <a:solidFill>
                  <a:srgbClr val="111111"/>
                </a:solidFill>
                <a:latin typeface="-apple-system"/>
              </a:rPr>
              <a:t> же определяет то, что пользователь имеет право делать после входа.</a:t>
            </a:r>
          </a:p>
          <a:p>
            <a:pPr marL="0" indent="0">
              <a:lnSpc>
                <a:spcPct val="110000"/>
              </a:lnSpc>
              <a:buNone/>
            </a:pPr>
            <a:r>
              <a:rPr lang="ru-RU" sz="2900" dirty="0">
                <a:solidFill>
                  <a:srgbClr val="111111"/>
                </a:solidFill>
                <a:latin typeface="-apple-system"/>
              </a:rPr>
              <a:t>Смысл слоя, отвечающего за </a:t>
            </a:r>
            <a:r>
              <a:rPr lang="ru-RU" sz="2900" b="1" dirty="0">
                <a:solidFill>
                  <a:srgbClr val="111111"/>
                </a:solidFill>
                <a:latin typeface="-apple-system"/>
              </a:rPr>
              <a:t>авторизацию</a:t>
            </a:r>
            <a:r>
              <a:rPr lang="ru-RU" sz="2900" dirty="0">
                <a:solidFill>
                  <a:srgbClr val="111111"/>
                </a:solidFill>
                <a:latin typeface="-apple-system"/>
              </a:rPr>
              <a:t>, — это выдача разрешений, поддержание безопасности личной информации, отказ в доступе к конкретным действиям и, где требуется, аннулирование привилегий, чтобы одни пользователи не пробирались в аккаунты других и не смотрели их личные фотографии. Логика разрешений проста:</a:t>
            </a:r>
          </a:p>
          <a:p>
            <a:pPr marL="457200" lvl="1" indent="0">
              <a:lnSpc>
                <a:spcPct val="110000"/>
              </a:lnSpc>
              <a:buNone/>
            </a:pPr>
            <a:r>
              <a:rPr lang="ru-RU" sz="2600" dirty="0">
                <a:solidFill>
                  <a:srgbClr val="111111"/>
                </a:solidFill>
                <a:latin typeface="-apple-system"/>
              </a:rPr>
              <a:t>Пользователь x может сделать действие y с объектом z.</a:t>
            </a:r>
          </a:p>
          <a:p>
            <a:pPr marL="457200" lvl="1" indent="0">
              <a:lnSpc>
                <a:spcPct val="110000"/>
              </a:lnSpc>
              <a:buNone/>
            </a:pPr>
            <a:r>
              <a:rPr lang="ru-RU" sz="2600" dirty="0">
                <a:solidFill>
                  <a:srgbClr val="111111"/>
                </a:solidFill>
                <a:latin typeface="-apple-system"/>
              </a:rPr>
              <a:t>Применим это в конкретной ситуации: Шэрон — редактор и может редактировать посты. Тогда надо определить:</a:t>
            </a:r>
          </a:p>
          <a:p>
            <a:pPr lvl="1">
              <a:lnSpc>
                <a:spcPct val="110000"/>
              </a:lnSpc>
            </a:pPr>
            <a:r>
              <a:rPr lang="ru-RU" sz="2600" dirty="0">
                <a:solidFill>
                  <a:srgbClr val="111111"/>
                </a:solidFill>
                <a:latin typeface="-apple-system"/>
              </a:rPr>
              <a:t>роль Шэрон — редактор;</a:t>
            </a:r>
          </a:p>
          <a:p>
            <a:pPr lvl="1">
              <a:lnSpc>
                <a:spcPct val="110000"/>
              </a:lnSpc>
            </a:pPr>
            <a:r>
              <a:rPr lang="ru-RU" sz="2600" dirty="0">
                <a:solidFill>
                  <a:srgbClr val="111111"/>
                </a:solidFill>
                <a:latin typeface="-apple-system"/>
              </a:rPr>
              <a:t>ее действие — редактирование;</a:t>
            </a:r>
          </a:p>
          <a:p>
            <a:pPr lvl="1">
              <a:lnSpc>
                <a:spcPct val="110000"/>
              </a:lnSpc>
            </a:pPr>
            <a:r>
              <a:rPr lang="ru-RU" sz="2600" dirty="0">
                <a:solidFill>
                  <a:srgbClr val="111111"/>
                </a:solidFill>
                <a:latin typeface="-apple-system"/>
              </a:rPr>
              <a:t>объекты, с которыми она может это делать, — посты.</a:t>
            </a:r>
          </a:p>
          <a:p>
            <a:pPr marL="0" indent="0">
              <a:lnSpc>
                <a:spcPct val="110000"/>
              </a:lnSpc>
              <a:buNone/>
            </a:pPr>
            <a:r>
              <a:rPr lang="ru-RU" sz="2900" dirty="0">
                <a:solidFill>
                  <a:srgbClr val="111111"/>
                </a:solidFill>
                <a:latin typeface="-apple-system"/>
              </a:rPr>
              <a:t>Как это работает? Просто: булевы переменные. Вы возвращаете </a:t>
            </a:r>
            <a:r>
              <a:rPr lang="ru-RU" sz="2900" dirty="0" err="1">
                <a:solidFill>
                  <a:srgbClr val="111111"/>
                </a:solidFill>
                <a:latin typeface="-apple-system"/>
              </a:rPr>
              <a:t>True</a:t>
            </a:r>
            <a:r>
              <a:rPr lang="ru-RU" sz="2900" dirty="0">
                <a:solidFill>
                  <a:srgbClr val="111111"/>
                </a:solidFill>
                <a:latin typeface="-apple-system"/>
              </a:rPr>
              <a:t>/</a:t>
            </a:r>
            <a:r>
              <a:rPr lang="ru-RU" sz="2900" dirty="0" err="1">
                <a:solidFill>
                  <a:srgbClr val="111111"/>
                </a:solidFill>
                <a:latin typeface="-apple-system"/>
              </a:rPr>
              <a:t>False</a:t>
            </a:r>
            <a:r>
              <a:rPr lang="ru-RU" sz="2900" dirty="0">
                <a:solidFill>
                  <a:srgbClr val="111111"/>
                </a:solidFill>
                <a:latin typeface="-apple-system"/>
              </a:rPr>
              <a:t> в зависимости от того, что и кому разрешено делать с конкретным объектом. Итак, может ли Шэрон редактировать какой-то конкретный пост? Вернуть </a:t>
            </a:r>
            <a:r>
              <a:rPr lang="ru-RU" sz="2900" dirty="0" err="1">
                <a:solidFill>
                  <a:srgbClr val="111111"/>
                </a:solidFill>
                <a:latin typeface="-apple-system"/>
              </a:rPr>
              <a:t>True</a:t>
            </a:r>
            <a:r>
              <a:rPr lang="ru-RU" sz="2900" dirty="0">
                <a:solidFill>
                  <a:srgbClr val="111111"/>
                </a:solidFill>
                <a:latin typeface="-apple-system"/>
              </a:rPr>
              <a:t>, если она редактор, вернуть </a:t>
            </a:r>
            <a:r>
              <a:rPr lang="ru-RU" sz="2900" dirty="0" err="1">
                <a:solidFill>
                  <a:srgbClr val="111111"/>
                </a:solidFill>
                <a:latin typeface="-apple-system"/>
              </a:rPr>
              <a:t>False</a:t>
            </a:r>
            <a:r>
              <a:rPr lang="ru-RU" sz="2900" dirty="0">
                <a:solidFill>
                  <a:srgbClr val="111111"/>
                </a:solidFill>
                <a:latin typeface="-apple-system"/>
              </a:rPr>
              <a:t> и закрыть доступ к посту, если нет.</a:t>
            </a:r>
          </a:p>
          <a:p>
            <a:endParaRPr lang="ru-RU" dirty="0"/>
          </a:p>
        </p:txBody>
      </p:sp>
    </p:spTree>
    <p:extLst>
      <p:ext uri="{BB962C8B-B14F-4D97-AF65-F5344CB8AC3E}">
        <p14:creationId xmlns:p14="http://schemas.microsoft.com/office/powerpoint/2010/main" val="514722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190500" y="219074"/>
            <a:ext cx="11734800" cy="6115051"/>
          </a:xfrm>
        </p:spPr>
        <p:txBody>
          <a:bodyPr>
            <a:normAutofit/>
          </a:bodyPr>
          <a:lstStyle/>
          <a:p>
            <a:pPr marL="0" indent="0">
              <a:buNone/>
            </a:pPr>
            <a:r>
              <a:rPr lang="ru-RU" sz="2000" b="1" dirty="0">
                <a:solidFill>
                  <a:srgbClr val="111111"/>
                </a:solidFill>
                <a:latin typeface="-apple-system"/>
              </a:rPr>
              <a:t>3. CRUD — </a:t>
            </a:r>
            <a:r>
              <a:rPr lang="ru-RU" sz="2000" b="1" dirty="0" err="1">
                <a:solidFill>
                  <a:srgbClr val="111111"/>
                </a:solidFill>
                <a:latin typeface="-apple-system"/>
              </a:rPr>
              <a:t>Create</a:t>
            </a:r>
            <a:r>
              <a:rPr lang="ru-RU" sz="2000" b="1" dirty="0">
                <a:solidFill>
                  <a:srgbClr val="111111"/>
                </a:solidFill>
                <a:latin typeface="-apple-system"/>
              </a:rPr>
              <a:t>, </a:t>
            </a:r>
            <a:r>
              <a:rPr lang="ru-RU" sz="2000" b="1" dirty="0" err="1">
                <a:solidFill>
                  <a:srgbClr val="111111"/>
                </a:solidFill>
                <a:latin typeface="-apple-system"/>
              </a:rPr>
              <a:t>Read</a:t>
            </a:r>
            <a:r>
              <a:rPr lang="ru-RU" sz="2000" b="1" dirty="0">
                <a:solidFill>
                  <a:srgbClr val="111111"/>
                </a:solidFill>
                <a:latin typeface="-apple-system"/>
              </a:rPr>
              <a:t>, </a:t>
            </a:r>
            <a:r>
              <a:rPr lang="ru-RU" sz="2000" b="1" dirty="0" err="1">
                <a:solidFill>
                  <a:srgbClr val="111111"/>
                </a:solidFill>
                <a:latin typeface="-apple-system"/>
              </a:rPr>
              <a:t>Update</a:t>
            </a:r>
            <a:r>
              <a:rPr lang="ru-RU" sz="2000" b="1" dirty="0">
                <a:solidFill>
                  <a:srgbClr val="111111"/>
                </a:solidFill>
                <a:latin typeface="-apple-system"/>
              </a:rPr>
              <a:t>, </a:t>
            </a:r>
            <a:r>
              <a:rPr lang="ru-RU" sz="2000" b="1" dirty="0" err="1">
                <a:solidFill>
                  <a:srgbClr val="111111"/>
                </a:solidFill>
                <a:latin typeface="-apple-system"/>
              </a:rPr>
              <a:t>Delete</a:t>
            </a:r>
            <a:endParaRPr lang="ru-RU" sz="2000" b="1" dirty="0">
              <a:solidFill>
                <a:srgbClr val="111111"/>
              </a:solidFill>
              <a:latin typeface="-apple-system"/>
            </a:endParaRPr>
          </a:p>
          <a:p>
            <a:pPr marL="0" indent="0">
              <a:buNone/>
            </a:pPr>
            <a:r>
              <a:rPr lang="ru-RU" sz="2000" dirty="0">
                <a:solidFill>
                  <a:srgbClr val="111111"/>
                </a:solidFill>
                <a:latin typeface="-apple-system"/>
              </a:rPr>
              <a:t>Вы не можете создавать пользователей или выдавать разрешения, не зная, как работать с ресурсами: создавать, читать, редактировать и удалять их. Это значит, что надо научиться управлять ресурсами приложения, и чаще всего для этого используют базы данных.</a:t>
            </a:r>
          </a:p>
          <a:p>
            <a:pPr marL="0" indent="0">
              <a:buNone/>
            </a:pPr>
            <a:r>
              <a:rPr lang="ru-RU" sz="2000" dirty="0">
                <a:solidFill>
                  <a:srgbClr val="111111"/>
                </a:solidFill>
                <a:latin typeface="-apple-system"/>
              </a:rPr>
              <a:t>Но что такое ресурс? Если вы создаете книжный магазин, то книги — это ресурсы. Если вы создаете группу, она сама и есть ресурс и ее участники тоже ресурсы. А также каждая запись или аккаунт, который они используют. Например, это может быть официальное письмо к правительству, открытка или фильм, который они пытаются купить.</a:t>
            </a:r>
          </a:p>
          <a:p>
            <a:pPr marL="0" indent="0">
              <a:buNone/>
            </a:pPr>
            <a:r>
              <a:rPr lang="ru-RU" sz="2000" dirty="0">
                <a:solidFill>
                  <a:srgbClr val="111111"/>
                </a:solidFill>
                <a:latin typeface="-apple-system"/>
              </a:rPr>
              <a:t>Здесь и появляется модель структуры ваших данных. Вам нужно будет понимать, как решить следующие задачи:</a:t>
            </a:r>
          </a:p>
          <a:p>
            <a:r>
              <a:rPr lang="ru-RU" sz="2000" dirty="0">
                <a:solidFill>
                  <a:srgbClr val="111111"/>
                </a:solidFill>
                <a:latin typeface="-apple-system"/>
              </a:rPr>
              <a:t>как создавать новые данные;</a:t>
            </a:r>
          </a:p>
          <a:p>
            <a:r>
              <a:rPr lang="ru-RU" sz="2000" dirty="0">
                <a:solidFill>
                  <a:srgbClr val="111111"/>
                </a:solidFill>
                <a:latin typeface="-apple-system"/>
              </a:rPr>
              <a:t>как их редактировать;</a:t>
            </a:r>
          </a:p>
          <a:p>
            <a:r>
              <a:rPr lang="ru-RU" sz="2000" dirty="0">
                <a:solidFill>
                  <a:srgbClr val="111111"/>
                </a:solidFill>
                <a:latin typeface="-apple-system"/>
              </a:rPr>
              <a:t>как их обновлять и удалять.</a:t>
            </a:r>
          </a:p>
          <a:p>
            <a:pPr marL="0" indent="0">
              <a:buNone/>
            </a:pPr>
            <a:r>
              <a:rPr lang="ru-RU" altLang="ru-RU" sz="2000" dirty="0">
                <a:solidFill>
                  <a:srgbClr val="111111"/>
                </a:solidFill>
                <a:latin typeface="-apple-system"/>
              </a:rPr>
              <a:t>Ресурсы редко существуют в изоляции. Чаще всего они связаны какими-то отношениями или ассоциациями с другими ресурсами. </a:t>
            </a:r>
          </a:p>
          <a:p>
            <a:pPr marL="0" indent="0">
              <a:buNone/>
            </a:pPr>
            <a:r>
              <a:rPr lang="ru-RU" sz="2000" dirty="0">
                <a:solidFill>
                  <a:srgbClr val="111111"/>
                </a:solidFill>
                <a:latin typeface="-apple-system"/>
              </a:rPr>
              <a:t>Заметьте, что для задач CRUD вам также нужно будет научиться проверять входящие данные и сверяться с разрешениями, прежде чем вы сделаете что-то с этими данными.</a:t>
            </a:r>
          </a:p>
        </p:txBody>
      </p:sp>
    </p:spTree>
    <p:extLst>
      <p:ext uri="{BB962C8B-B14F-4D97-AF65-F5344CB8AC3E}">
        <p14:creationId xmlns:p14="http://schemas.microsoft.com/office/powerpoint/2010/main" val="590291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133350" y="295274"/>
            <a:ext cx="11772900" cy="6353175"/>
          </a:xfrm>
        </p:spPr>
        <p:txBody>
          <a:bodyPr>
            <a:normAutofit fontScale="92500" lnSpcReduction="10000"/>
          </a:bodyPr>
          <a:lstStyle/>
          <a:p>
            <a:pPr marL="0" indent="0">
              <a:buNone/>
            </a:pPr>
            <a:r>
              <a:rPr lang="en-US" sz="2200" b="1" dirty="0">
                <a:solidFill>
                  <a:srgbClr val="111111"/>
                </a:solidFill>
                <a:latin typeface="-apple-system"/>
              </a:rPr>
              <a:t>4</a:t>
            </a:r>
            <a:r>
              <a:rPr lang="ru-RU" sz="2200" b="1" dirty="0">
                <a:solidFill>
                  <a:srgbClr val="111111"/>
                </a:solidFill>
                <a:latin typeface="-apple-system"/>
              </a:rPr>
              <a:t>. API</a:t>
            </a:r>
          </a:p>
          <a:p>
            <a:pPr marL="0" indent="0">
              <a:lnSpc>
                <a:spcPct val="110000"/>
              </a:lnSpc>
              <a:buNone/>
            </a:pPr>
            <a:r>
              <a:rPr lang="ru-RU" sz="2200" dirty="0">
                <a:solidFill>
                  <a:srgbClr val="111111"/>
                </a:solidFill>
                <a:latin typeface="-apple-system"/>
              </a:rPr>
              <a:t>Чтобы ваше приложение стало по-настоящему популярным, вам надо начать делиться данными с другими приложениями. Например, вы — музыкальная компания, и вы хотите, чтобы стриминговые сервисы типа </a:t>
            </a:r>
            <a:r>
              <a:rPr lang="ru-RU" sz="2200" dirty="0" err="1">
                <a:solidFill>
                  <a:srgbClr val="111111"/>
                </a:solidFill>
                <a:latin typeface="-apple-system"/>
              </a:rPr>
              <a:t>SoundCloud</a:t>
            </a:r>
            <a:r>
              <a:rPr lang="ru-RU" sz="2200" dirty="0">
                <a:solidFill>
                  <a:srgbClr val="111111"/>
                </a:solidFill>
                <a:latin typeface="-apple-system"/>
              </a:rPr>
              <a:t> поставляли ваш контент, а пользователи могли покупать вашу музыку напрямую из их приложения. Здесь и нужен API.</a:t>
            </a:r>
          </a:p>
          <a:p>
            <a:pPr marL="0" indent="0">
              <a:lnSpc>
                <a:spcPct val="110000"/>
              </a:lnSpc>
              <a:buNone/>
            </a:pPr>
            <a:r>
              <a:rPr lang="ru-RU" sz="2200" dirty="0">
                <a:solidFill>
                  <a:srgbClr val="111111"/>
                </a:solidFill>
                <a:latin typeface="-apple-system"/>
              </a:rPr>
              <a:t>Термин </a:t>
            </a:r>
            <a:r>
              <a:rPr lang="ru-RU" sz="2200" dirty="0">
                <a:solidFill>
                  <a:srgbClr val="111111"/>
                </a:solidFill>
                <a:latin typeface="-apple-system"/>
                <a:hlinkClick r:id="rId2">
                  <a:extLst>
                    <a:ext uri="{A12FA001-AC4F-418D-AE19-62706E023703}">
                      <ahyp:hlinkClr xmlns:ahyp="http://schemas.microsoft.com/office/drawing/2018/hyperlinkcolor" val="tx"/>
                    </a:ext>
                  </a:extLst>
                </a:hlinkClick>
              </a:rPr>
              <a:t>API</a:t>
            </a:r>
            <a:r>
              <a:rPr lang="ru-RU" sz="2200" dirty="0">
                <a:solidFill>
                  <a:srgbClr val="111111"/>
                </a:solidFill>
                <a:latin typeface="-apple-system"/>
              </a:rPr>
              <a:t> — аббревиатура от </a:t>
            </a:r>
            <a:r>
              <a:rPr lang="ru-RU" sz="2200" dirty="0" err="1">
                <a:solidFill>
                  <a:srgbClr val="111111"/>
                </a:solidFill>
                <a:latin typeface="-apple-system"/>
              </a:rPr>
              <a:t>Application</a:t>
            </a:r>
            <a:r>
              <a:rPr lang="ru-RU" sz="2200" dirty="0">
                <a:solidFill>
                  <a:srgbClr val="111111"/>
                </a:solidFill>
                <a:latin typeface="-apple-system"/>
              </a:rPr>
              <a:t> </a:t>
            </a:r>
            <a:r>
              <a:rPr lang="ru-RU" sz="2200" dirty="0" err="1">
                <a:solidFill>
                  <a:srgbClr val="111111"/>
                </a:solidFill>
                <a:latin typeface="-apple-system"/>
              </a:rPr>
              <a:t>Programming</a:t>
            </a:r>
            <a:r>
              <a:rPr lang="ru-RU" sz="2200" dirty="0">
                <a:solidFill>
                  <a:srgbClr val="111111"/>
                </a:solidFill>
                <a:latin typeface="-apple-system"/>
              </a:rPr>
              <a:t> </a:t>
            </a:r>
            <a:r>
              <a:rPr lang="ru-RU" sz="2200" dirty="0" err="1">
                <a:solidFill>
                  <a:srgbClr val="111111"/>
                </a:solidFill>
                <a:latin typeface="-apple-system"/>
              </a:rPr>
              <a:t>Interface</a:t>
            </a:r>
            <a:r>
              <a:rPr lang="ru-RU" sz="2200" dirty="0">
                <a:solidFill>
                  <a:srgbClr val="111111"/>
                </a:solidFill>
                <a:latin typeface="-apple-system"/>
              </a:rPr>
              <a:t> (интерфейс программирования приложений) — применяется к инфраструктуре, которая позволяет другим приложениям взаимодействовать с вашим.</a:t>
            </a:r>
          </a:p>
          <a:p>
            <a:pPr marL="0" indent="0">
              <a:lnSpc>
                <a:spcPct val="110000"/>
              </a:lnSpc>
              <a:buNone/>
            </a:pPr>
            <a:r>
              <a:rPr lang="ru-RU" sz="2200" dirty="0">
                <a:solidFill>
                  <a:srgbClr val="111111"/>
                </a:solidFill>
                <a:latin typeface="-apple-system"/>
              </a:rPr>
              <a:t>Основные этапы написания API:</a:t>
            </a:r>
          </a:p>
          <a:p>
            <a:pPr>
              <a:lnSpc>
                <a:spcPct val="110000"/>
              </a:lnSpc>
            </a:pPr>
            <a:r>
              <a:rPr lang="ru-RU" sz="2200" dirty="0">
                <a:solidFill>
                  <a:srgbClr val="111111"/>
                </a:solidFill>
                <a:latin typeface="-apple-system"/>
              </a:rPr>
              <a:t>Создать API-сервер. Этап подразумевает обеспечение защищенного доступа к ресурсам, которые вы хотите передавать клиентам. Если у вас книжный магазин, то ваш API будет предоставлять названия книг, цены и информацию об издателе другим сайтам и перекупщикам.</a:t>
            </a:r>
          </a:p>
          <a:p>
            <a:pPr>
              <a:lnSpc>
                <a:spcPct val="110000"/>
              </a:lnSpc>
            </a:pPr>
            <a:r>
              <a:rPr lang="ru-RU" sz="2200" dirty="0">
                <a:solidFill>
                  <a:srgbClr val="111111"/>
                </a:solidFill>
                <a:latin typeface="-apple-system"/>
              </a:rPr>
              <a:t>Защитить сервер, используя идентификаторы приложений и секретные ключи.</a:t>
            </a:r>
          </a:p>
          <a:p>
            <a:pPr>
              <a:lnSpc>
                <a:spcPct val="110000"/>
              </a:lnSpc>
            </a:pPr>
            <a:r>
              <a:rPr lang="ru-RU" sz="2200" dirty="0">
                <a:solidFill>
                  <a:srgbClr val="111111"/>
                </a:solidFill>
                <a:latin typeface="-apple-system"/>
              </a:rPr>
              <a:t>Сделать понятную интерактивную документацию, которая позволит другим разработчикам просматривать ее и взаимодействовать между собой и с вами.</a:t>
            </a:r>
          </a:p>
          <a:p>
            <a:pPr marL="0" indent="0">
              <a:lnSpc>
                <a:spcPct val="110000"/>
              </a:lnSpc>
              <a:buNone/>
            </a:pPr>
            <a:r>
              <a:rPr lang="ru-RU" sz="2200" dirty="0" err="1">
                <a:solidFill>
                  <a:srgbClr val="111111"/>
                </a:solidFill>
                <a:latin typeface="-apple-system"/>
              </a:rPr>
              <a:t>Ruby</a:t>
            </a:r>
            <a:r>
              <a:rPr lang="ru-RU" sz="2200" dirty="0">
                <a:solidFill>
                  <a:srgbClr val="111111"/>
                </a:solidFill>
                <a:latin typeface="-apple-system"/>
              </a:rPr>
              <a:t>, </a:t>
            </a:r>
            <a:r>
              <a:rPr lang="ru-RU" sz="2200" dirty="0" err="1">
                <a:solidFill>
                  <a:srgbClr val="111111"/>
                </a:solidFill>
                <a:latin typeface="-apple-system"/>
              </a:rPr>
              <a:t>Elixir</a:t>
            </a:r>
            <a:r>
              <a:rPr lang="ru-RU" sz="2200" dirty="0">
                <a:solidFill>
                  <a:srgbClr val="111111"/>
                </a:solidFill>
                <a:latin typeface="-apple-system"/>
              </a:rPr>
              <a:t>, PHP и </a:t>
            </a:r>
            <a:r>
              <a:rPr lang="ru-RU" sz="2200" dirty="0" err="1">
                <a:solidFill>
                  <a:srgbClr val="111111"/>
                </a:solidFill>
                <a:latin typeface="-apple-system"/>
              </a:rPr>
              <a:t>JavaScript</a:t>
            </a:r>
            <a:r>
              <a:rPr lang="ru-RU" sz="2200" dirty="0">
                <a:solidFill>
                  <a:srgbClr val="111111"/>
                </a:solidFill>
                <a:latin typeface="-apple-system"/>
              </a:rPr>
              <a:t> уже имеют тысячи пакетов, которые могут быть настроены и применены к вашему приложению. </a:t>
            </a:r>
          </a:p>
          <a:p>
            <a:endParaRPr lang="ru-RU" dirty="0"/>
          </a:p>
        </p:txBody>
      </p:sp>
    </p:spTree>
    <p:extLst>
      <p:ext uri="{BB962C8B-B14F-4D97-AF65-F5344CB8AC3E}">
        <p14:creationId xmlns:p14="http://schemas.microsoft.com/office/powerpoint/2010/main" val="3015285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219075" y="0"/>
            <a:ext cx="11810999" cy="6858000"/>
          </a:xfrm>
        </p:spPr>
        <p:txBody>
          <a:bodyPr>
            <a:normAutofit/>
          </a:bodyPr>
          <a:lstStyle/>
          <a:p>
            <a:pPr marL="0" indent="0">
              <a:buNone/>
            </a:pPr>
            <a:r>
              <a:rPr lang="en-US" sz="2000" b="1" dirty="0">
                <a:solidFill>
                  <a:srgbClr val="111111"/>
                </a:solidFill>
                <a:latin typeface="-apple-system"/>
              </a:rPr>
              <a:t>5</a:t>
            </a:r>
            <a:r>
              <a:rPr lang="ru-RU" sz="2000" b="1" dirty="0">
                <a:solidFill>
                  <a:srgbClr val="111111"/>
                </a:solidFill>
                <a:latin typeface="-apple-system"/>
              </a:rPr>
              <a:t>. REST</a:t>
            </a:r>
          </a:p>
          <a:p>
            <a:pPr marL="0" indent="0">
              <a:buNone/>
            </a:pPr>
            <a:r>
              <a:rPr lang="ru-RU" sz="2000" dirty="0">
                <a:solidFill>
                  <a:srgbClr val="111111"/>
                </a:solidFill>
                <a:latin typeface="-apple-system"/>
              </a:rPr>
              <a:t>Чтобы обеспечить управление ресурсами в вашем приложении (такими, как книги или аккаунты), нужно реализовать программный слой, принимающий запросы и формирующий ответы. Здесь вам доведется поработать с маршрутами (</a:t>
            </a:r>
            <a:r>
              <a:rPr lang="ru-RU" sz="2000" dirty="0" err="1">
                <a:solidFill>
                  <a:srgbClr val="111111"/>
                </a:solidFill>
                <a:latin typeface="-apple-system"/>
              </a:rPr>
              <a:t>routes</a:t>
            </a:r>
            <a:r>
              <a:rPr lang="ru-RU" sz="2000" dirty="0">
                <a:solidFill>
                  <a:srgbClr val="111111"/>
                </a:solidFill>
                <a:latin typeface="-apple-system"/>
              </a:rPr>
              <a:t>) и контроллерами (</a:t>
            </a:r>
            <a:r>
              <a:rPr lang="ru-RU" sz="2000" dirty="0" err="1">
                <a:solidFill>
                  <a:srgbClr val="111111"/>
                </a:solidFill>
                <a:latin typeface="-apple-system"/>
              </a:rPr>
              <a:t>controllers</a:t>
            </a:r>
            <a:r>
              <a:rPr lang="ru-RU" sz="2000" dirty="0">
                <a:solidFill>
                  <a:srgbClr val="111111"/>
                </a:solidFill>
                <a:latin typeface="-apple-system"/>
              </a:rPr>
              <a:t>). Они обеспечивают соблюдение ограничений, накладываемых </a:t>
            </a:r>
            <a:r>
              <a:rPr lang="ru-RU" sz="2000" dirty="0">
                <a:solidFill>
                  <a:srgbClr val="111111"/>
                </a:solidFill>
                <a:latin typeface="-apple-system"/>
                <a:hlinkClick r:id="rId2">
                  <a:extLst>
                    <a:ext uri="{A12FA001-AC4F-418D-AE19-62706E023703}">
                      <ahyp:hlinkClr xmlns:ahyp="http://schemas.microsoft.com/office/drawing/2018/hyperlinkcolor" val="tx"/>
                    </a:ext>
                  </a:extLst>
                </a:hlinkClick>
              </a:rPr>
              <a:t>REST</a:t>
            </a:r>
            <a:r>
              <a:rPr lang="ru-RU" sz="2000" dirty="0">
                <a:solidFill>
                  <a:srgbClr val="111111"/>
                </a:solidFill>
                <a:latin typeface="-apple-system"/>
              </a:rPr>
              <a:t> — стилем архитектуры программного обеспечения для распределенных систем.</a:t>
            </a:r>
            <a:r>
              <a:rPr lang="en-US" sz="2000" dirty="0">
                <a:solidFill>
                  <a:srgbClr val="111111"/>
                </a:solidFill>
                <a:latin typeface="-apple-system"/>
              </a:rPr>
              <a:t> </a:t>
            </a:r>
            <a:r>
              <a:rPr lang="ru-RU" sz="2000" dirty="0">
                <a:solidFill>
                  <a:srgbClr val="111111"/>
                </a:solidFill>
                <a:latin typeface="-apple-system"/>
              </a:rPr>
              <a:t>По сути, REST — это набор правил и принципов. Всего их шесть:</a:t>
            </a:r>
          </a:p>
          <a:p>
            <a:pPr fontAlgn="base"/>
            <a:r>
              <a:rPr lang="ru-RU" sz="2000" b="1" dirty="0">
                <a:solidFill>
                  <a:srgbClr val="111111"/>
                </a:solidFill>
                <a:latin typeface="-apple-system"/>
              </a:rPr>
              <a:t>Клиент-серверная архитектура. </a:t>
            </a:r>
            <a:r>
              <a:rPr lang="ru-RU" sz="2000" dirty="0">
                <a:solidFill>
                  <a:srgbClr val="111111"/>
                </a:solidFill>
                <a:latin typeface="-apple-system"/>
              </a:rPr>
              <a:t>Вычислительная или сетевая архитектура, в которой задания или сетевая нагрузка распределены между поставщиками услуг, называемыми </a:t>
            </a:r>
            <a:r>
              <a:rPr lang="ru-RU" sz="2000" b="1" dirty="0">
                <a:solidFill>
                  <a:srgbClr val="111111"/>
                </a:solidFill>
                <a:latin typeface="-apple-system"/>
              </a:rPr>
              <a:t>серверами</a:t>
            </a:r>
            <a:r>
              <a:rPr lang="ru-RU" sz="2000" dirty="0">
                <a:solidFill>
                  <a:srgbClr val="111111"/>
                </a:solidFill>
                <a:latin typeface="-apple-system"/>
              </a:rPr>
              <a:t>, и заказчиками услуг, называемыми </a:t>
            </a:r>
            <a:r>
              <a:rPr lang="ru-RU" sz="2000" b="1" dirty="0">
                <a:solidFill>
                  <a:srgbClr val="111111"/>
                </a:solidFill>
                <a:latin typeface="-apple-system"/>
              </a:rPr>
              <a:t>клиентами</a:t>
            </a:r>
            <a:r>
              <a:rPr lang="ru-RU" sz="2000" dirty="0">
                <a:solidFill>
                  <a:srgbClr val="111111"/>
                </a:solidFill>
                <a:latin typeface="-apple-system"/>
              </a:rPr>
              <a:t>. Фактически клиент и сервер — это программное обеспечение. </a:t>
            </a:r>
          </a:p>
          <a:p>
            <a:pPr marL="0" indent="0" fontAlgn="base">
              <a:buNone/>
            </a:pPr>
            <a:r>
              <a:rPr lang="ru-RU" sz="2000" dirty="0">
                <a:solidFill>
                  <a:srgbClr val="111111"/>
                </a:solidFill>
                <a:latin typeface="-apple-system"/>
              </a:rPr>
              <a:t>Эти программы расположены на разных вычислительных машинах и взаимодействуют между собой через сеть посредством сетевых протоколов. </a:t>
            </a:r>
            <a:r>
              <a:rPr lang="ru-RU" sz="2000" b="1" dirty="0">
                <a:solidFill>
                  <a:srgbClr val="111111"/>
                </a:solidFill>
                <a:latin typeface="-apple-system"/>
              </a:rPr>
              <a:t>Программы-серверы</a:t>
            </a:r>
            <a:r>
              <a:rPr lang="ru-RU" sz="2000" dirty="0">
                <a:solidFill>
                  <a:srgbClr val="111111"/>
                </a:solidFill>
                <a:latin typeface="-apple-system"/>
              </a:rPr>
              <a:t> ожидают от </a:t>
            </a:r>
            <a:r>
              <a:rPr lang="ru-RU" sz="2000" b="1" dirty="0">
                <a:solidFill>
                  <a:srgbClr val="111111"/>
                </a:solidFill>
                <a:latin typeface="-apple-system"/>
              </a:rPr>
              <a:t>клиентских программ </a:t>
            </a:r>
            <a:r>
              <a:rPr lang="ru-RU" sz="2000" dirty="0">
                <a:solidFill>
                  <a:srgbClr val="111111"/>
                </a:solidFill>
                <a:latin typeface="-apple-system"/>
              </a:rPr>
              <a:t>запросы и предоставляют им свои ресурсы в виде данных (например, передача файлов посредством HTTP, потоковое мультимедиа или работа с базами данных) или в виде сервисных функций (например, работа с электронной почтой или просмотр </a:t>
            </a:r>
            <a:r>
              <a:rPr lang="ru-RU" sz="2000" dirty="0" err="1">
                <a:solidFill>
                  <a:srgbClr val="111111"/>
                </a:solidFill>
                <a:latin typeface="-apple-system"/>
              </a:rPr>
              <a:t>web</a:t>
            </a:r>
            <a:r>
              <a:rPr lang="ru-RU" sz="2000" dirty="0">
                <a:solidFill>
                  <a:srgbClr val="111111"/>
                </a:solidFill>
                <a:latin typeface="-apple-system"/>
              </a:rPr>
              <a:t>-страниц во всемирной паутине</a:t>
            </a:r>
            <a:r>
              <a:rPr lang="en-US" sz="2000" dirty="0">
                <a:solidFill>
                  <a:srgbClr val="111111"/>
                </a:solidFill>
                <a:latin typeface="-apple-system"/>
              </a:rPr>
              <a:t>)</a:t>
            </a:r>
            <a:r>
              <a:rPr lang="ru-RU" sz="2000" dirty="0">
                <a:solidFill>
                  <a:srgbClr val="111111"/>
                </a:solidFill>
                <a:latin typeface="-apple-system"/>
              </a:rPr>
              <a:t>. </a:t>
            </a:r>
          </a:p>
          <a:p>
            <a:pPr marL="0" indent="0">
              <a:buNone/>
            </a:pPr>
            <a:r>
              <a:rPr lang="ru-RU" sz="2000" dirty="0">
                <a:solidFill>
                  <a:srgbClr val="111111"/>
                </a:solidFill>
                <a:latin typeface="-apple-system"/>
              </a:rPr>
              <a:t>Одна </a:t>
            </a:r>
            <a:r>
              <a:rPr lang="ru-RU" sz="2000" b="1" dirty="0">
                <a:solidFill>
                  <a:srgbClr val="111111"/>
                </a:solidFill>
                <a:latin typeface="-apple-system"/>
              </a:rPr>
              <a:t>программа-сервер</a:t>
            </a:r>
            <a:r>
              <a:rPr lang="ru-RU" sz="2000" dirty="0">
                <a:solidFill>
                  <a:srgbClr val="111111"/>
                </a:solidFill>
                <a:latin typeface="-apple-system"/>
              </a:rPr>
              <a:t> может выполнять запросы от множества </a:t>
            </a:r>
            <a:r>
              <a:rPr lang="ru-RU" sz="2000" b="1" dirty="0">
                <a:solidFill>
                  <a:srgbClr val="111111"/>
                </a:solidFill>
                <a:latin typeface="-apple-system"/>
              </a:rPr>
              <a:t>программ-клиентов</a:t>
            </a:r>
            <a:r>
              <a:rPr lang="ru-RU" sz="2000" dirty="0">
                <a:solidFill>
                  <a:srgbClr val="111111"/>
                </a:solidFill>
                <a:latin typeface="-apple-system"/>
              </a:rPr>
              <a:t>, её размещают на специально выделенной вычислительной машине, настроенной особым образом, как правило, совместно с другими программами-серверами, поэтому производительность этой машины должна быть высокой. </a:t>
            </a:r>
          </a:p>
          <a:p>
            <a:pPr marL="0" indent="0">
              <a:buNone/>
            </a:pPr>
            <a:r>
              <a:rPr lang="ru-RU" sz="2000" dirty="0">
                <a:solidFill>
                  <a:srgbClr val="111111"/>
                </a:solidFill>
                <a:latin typeface="-apple-system"/>
              </a:rPr>
              <a:t>Клиент – это браузер, но встречаются и исключения (в тех случаях, когда один веб-сервер выполняет запрос к другому, роль клиента играет веб-сервер. В классической ситуации для того, чтобы пользователь увидел графический интерфейс приложения в окне браузера, последний должен обработать полученный ответ веб-сервера, в котором будет содержаться информация, реализованная с применением HTML, CSS, JS. </a:t>
            </a:r>
          </a:p>
        </p:txBody>
      </p:sp>
    </p:spTree>
    <p:extLst>
      <p:ext uri="{BB962C8B-B14F-4D97-AF65-F5344CB8AC3E}">
        <p14:creationId xmlns:p14="http://schemas.microsoft.com/office/powerpoint/2010/main" val="3516174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219076" y="257176"/>
            <a:ext cx="11506200" cy="6600824"/>
          </a:xfrm>
        </p:spPr>
        <p:txBody>
          <a:bodyPr>
            <a:normAutofit/>
          </a:bodyPr>
          <a:lstStyle/>
          <a:p>
            <a:pPr fontAlgn="base"/>
            <a:r>
              <a:rPr lang="ru-RU" sz="2000" b="1" dirty="0">
                <a:solidFill>
                  <a:srgbClr val="111111"/>
                </a:solidFill>
                <a:latin typeface="-apple-system"/>
              </a:rPr>
              <a:t>Отсутствие состояния (</a:t>
            </a:r>
            <a:r>
              <a:rPr lang="ru-RU" sz="2000" b="1" dirty="0" err="1">
                <a:solidFill>
                  <a:srgbClr val="111111"/>
                </a:solidFill>
                <a:latin typeface="-apple-system"/>
              </a:rPr>
              <a:t>statelessness</a:t>
            </a:r>
            <a:r>
              <a:rPr lang="ru-RU" sz="2000" b="1" dirty="0">
                <a:solidFill>
                  <a:srgbClr val="111111"/>
                </a:solidFill>
                <a:latin typeface="-apple-system"/>
              </a:rPr>
              <a:t>). </a:t>
            </a:r>
            <a:r>
              <a:rPr lang="ru-RU" sz="2000" dirty="0">
                <a:solidFill>
                  <a:srgbClr val="111111"/>
                </a:solidFill>
                <a:latin typeface="-apple-system"/>
              </a:rPr>
              <a:t>Сервер не хранит данные о предыдущих взаимодействиях с клиентом — каждый запрос от клиента к серверу должен быть самодостаточным. При таком подходе нагрузка на сервер снижается в несколько раз — ему не нужно держать в памяти каждую сессию обмена данными с клиентом.</a:t>
            </a:r>
          </a:p>
          <a:p>
            <a:pPr fontAlgn="base"/>
            <a:r>
              <a:rPr lang="ru-RU" sz="2000" b="1" dirty="0" err="1">
                <a:solidFill>
                  <a:srgbClr val="111111"/>
                </a:solidFill>
                <a:latin typeface="-apple-system"/>
              </a:rPr>
              <a:t>Кэшируемость</a:t>
            </a:r>
            <a:r>
              <a:rPr lang="ru-RU" sz="2000" b="1" dirty="0">
                <a:solidFill>
                  <a:srgbClr val="111111"/>
                </a:solidFill>
                <a:latin typeface="-apple-system"/>
              </a:rPr>
              <a:t> (</a:t>
            </a:r>
            <a:r>
              <a:rPr lang="ru-RU" sz="2000" b="1" dirty="0" err="1">
                <a:solidFill>
                  <a:srgbClr val="111111"/>
                </a:solidFill>
                <a:latin typeface="-apple-system"/>
              </a:rPr>
              <a:t>cacheability</a:t>
            </a:r>
            <a:r>
              <a:rPr lang="ru-RU" sz="2000" b="1" dirty="0">
                <a:solidFill>
                  <a:srgbClr val="111111"/>
                </a:solidFill>
                <a:latin typeface="-apple-system"/>
              </a:rPr>
              <a:t>). </a:t>
            </a:r>
            <a:r>
              <a:rPr lang="ru-RU" sz="2000" dirty="0">
                <a:solidFill>
                  <a:srgbClr val="111111"/>
                </a:solidFill>
                <a:latin typeface="-apple-system"/>
              </a:rPr>
              <a:t>Благодаря </a:t>
            </a:r>
            <a:r>
              <a:rPr lang="ru-RU" sz="2000" dirty="0" err="1">
                <a:solidFill>
                  <a:srgbClr val="111111"/>
                </a:solidFill>
                <a:latin typeface="-apple-system"/>
              </a:rPr>
              <a:t>кэшируемости</a:t>
            </a:r>
            <a:r>
              <a:rPr lang="ru-RU" sz="2000" dirty="0">
                <a:solidFill>
                  <a:srgbClr val="111111"/>
                </a:solidFill>
                <a:latin typeface="-apple-system"/>
              </a:rPr>
              <a:t> клиент может сохранять ответы API для повторного использования без выполнения запроса. Это снижает задержку и нагрузку на сервер. Ответы REST API также должны указывать, могут ли они быть кэшированы клиентом.</a:t>
            </a:r>
          </a:p>
          <a:p>
            <a:pPr fontAlgn="base"/>
            <a:r>
              <a:rPr lang="ru-RU" sz="2000" b="1" dirty="0">
                <a:solidFill>
                  <a:srgbClr val="111111"/>
                </a:solidFill>
                <a:latin typeface="-apple-system"/>
              </a:rPr>
              <a:t>Единообразие интерфейса (</a:t>
            </a:r>
            <a:r>
              <a:rPr lang="ru-RU" sz="2000" b="1" dirty="0" err="1">
                <a:solidFill>
                  <a:srgbClr val="111111"/>
                </a:solidFill>
                <a:latin typeface="-apple-system"/>
              </a:rPr>
              <a:t>uniform</a:t>
            </a:r>
            <a:r>
              <a:rPr lang="ru-RU" sz="2000" b="1" dirty="0">
                <a:solidFill>
                  <a:srgbClr val="111111"/>
                </a:solidFill>
                <a:latin typeface="-apple-system"/>
              </a:rPr>
              <a:t> </a:t>
            </a:r>
            <a:r>
              <a:rPr lang="ru-RU" sz="2000" b="1" dirty="0" err="1">
                <a:solidFill>
                  <a:srgbClr val="111111"/>
                </a:solidFill>
                <a:latin typeface="-apple-system"/>
              </a:rPr>
              <a:t>interface</a:t>
            </a:r>
            <a:r>
              <a:rPr lang="ru-RU" sz="2000" b="1" dirty="0">
                <a:solidFill>
                  <a:srgbClr val="111111"/>
                </a:solidFill>
                <a:latin typeface="-apple-system"/>
              </a:rPr>
              <a:t>). </a:t>
            </a:r>
            <a:r>
              <a:rPr lang="ru-RU" sz="2000" dirty="0">
                <a:solidFill>
                  <a:srgbClr val="111111"/>
                </a:solidFill>
                <a:latin typeface="-apple-system"/>
              </a:rPr>
              <a:t>REST API должны работать через единообразный интерфейс, который упрощает взаимодействие между клиентами и серверами. В REST API это стандартные методы HTTP (GET, POST, PUT, DELETE), а также чёткие соглашения об именовании ресурсов.</a:t>
            </a:r>
          </a:p>
          <a:p>
            <a:pPr fontAlgn="base">
              <a:lnSpc>
                <a:spcPct val="100000"/>
              </a:lnSpc>
            </a:pPr>
            <a:r>
              <a:rPr lang="ru-RU" sz="2000" b="1" dirty="0">
                <a:solidFill>
                  <a:srgbClr val="111111"/>
                </a:solidFill>
                <a:latin typeface="-apple-system"/>
              </a:rPr>
              <a:t>Слои (</a:t>
            </a:r>
            <a:r>
              <a:rPr lang="ru-RU" sz="2000" b="1" dirty="0" err="1">
                <a:solidFill>
                  <a:srgbClr val="111111"/>
                </a:solidFill>
                <a:latin typeface="-apple-system"/>
              </a:rPr>
              <a:t>layered</a:t>
            </a:r>
            <a:r>
              <a:rPr lang="ru-RU" sz="2000" b="1" dirty="0">
                <a:solidFill>
                  <a:srgbClr val="111111"/>
                </a:solidFill>
                <a:latin typeface="-apple-system"/>
              </a:rPr>
              <a:t> </a:t>
            </a:r>
            <a:r>
              <a:rPr lang="ru-RU" sz="2000" b="1" dirty="0" err="1">
                <a:solidFill>
                  <a:srgbClr val="111111"/>
                </a:solidFill>
                <a:latin typeface="-apple-system"/>
              </a:rPr>
              <a:t>system</a:t>
            </a:r>
            <a:r>
              <a:rPr lang="ru-RU" sz="2000" b="1" dirty="0">
                <a:solidFill>
                  <a:srgbClr val="111111"/>
                </a:solidFill>
                <a:latin typeface="-apple-system"/>
              </a:rPr>
              <a:t>). </a:t>
            </a:r>
            <a:r>
              <a:rPr lang="ru-RU" sz="2000" dirty="0">
                <a:solidFill>
                  <a:srgbClr val="111111"/>
                </a:solidFill>
                <a:latin typeface="-apple-system"/>
              </a:rPr>
              <a:t>Архитектура REST API — это настоящий слоёный пирог, который состоит из серверов, прокси, шлюзов, балансировщиков нагрузки и массы других вспомогательных систем. Поэтому клиенты никогда не знают точно, общаются они напрямую с сервером или с его «дублёром».</a:t>
            </a:r>
          </a:p>
          <a:p>
            <a:pPr fontAlgn="base">
              <a:lnSpc>
                <a:spcPct val="100000"/>
              </a:lnSpc>
            </a:pPr>
            <a:r>
              <a:rPr lang="ru-RU" sz="2000" b="1" dirty="0">
                <a:solidFill>
                  <a:srgbClr val="111111"/>
                </a:solidFill>
                <a:latin typeface="-apple-system"/>
              </a:rPr>
              <a:t>Код по требованию (</a:t>
            </a:r>
            <a:r>
              <a:rPr lang="ru-RU" sz="2000" b="1" dirty="0" err="1">
                <a:solidFill>
                  <a:srgbClr val="111111"/>
                </a:solidFill>
                <a:latin typeface="-apple-system"/>
              </a:rPr>
              <a:t>code</a:t>
            </a:r>
            <a:r>
              <a:rPr lang="ru-RU" sz="2000" b="1" dirty="0">
                <a:solidFill>
                  <a:srgbClr val="111111"/>
                </a:solidFill>
                <a:latin typeface="-apple-system"/>
              </a:rPr>
              <a:t> </a:t>
            </a:r>
            <a:r>
              <a:rPr lang="ru-RU" sz="2000" b="1" dirty="0" err="1">
                <a:solidFill>
                  <a:srgbClr val="111111"/>
                </a:solidFill>
                <a:latin typeface="-apple-system"/>
              </a:rPr>
              <a:t>on</a:t>
            </a:r>
            <a:r>
              <a:rPr lang="ru-RU" sz="2000" b="1" dirty="0">
                <a:solidFill>
                  <a:srgbClr val="111111"/>
                </a:solidFill>
                <a:latin typeface="-apple-system"/>
              </a:rPr>
              <a:t> </a:t>
            </a:r>
            <a:r>
              <a:rPr lang="ru-RU" sz="2000" b="1" dirty="0" err="1">
                <a:solidFill>
                  <a:srgbClr val="111111"/>
                </a:solidFill>
                <a:latin typeface="-apple-system"/>
              </a:rPr>
              <a:t>demand</a:t>
            </a:r>
            <a:r>
              <a:rPr lang="ru-RU" sz="2000" b="1" dirty="0">
                <a:solidFill>
                  <a:srgbClr val="111111"/>
                </a:solidFill>
                <a:latin typeface="-apple-system"/>
              </a:rPr>
              <a:t>) </a:t>
            </a:r>
            <a:r>
              <a:rPr lang="ru-RU" sz="2000" dirty="0">
                <a:solidFill>
                  <a:srgbClr val="111111"/>
                </a:solidFill>
                <a:latin typeface="-apple-system"/>
              </a:rPr>
              <a:t>— необязательный принцип. Сервер может отправлять код, который будет выполняться уже на стороне клиента, — например, это может быть код JS-скриптов и других интерактивных элементов интерфейса.</a:t>
            </a:r>
          </a:p>
          <a:p>
            <a:pPr marL="0" indent="0">
              <a:buNone/>
            </a:pPr>
            <a:r>
              <a:rPr lang="ru-RU" sz="2000" dirty="0">
                <a:solidFill>
                  <a:srgbClr val="111111"/>
                </a:solidFill>
                <a:latin typeface="-apple-system"/>
              </a:rPr>
              <a:t>Вы можете разработать отвечающую на запросы систему, создав API с учетом REST. Такой API называется </a:t>
            </a:r>
            <a:r>
              <a:rPr lang="ru-RU" sz="2000" dirty="0" err="1">
                <a:solidFill>
                  <a:srgbClr val="111111"/>
                </a:solidFill>
                <a:latin typeface="-apple-system"/>
              </a:rPr>
              <a:t>RESTful</a:t>
            </a:r>
            <a:r>
              <a:rPr lang="ru-RU" sz="2000" dirty="0">
                <a:solidFill>
                  <a:srgbClr val="111111"/>
                </a:solidFill>
                <a:latin typeface="-apple-system"/>
              </a:rPr>
              <a:t>, читайте подробнее о нем в </a:t>
            </a:r>
            <a:r>
              <a:rPr lang="ru-RU" sz="2000" dirty="0">
                <a:solidFill>
                  <a:srgbClr val="111111"/>
                </a:solidFill>
                <a:latin typeface="-apple-system"/>
                <a:hlinkClick r:id="rId2">
                  <a:extLst>
                    <a:ext uri="{A12FA001-AC4F-418D-AE19-62706E023703}">
                      <ahyp:hlinkClr xmlns:ahyp="http://schemas.microsoft.com/office/drawing/2018/hyperlinkcolor" val="tx"/>
                    </a:ext>
                  </a:extLst>
                </a:hlinkClick>
              </a:rPr>
              <a:t>подробной статье</a:t>
            </a:r>
            <a:r>
              <a:rPr lang="ru-RU" sz="2000" dirty="0">
                <a:solidFill>
                  <a:srgbClr val="111111"/>
                </a:solidFill>
                <a:latin typeface="-apple-system"/>
              </a:rPr>
              <a:t>.</a:t>
            </a:r>
          </a:p>
        </p:txBody>
      </p:sp>
    </p:spTree>
    <p:extLst>
      <p:ext uri="{BB962C8B-B14F-4D97-AF65-F5344CB8AC3E}">
        <p14:creationId xmlns:p14="http://schemas.microsoft.com/office/powerpoint/2010/main" val="3811216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7" name="Объект 6">
            <a:extLst>
              <a:ext uri="{FF2B5EF4-FFF2-40B4-BE49-F238E27FC236}">
                <a16:creationId xmlns:a16="http://schemas.microsoft.com/office/drawing/2014/main" id="{619EA213-3637-449E-B89B-73A773A93DD9}"/>
              </a:ext>
            </a:extLst>
          </p:cNvPr>
          <p:cNvSpPr>
            <a:spLocks noGrp="1"/>
          </p:cNvSpPr>
          <p:nvPr>
            <p:ph idx="1"/>
          </p:nvPr>
        </p:nvSpPr>
        <p:spPr>
          <a:xfrm>
            <a:off x="209549" y="247650"/>
            <a:ext cx="11782425" cy="5929313"/>
          </a:xfrm>
        </p:spPr>
        <p:txBody>
          <a:bodyPr>
            <a:normAutofit fontScale="85000" lnSpcReduction="10000"/>
          </a:bodyPr>
          <a:lstStyle/>
          <a:p>
            <a:pPr marL="0" indent="0">
              <a:buNone/>
            </a:pPr>
            <a:r>
              <a:rPr lang="ru-RU" b="1" dirty="0"/>
              <a:t>6. Кэширование</a:t>
            </a:r>
          </a:p>
          <a:p>
            <a:pPr marL="0" indent="0">
              <a:buNone/>
            </a:pPr>
            <a:r>
              <a:rPr lang="ru-RU" sz="2600" dirty="0">
                <a:solidFill>
                  <a:srgbClr val="111111"/>
                </a:solidFill>
                <a:latin typeface="-apple-system"/>
              </a:rPr>
              <a:t>Красивый и удобный </a:t>
            </a:r>
            <a:r>
              <a:rPr lang="ru-RU" sz="2600" dirty="0" err="1">
                <a:solidFill>
                  <a:srgbClr val="111111"/>
                </a:solidFill>
                <a:latin typeface="-apple-system"/>
              </a:rPr>
              <a:t>фронтенд</a:t>
            </a:r>
            <a:r>
              <a:rPr lang="ru-RU" sz="2600" dirty="0">
                <a:solidFill>
                  <a:srgbClr val="111111"/>
                </a:solidFill>
                <a:latin typeface="-apple-system"/>
              </a:rPr>
              <a:t> часто состоит из сложные многоуровневых данных, отображение которых может быть медленным и </a:t>
            </a:r>
            <a:r>
              <a:rPr lang="ru-RU" sz="2600" dirty="0" err="1">
                <a:solidFill>
                  <a:srgbClr val="111111"/>
                </a:solidFill>
                <a:latin typeface="-apple-system"/>
              </a:rPr>
              <a:t>ресурсозатратным</a:t>
            </a:r>
            <a:r>
              <a:rPr lang="ru-RU" sz="2600" dirty="0">
                <a:solidFill>
                  <a:srgbClr val="111111"/>
                </a:solidFill>
                <a:latin typeface="-apple-system"/>
              </a:rPr>
              <a:t>. Без кэширования ваша база данных будет вынуждена многократно выполнять почти одинаковые запросы, что приведет к ее перегрузкам.</a:t>
            </a:r>
          </a:p>
          <a:p>
            <a:pPr marL="0" indent="0">
              <a:buNone/>
            </a:pPr>
            <a:r>
              <a:rPr lang="ru-RU" sz="2600" dirty="0">
                <a:solidFill>
                  <a:srgbClr val="111111"/>
                </a:solidFill>
                <a:latin typeface="-apple-system"/>
              </a:rPr>
              <a:t>Представьте промежуточный слой в </a:t>
            </a:r>
            <a:r>
              <a:rPr lang="ru-RU" sz="2600" dirty="0" err="1">
                <a:solidFill>
                  <a:srgbClr val="111111"/>
                </a:solidFill>
                <a:latin typeface="-apple-system"/>
              </a:rPr>
              <a:t>стэке</a:t>
            </a:r>
            <a:r>
              <a:rPr lang="ru-RU" sz="2600" dirty="0">
                <a:solidFill>
                  <a:srgbClr val="111111"/>
                </a:solidFill>
                <a:latin typeface="-apple-system"/>
              </a:rPr>
              <a:t> вашего приложения, который хранит статические данные и предоставляет их по запросу, не обращаясь к базе данных. Это и есть кэш.</a:t>
            </a:r>
          </a:p>
          <a:p>
            <a:pPr marL="0" indent="0">
              <a:buNone/>
            </a:pPr>
            <a:r>
              <a:rPr lang="ru-RU" sz="2600" dirty="0">
                <a:solidFill>
                  <a:srgbClr val="111111"/>
                </a:solidFill>
                <a:latin typeface="-apple-system"/>
              </a:rPr>
              <a:t>Как работает кэширование в веб-приложениях? Можно выделить следующие типы механизмов:</a:t>
            </a:r>
          </a:p>
          <a:p>
            <a:r>
              <a:rPr lang="ru-RU" sz="2600" dirty="0">
                <a:solidFill>
                  <a:srgbClr val="111111"/>
                </a:solidFill>
                <a:latin typeface="-apple-system"/>
              </a:rPr>
              <a:t>кэширование контента. Если контент веб-страницы не изменяется постоянно, то нет нужды каждый раз заново его генерировать. Целая HTML-страница может быть сохранена в кэше;</a:t>
            </a:r>
          </a:p>
          <a:p>
            <a:r>
              <a:rPr lang="ru-RU" sz="2600" dirty="0">
                <a:solidFill>
                  <a:srgbClr val="111111"/>
                </a:solidFill>
                <a:latin typeface="-apple-system"/>
              </a:rPr>
              <a:t>кэширование фрагментов. Иногда целая страница не может быть </a:t>
            </a:r>
            <a:r>
              <a:rPr lang="ru-RU" sz="2600" dirty="0" err="1">
                <a:solidFill>
                  <a:srgbClr val="111111"/>
                </a:solidFill>
                <a:latin typeface="-apple-system"/>
              </a:rPr>
              <a:t>закэширована</a:t>
            </a:r>
            <a:r>
              <a:rPr lang="ru-RU" sz="2600" dirty="0">
                <a:solidFill>
                  <a:srgbClr val="111111"/>
                </a:solidFill>
                <a:latin typeface="-apple-system"/>
              </a:rPr>
              <a:t>, потому что на ней есть контент, который постоянно изменяется, но есть и части, которые изменяются медленно. HTML для этих статичных частей генерируется только при первом запросе, а при повторных извлекается из кэша;</a:t>
            </a:r>
          </a:p>
          <a:p>
            <a:r>
              <a:rPr lang="ru-RU" sz="2600" dirty="0">
                <a:solidFill>
                  <a:srgbClr val="111111"/>
                </a:solidFill>
                <a:latin typeface="-apple-system"/>
              </a:rPr>
              <a:t>кэширование данных. Часто в основе веб-приложения лежит база данных, но каждый раз извлекать из нее информацию достаточно накладно, поэтому часто используемые данные кэшируются в памяти приложения или в других хранилищах, например, </a:t>
            </a:r>
            <a:r>
              <a:rPr lang="ru-RU" sz="2600" dirty="0" err="1">
                <a:solidFill>
                  <a:srgbClr val="111111"/>
                </a:solidFill>
                <a:latin typeface="-apple-system"/>
              </a:rPr>
              <a:t>Redis</a:t>
            </a:r>
            <a:r>
              <a:rPr lang="ru-RU" sz="2600" dirty="0">
                <a:solidFill>
                  <a:srgbClr val="111111"/>
                </a:solidFill>
                <a:latin typeface="-apple-system"/>
              </a:rPr>
              <a:t>, </a:t>
            </a:r>
            <a:r>
              <a:rPr lang="ru-RU" sz="2600" dirty="0" err="1">
                <a:solidFill>
                  <a:srgbClr val="111111"/>
                </a:solidFill>
                <a:latin typeface="-apple-system"/>
              </a:rPr>
              <a:t>Varnish</a:t>
            </a:r>
            <a:r>
              <a:rPr lang="ru-RU" sz="2600" dirty="0">
                <a:solidFill>
                  <a:srgbClr val="111111"/>
                </a:solidFill>
                <a:latin typeface="-apple-system"/>
              </a:rPr>
              <a:t> и </a:t>
            </a:r>
            <a:r>
              <a:rPr lang="ru-RU" sz="2600" dirty="0" err="1">
                <a:solidFill>
                  <a:srgbClr val="111111"/>
                </a:solidFill>
                <a:latin typeface="-apple-system"/>
              </a:rPr>
              <a:t>Memcached</a:t>
            </a:r>
            <a:r>
              <a:rPr lang="ru-RU" sz="2600" dirty="0">
                <a:solidFill>
                  <a:srgbClr val="111111"/>
                </a:solidFill>
                <a:latin typeface="-apple-system"/>
              </a:rPr>
              <a:t>.</a:t>
            </a:r>
          </a:p>
          <a:p>
            <a:endParaRPr lang="ru-RU" dirty="0"/>
          </a:p>
        </p:txBody>
      </p:sp>
    </p:spTree>
    <p:extLst>
      <p:ext uri="{BB962C8B-B14F-4D97-AF65-F5344CB8AC3E}">
        <p14:creationId xmlns:p14="http://schemas.microsoft.com/office/powerpoint/2010/main" val="1848008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51F200E5-B913-4D9A-BBA1-411A4F8C194E}"/>
              </a:ext>
            </a:extLst>
          </p:cNvPr>
          <p:cNvPicPr>
            <a:picLocks noChangeAspect="1"/>
          </p:cNvPicPr>
          <p:nvPr/>
        </p:nvPicPr>
        <p:blipFill>
          <a:blip r:embed="rId2"/>
          <a:stretch>
            <a:fillRect/>
          </a:stretch>
        </p:blipFill>
        <p:spPr>
          <a:xfrm>
            <a:off x="0" y="692750"/>
            <a:ext cx="12192000" cy="5472500"/>
          </a:xfrm>
          <a:prstGeom prst="rect">
            <a:avLst/>
          </a:prstGeom>
        </p:spPr>
      </p:pic>
    </p:spTree>
    <p:extLst>
      <p:ext uri="{BB962C8B-B14F-4D97-AF65-F5344CB8AC3E}">
        <p14:creationId xmlns:p14="http://schemas.microsoft.com/office/powerpoint/2010/main" val="2301592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3" name="Объект 2">
            <a:extLst>
              <a:ext uri="{FF2B5EF4-FFF2-40B4-BE49-F238E27FC236}">
                <a16:creationId xmlns:a16="http://schemas.microsoft.com/office/drawing/2014/main" id="{124CB9EA-F669-47AC-B901-F56351E603B7}"/>
              </a:ext>
            </a:extLst>
          </p:cNvPr>
          <p:cNvSpPr>
            <a:spLocks noGrp="1"/>
          </p:cNvSpPr>
          <p:nvPr>
            <p:ph idx="1"/>
          </p:nvPr>
        </p:nvSpPr>
        <p:spPr>
          <a:xfrm>
            <a:off x="311150" y="922020"/>
            <a:ext cx="11576050" cy="5828030"/>
          </a:xfrm>
        </p:spPr>
        <p:txBody>
          <a:bodyPr>
            <a:noAutofit/>
          </a:bodyPr>
          <a:lstStyle/>
          <a:p>
            <a:pPr>
              <a:lnSpc>
                <a:spcPct val="110000"/>
              </a:lnSpc>
            </a:pPr>
            <a:r>
              <a:rPr lang="ru-RU" sz="2200" b="1" dirty="0">
                <a:solidFill>
                  <a:srgbClr val="111111"/>
                </a:solidFill>
                <a:latin typeface="-apple-system"/>
              </a:rPr>
              <a:t>Автономный </a:t>
            </a:r>
            <a:r>
              <a:rPr lang="ru-RU" sz="2200" b="1" dirty="0" err="1">
                <a:solidFill>
                  <a:srgbClr val="111111"/>
                </a:solidFill>
                <a:latin typeface="-apple-system"/>
              </a:rPr>
              <a:t>фронтенд</a:t>
            </a:r>
            <a:endParaRPr lang="ru-RU" sz="2200" b="1" dirty="0">
              <a:solidFill>
                <a:srgbClr val="111111"/>
              </a:solidFill>
              <a:latin typeface="-apple-system"/>
            </a:endParaRPr>
          </a:p>
          <a:p>
            <a:pPr marL="0" indent="0">
              <a:buNone/>
            </a:pPr>
            <a:r>
              <a:rPr lang="ru-RU" sz="2200" dirty="0"/>
              <a:t>Веб-приложениям, которые вы собираетесь создавать, подключение к Сети будет требоваться всё меньше и меньше.</a:t>
            </a:r>
          </a:p>
          <a:p>
            <a:pPr marL="0" indent="0">
              <a:buNone/>
            </a:pPr>
            <a:r>
              <a:rPr lang="ru-RU" sz="2200" dirty="0"/>
              <a:t>Прогрессивные веб-приложения загружаются лишь один раз и работают (почти) всегда. Вы можете хранить базу данных в браузере. В некоторых случаях вашим приложениям нужен бэкенд только при первой загрузке, а затем лишь для синхронизации / защиты данных. Такой уровень постоянства означает, что большая часть логики приложения находится непосредственно в клиенте.</a:t>
            </a:r>
          </a:p>
          <a:p>
            <a:pPr>
              <a:lnSpc>
                <a:spcPct val="110000"/>
              </a:lnSpc>
            </a:pPr>
            <a:r>
              <a:rPr lang="ru-RU" sz="2200" b="1" dirty="0">
                <a:solidFill>
                  <a:srgbClr val="111111"/>
                </a:solidFill>
                <a:latin typeface="-apple-system"/>
              </a:rPr>
              <a:t>Легкий бэкенд</a:t>
            </a:r>
          </a:p>
          <a:p>
            <a:pPr marL="0" indent="0">
              <a:buNone/>
            </a:pPr>
            <a:r>
              <a:rPr lang="ru-RU" sz="2200" dirty="0"/>
              <a:t>Бэкенд, в свою очередь, становится легче и легче. Такие технологии, как хранилища документов и </a:t>
            </a:r>
            <a:r>
              <a:rPr lang="ru-RU" sz="2200" dirty="0" err="1"/>
              <a:t>графовые</a:t>
            </a:r>
            <a:r>
              <a:rPr lang="ru-RU" sz="2200" dirty="0"/>
              <a:t> базы данных, приводят к сокращению количества обращений к бэкенду для повторного агрегирования данных. Задача клиента — уточнить, какие данные ему нужны (базы данных графов), или извлечь все различные фрагменты данных, которые ему нужны (REST API).</a:t>
            </a:r>
          </a:p>
          <a:p>
            <a:pPr marL="0" indent="0">
              <a:buNone/>
            </a:pPr>
            <a:r>
              <a:rPr lang="ru-RU" sz="2200" dirty="0"/>
              <a:t>Сейчас можно создавать бэкенд-сервисы, которые работают не постоянно, а только тогда, когда они нужны, благодаря </a:t>
            </a:r>
            <a:r>
              <a:rPr lang="ru-RU" sz="2200" dirty="0" err="1"/>
              <a:t>бессерверным</a:t>
            </a:r>
            <a:r>
              <a:rPr lang="ru-RU" sz="2200" dirty="0"/>
              <a:t> архитектурам, таким как AWS </a:t>
            </a:r>
            <a:r>
              <a:rPr lang="ru-RU" sz="2200" dirty="0" err="1"/>
              <a:t>Lambda</a:t>
            </a:r>
            <a:r>
              <a:rPr lang="ru-RU" sz="2200" dirty="0"/>
              <a:t>.</a:t>
            </a:r>
          </a:p>
        </p:txBody>
      </p:sp>
      <p:sp>
        <p:nvSpPr>
          <p:cNvPr id="4" name="Заголовок 1">
            <a:extLst>
              <a:ext uri="{FF2B5EF4-FFF2-40B4-BE49-F238E27FC236}">
                <a16:creationId xmlns:a16="http://schemas.microsoft.com/office/drawing/2014/main" id="{7B50D071-F0EE-4A8A-B803-3B82B502FD0C}"/>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600" dirty="0">
                <a:latin typeface="-apple-system"/>
              </a:rPr>
              <a:t>Вне </a:t>
            </a:r>
            <a:r>
              <a:rPr lang="ru-RU" sz="3600" dirty="0" err="1">
                <a:latin typeface="-apple-system"/>
              </a:rPr>
              <a:t>фронтенда</a:t>
            </a:r>
            <a:r>
              <a:rPr lang="ru-RU" sz="3600" dirty="0">
                <a:latin typeface="-apple-system"/>
              </a:rPr>
              <a:t> и бэкенда</a:t>
            </a:r>
          </a:p>
        </p:txBody>
      </p:sp>
    </p:spTree>
    <p:extLst>
      <p:ext uri="{BB962C8B-B14F-4D97-AF65-F5344CB8AC3E}">
        <p14:creationId xmlns:p14="http://schemas.microsoft.com/office/powerpoint/2010/main" val="1179920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AA8D5-B389-4298-9F78-996383ACE4E7}"/>
              </a:ext>
            </a:extLst>
          </p:cNvPr>
          <p:cNvSpPr>
            <a:spLocks noGrp="1"/>
          </p:cNvSpPr>
          <p:nvPr>
            <p:ph type="title"/>
          </p:nvPr>
        </p:nvSpPr>
        <p:spPr/>
        <p:txBody>
          <a:bodyPr/>
          <a:lstStyle/>
          <a:p>
            <a:pPr algn="ctr"/>
            <a:br>
              <a:rPr lang="ru-RU" b="1" dirty="0"/>
            </a:br>
            <a:endParaRPr lang="ru-RU" dirty="0"/>
          </a:p>
        </p:txBody>
      </p:sp>
      <p:sp>
        <p:nvSpPr>
          <p:cNvPr id="3" name="Объект 2">
            <a:extLst>
              <a:ext uri="{FF2B5EF4-FFF2-40B4-BE49-F238E27FC236}">
                <a16:creationId xmlns:a16="http://schemas.microsoft.com/office/drawing/2014/main" id="{124CB9EA-F669-47AC-B901-F56351E603B7}"/>
              </a:ext>
            </a:extLst>
          </p:cNvPr>
          <p:cNvSpPr>
            <a:spLocks noGrp="1"/>
          </p:cNvSpPr>
          <p:nvPr>
            <p:ph idx="1"/>
          </p:nvPr>
        </p:nvSpPr>
        <p:spPr>
          <a:xfrm>
            <a:off x="311150" y="1123950"/>
            <a:ext cx="11576050" cy="5626100"/>
          </a:xfrm>
        </p:spPr>
        <p:txBody>
          <a:bodyPr>
            <a:normAutofit/>
          </a:bodyPr>
          <a:lstStyle/>
          <a:p>
            <a:pPr>
              <a:lnSpc>
                <a:spcPct val="110000"/>
              </a:lnSpc>
            </a:pPr>
            <a:r>
              <a:rPr lang="ru-RU" sz="2200" b="1" dirty="0">
                <a:solidFill>
                  <a:srgbClr val="111111"/>
                </a:solidFill>
                <a:latin typeface="-apple-system"/>
              </a:rPr>
              <a:t>Размытые границы</a:t>
            </a:r>
          </a:p>
          <a:p>
            <a:pPr marL="0" indent="0">
              <a:buNone/>
            </a:pPr>
            <a:r>
              <a:rPr lang="ru-RU" sz="2200" dirty="0"/>
              <a:t>Вычислительные задачи теперь можно перемещать между </a:t>
            </a:r>
            <a:r>
              <a:rPr lang="ru-RU" sz="2200" dirty="0" err="1"/>
              <a:t>фронтендом</a:t>
            </a:r>
            <a:r>
              <a:rPr lang="ru-RU" sz="2200" dirty="0"/>
              <a:t> и бэкендом. В зависимости от вида приложения можно сделать так, чтобы вычисления производились либо в клиенте, либо на сервере.</a:t>
            </a:r>
          </a:p>
          <a:p>
            <a:pPr marL="0" indent="0">
              <a:buNone/>
            </a:pPr>
            <a:r>
              <a:rPr lang="ru-RU" sz="2200" dirty="0"/>
              <a:t>Каждый из вариантов имеет свои плюсы и минусы. Сервер — среда более стабильная, имеет меньше неизвестных, но ему постоянно нужно подключение к Сети. Некоторые пользователи используют последние версии браузеров, и им выгоднее использовать клиентские приложения, которые и делают большую часть работы, и могут похвастаться красивым интерфейсом, но тогда вы оттолкнёте пользователей, которые не используют новейшие браузеры и высокоскоростное подключение к Интернету.</a:t>
            </a:r>
          </a:p>
          <a:p>
            <a:pPr marL="0" indent="0">
              <a:buNone/>
            </a:pPr>
            <a:r>
              <a:rPr lang="ru-RU" sz="2200" dirty="0"/>
              <a:t>В любом случае, хорошо, что есть, из чего выбирать. Главное — выбирать именно то, что лучше всего подходит для конкретной задачи. Надеюсь, у вас появилось больше понимания о том, в каком состоянии сегодня находится веб-разработка.</a:t>
            </a:r>
          </a:p>
        </p:txBody>
      </p:sp>
      <p:sp>
        <p:nvSpPr>
          <p:cNvPr id="5" name="Заголовок 1">
            <a:extLst>
              <a:ext uri="{FF2B5EF4-FFF2-40B4-BE49-F238E27FC236}">
                <a16:creationId xmlns:a16="http://schemas.microsoft.com/office/drawing/2014/main" id="{1A862EBE-EA43-4D77-B655-54CC3F5E24AD}"/>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600" dirty="0">
                <a:latin typeface="-apple-system"/>
              </a:rPr>
              <a:t>Вне </a:t>
            </a:r>
            <a:r>
              <a:rPr lang="ru-RU" sz="3600" dirty="0" err="1">
                <a:latin typeface="-apple-system"/>
              </a:rPr>
              <a:t>фронтенда</a:t>
            </a:r>
            <a:r>
              <a:rPr lang="ru-RU" sz="3600" dirty="0">
                <a:latin typeface="-apple-system"/>
              </a:rPr>
              <a:t> и бэкенда</a:t>
            </a:r>
          </a:p>
        </p:txBody>
      </p:sp>
    </p:spTree>
    <p:extLst>
      <p:ext uri="{BB962C8B-B14F-4D97-AF65-F5344CB8AC3E}">
        <p14:creationId xmlns:p14="http://schemas.microsoft.com/office/powerpoint/2010/main" val="2624908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8906E3-0151-4ED6-B086-BA65817080D9}"/>
              </a:ext>
            </a:extLst>
          </p:cNvPr>
          <p:cNvSpPr>
            <a:spLocks noGrp="1"/>
          </p:cNvSpPr>
          <p:nvPr>
            <p:ph type="title"/>
          </p:nvPr>
        </p:nvSpPr>
        <p:spPr>
          <a:xfrm>
            <a:off x="838200" y="0"/>
            <a:ext cx="10515600" cy="1325563"/>
          </a:xfrm>
        </p:spPr>
        <p:txBody>
          <a:bodyPr>
            <a:normAutofit/>
          </a:bodyPr>
          <a:lstStyle/>
          <a:p>
            <a:pPr algn="ctr"/>
            <a:r>
              <a:rPr lang="ru-RU" sz="3600" dirty="0">
                <a:latin typeface="-apple-system"/>
              </a:rPr>
              <a:t>Полезные ссылки</a:t>
            </a:r>
          </a:p>
        </p:txBody>
      </p:sp>
      <p:sp>
        <p:nvSpPr>
          <p:cNvPr id="3" name="Объект 2">
            <a:extLst>
              <a:ext uri="{FF2B5EF4-FFF2-40B4-BE49-F238E27FC236}">
                <a16:creationId xmlns:a16="http://schemas.microsoft.com/office/drawing/2014/main" id="{72E37F4C-1D40-43F0-9FC0-9C9BE63F9DC0}"/>
              </a:ext>
            </a:extLst>
          </p:cNvPr>
          <p:cNvSpPr>
            <a:spLocks noGrp="1"/>
          </p:cNvSpPr>
          <p:nvPr>
            <p:ph idx="1"/>
          </p:nvPr>
        </p:nvSpPr>
        <p:spPr>
          <a:xfrm>
            <a:off x="838200" y="1253331"/>
            <a:ext cx="10515600" cy="5369142"/>
          </a:xfrm>
        </p:spPr>
        <p:txBody>
          <a:bodyPr>
            <a:normAutofit/>
          </a:bodyPr>
          <a:lstStyle/>
          <a:p>
            <a:r>
              <a:rPr lang="ru-RU" sz="2000" b="1" dirty="0">
                <a:latin typeface="-apple-system"/>
              </a:rPr>
              <a:t>Практическое руководство по разработке бэкенд-сервиса на </a:t>
            </a:r>
            <a:r>
              <a:rPr lang="ru-RU" sz="2000" b="1" dirty="0" err="1">
                <a:latin typeface="-apple-system"/>
              </a:rPr>
              <a:t>Python</a:t>
            </a:r>
            <a:r>
              <a:rPr lang="ru-RU" sz="2000" b="1" dirty="0">
                <a:latin typeface="-apple-system"/>
              </a:rPr>
              <a:t> </a:t>
            </a:r>
            <a:r>
              <a:rPr lang="ru-RU" sz="2000" dirty="0">
                <a:latin typeface="-apple-system"/>
              </a:rPr>
              <a:t>- </a:t>
            </a:r>
            <a:r>
              <a:rPr lang="en-US" sz="2000" dirty="0">
                <a:latin typeface="-apple-system"/>
                <a:hlinkClick r:id="rId2"/>
              </a:rPr>
              <a:t>https://habr.com/ru/companies/yandex/articles/499534/</a:t>
            </a:r>
            <a:r>
              <a:rPr lang="ru-RU" sz="2000" dirty="0">
                <a:latin typeface="-apple-system"/>
              </a:rPr>
              <a:t> </a:t>
            </a:r>
          </a:p>
          <a:p>
            <a:r>
              <a:rPr lang="ru-RU" sz="2000" dirty="0">
                <a:latin typeface="-apple-system"/>
              </a:rPr>
              <a:t>Простыми словами о «</a:t>
            </a:r>
            <a:r>
              <a:rPr lang="ru-RU" sz="2000" dirty="0" err="1">
                <a:latin typeface="-apple-system"/>
              </a:rPr>
              <a:t>фронтенде</a:t>
            </a:r>
            <a:r>
              <a:rPr lang="ru-RU" sz="2000" dirty="0">
                <a:latin typeface="-apple-system"/>
              </a:rPr>
              <a:t>» и «бэкенде»: что это такое и как они взаимодействуют - </a:t>
            </a:r>
            <a:r>
              <a:rPr lang="en-US" sz="2000" dirty="0">
                <a:latin typeface="-apple-system"/>
                <a:hlinkClick r:id="rId3"/>
              </a:rPr>
              <a:t>https://tproger.ru/translations/frontend-backend-interaction</a:t>
            </a:r>
            <a:endParaRPr lang="ru-RU" sz="2000" dirty="0">
              <a:latin typeface="-apple-system"/>
            </a:endParaRPr>
          </a:p>
          <a:p>
            <a:r>
              <a:rPr lang="ru-RU" sz="2000" dirty="0" err="1">
                <a:latin typeface="-apple-system"/>
              </a:rPr>
              <a:t>Фронтенд</a:t>
            </a:r>
            <a:r>
              <a:rPr lang="ru-RU" sz="2000" dirty="0">
                <a:latin typeface="-apple-system"/>
              </a:rPr>
              <a:t> или бэкенд: по какому пути в разработке пойти  - </a:t>
            </a:r>
            <a:r>
              <a:rPr lang="en-US" sz="2000" dirty="0">
                <a:latin typeface="-apple-system"/>
                <a:hlinkClick r:id="rId4"/>
              </a:rPr>
              <a:t>https://timeweb.com/ru/community/articles/znakomstvo-s-freymvorkami-chast-1-html-css-php-i-python-1</a:t>
            </a:r>
            <a:r>
              <a:rPr lang="ru-RU" sz="2000" dirty="0">
                <a:latin typeface="-apple-system"/>
              </a:rPr>
              <a:t> </a:t>
            </a:r>
          </a:p>
          <a:p>
            <a:r>
              <a:rPr lang="ru-RU" sz="2000" dirty="0">
                <a:latin typeface="-apple-system"/>
              </a:rPr>
              <a:t>По пунктам: что нужно знать о бэкенде новичку в веб-разработке </a:t>
            </a:r>
            <a:r>
              <a:rPr lang="en-US" sz="2000" dirty="0">
                <a:latin typeface="-apple-system"/>
                <a:hlinkClick r:id="rId5"/>
              </a:rPr>
              <a:t>https://tproger.ru/translations/backend-web-development</a:t>
            </a:r>
            <a:endParaRPr lang="ru-RU" sz="2000" dirty="0">
              <a:latin typeface="-apple-system"/>
            </a:endParaRPr>
          </a:p>
          <a:p>
            <a:r>
              <a:rPr lang="ru-RU" sz="2000" dirty="0">
                <a:latin typeface="-apple-system"/>
              </a:rPr>
              <a:t>Анатомия веб-сервиса </a:t>
            </a:r>
            <a:r>
              <a:rPr lang="en-US" sz="2000" dirty="0">
                <a:latin typeface="-apple-system"/>
              </a:rPr>
              <a:t>- </a:t>
            </a:r>
            <a:r>
              <a:rPr lang="en-US" sz="2000" dirty="0">
                <a:latin typeface="-apple-system"/>
                <a:hlinkClick r:id="rId6"/>
              </a:rPr>
              <a:t>https://habr.com/ru/companies/oleg-bunin/articles/309324/</a:t>
            </a:r>
            <a:endParaRPr lang="ru-RU" sz="2000" dirty="0">
              <a:latin typeface="-apple-system"/>
            </a:endParaRPr>
          </a:p>
          <a:p>
            <a:r>
              <a:rPr lang="ru-RU" sz="2000" dirty="0">
                <a:latin typeface="-apple-system"/>
              </a:rPr>
              <a:t>Грамотная клиент-серверная архитектура: как правильно проектировать и разрабатывать </a:t>
            </a:r>
            <a:r>
              <a:rPr lang="ru-RU" sz="2000" dirty="0" err="1">
                <a:latin typeface="-apple-system"/>
              </a:rPr>
              <a:t>web</a:t>
            </a:r>
            <a:r>
              <a:rPr lang="ru-RU" sz="2000" dirty="0">
                <a:latin typeface="-apple-system"/>
              </a:rPr>
              <a:t> API -</a:t>
            </a:r>
            <a:r>
              <a:rPr lang="ru-RU" b="1" dirty="0"/>
              <a:t> </a:t>
            </a:r>
            <a:r>
              <a:rPr lang="en-US" sz="2000" dirty="0">
                <a:latin typeface="-apple-system"/>
                <a:hlinkClick r:id="rId7"/>
              </a:rPr>
              <a:t>https://tproger.ru/articles/web-api</a:t>
            </a:r>
            <a:r>
              <a:rPr lang="ru-RU" sz="2000" dirty="0">
                <a:latin typeface="-apple-system"/>
              </a:rPr>
              <a:t> </a:t>
            </a:r>
          </a:p>
        </p:txBody>
      </p:sp>
    </p:spTree>
    <p:extLst>
      <p:ext uri="{BB962C8B-B14F-4D97-AF65-F5344CB8AC3E}">
        <p14:creationId xmlns:p14="http://schemas.microsoft.com/office/powerpoint/2010/main" val="53561220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583</TotalTime>
  <Words>2490</Words>
  <Application>Microsoft Office PowerPoint</Application>
  <PresentationFormat>Широкоэкранный</PresentationFormat>
  <Paragraphs>109</Paragraphs>
  <Slides>17</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17</vt:i4>
      </vt:variant>
    </vt:vector>
  </HeadingPairs>
  <TitlesOfParts>
    <vt:vector size="22" baseType="lpstr">
      <vt:lpstr>-apple-system</vt:lpstr>
      <vt:lpstr>Arial</vt:lpstr>
      <vt:lpstr>Calibri</vt:lpstr>
      <vt:lpstr>Calibri Light</vt:lpstr>
      <vt:lpstr>Тема Office</vt:lpstr>
      <vt:lpstr>Создание веб-сайтов</vt:lpstr>
      <vt:lpstr>Back-end</vt:lpstr>
      <vt:lpstr>Презентация PowerPoint</vt:lpstr>
      <vt:lpstr> </vt:lpstr>
      <vt:lpstr> </vt:lpstr>
      <vt:lpstr> </vt:lpstr>
      <vt:lpstr> </vt:lpstr>
      <vt:lpstr> </vt:lpstr>
      <vt:lpstr> </vt:lpstr>
      <vt:lpstr> </vt:lpstr>
      <vt:lpstr> </vt:lpstr>
      <vt:lpstr> </vt:lpstr>
      <vt:lpstr> </vt:lpstr>
      <vt:lpstr>Презентация PowerPoint</vt:lpstr>
      <vt:lpstr> </vt:lpstr>
      <vt:lpstr> </vt:lpstr>
      <vt:lpstr>Полезные ссылки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Создание веб-сайтов</dc:title>
  <dc:creator>Artyom Savkin</dc:creator>
  <cp:lastModifiedBy>Савкин Артем</cp:lastModifiedBy>
  <cp:revision>41</cp:revision>
  <dcterms:created xsi:type="dcterms:W3CDTF">2023-01-22T19:30:55Z</dcterms:created>
  <dcterms:modified xsi:type="dcterms:W3CDTF">2026-01-22T19:03:40Z</dcterms:modified>
</cp:coreProperties>
</file>