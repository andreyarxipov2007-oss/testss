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77" r:id="rId11"/>
    <p:sldId id="278" r:id="rId12"/>
    <p:sldId id="279" r:id="rId13"/>
    <p:sldId id="280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5" r:id="rId22"/>
    <p:sldId id="274" r:id="rId23"/>
    <p:sldId id="264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521EB-F39F-479D-9E0D-3D41471C9506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6EF70-C68C-4C7B-91BB-29601A3DC1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340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6EF70-C68C-4C7B-91BB-29601A3DC17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501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6EF70-C68C-4C7B-91BB-29601A3DC17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076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40C1-E16C-4A06-8569-455E02ABF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77CE5D9-1795-4F18-ABA6-39CFE6A1F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E78664-35CB-43D1-B9C4-CB302592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D4B0-22AE-4449-B403-D51F6FD7575F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EE33D4-406A-4E47-8B45-A2C1A4E5E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4BAC08-7F1A-43D6-B10B-80E7F03C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4329-2223-4017-8CB2-4C4833421D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679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A09A54-1182-4FCC-AE91-CB25EA4D1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4A03DE-C64F-417B-B851-F3856DB76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E5CD3A-6FD8-4CC8-A9F6-DF70774D4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D4B0-22AE-4449-B403-D51F6FD7575F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75A185-2186-488B-A522-68756F361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857812-7C72-4965-89E8-1D375874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4329-2223-4017-8CB2-4C4833421D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38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2FD087-BD04-497C-8849-21CBBF04F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EDB23D-2A69-47F2-91EA-E4515B9B2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C9F239-B271-4BF0-8F5C-79FD59F4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D4B0-22AE-4449-B403-D51F6FD7575F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B8D78F-8B29-4D48-8A79-FEE7844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E84469-287F-4854-9F77-633BD3BF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4329-2223-4017-8CB2-4C4833421D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122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FA6F66-ED16-4F16-97E9-F8677F383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6E27E0-53E9-4E54-BEBD-3AC5B03AE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64279F-B7E0-4307-81ED-4479000E3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79D87B-DFB9-4276-9712-64FADAECB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D4B0-22AE-4449-B403-D51F6FD7575F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DCA19F-4407-4AF6-8DFB-9AAF9E89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26EC2A-F4D1-4FE9-B199-9979EF29B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4329-2223-4017-8CB2-4C4833421D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188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DCD5A-B60C-4BB2-A181-C613A153E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87C7C1-F43D-4D6F-B75E-FD590BE0E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F9556C-A8D0-4473-AE40-28FFC4790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CE1037A-D0CC-42A4-A226-E1CCF5395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7AE7B7-4E66-420D-965B-309EBC230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42F8266-4FCE-4331-A1FF-EB142874B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D4B0-22AE-4449-B403-D51F6FD7575F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F25F94E-F01D-4BF0-AF9A-6B7F934B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6C386DC-8E8D-4733-BD8B-6199EFD05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4329-2223-4017-8CB2-4C4833421D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229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276C2-8D3D-43F3-A9AC-845C2713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CE56A00-D074-4C3B-BD0F-873CA3F0E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D4B0-22AE-4449-B403-D51F6FD7575F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561076-F07E-4132-92BE-00197800B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0D64FC4-BDDE-440E-AA9D-F1930B93F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4329-2223-4017-8CB2-4C4833421D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650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8424505-71CF-459B-B5A8-9FC19EC9B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D4B0-22AE-4449-B403-D51F6FD7575F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70B5553-ADB7-4A2F-9A7E-39AC6DA5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16DDFE-DFFA-4145-BA2F-44E96BDA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4329-2223-4017-8CB2-4C4833421D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534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2E5181-8C6E-4E31-BDA6-A3240CAAE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FFFCB6-9AB2-4A05-9B08-151E9E23E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240381-89AC-4AA3-9DFB-29A86F3AD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2238F6-7148-47D4-9E19-F5BDF265D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D4B0-22AE-4449-B403-D51F6FD7575F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856BF8-4ED2-4BBF-801B-919163A08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A21E99-AE6C-442E-973D-A70E6795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4329-2223-4017-8CB2-4C4833421D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52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1B0AC-1A2F-43C6-83F9-33F492B2B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B7151D0-6C5A-4C00-9EC7-F34D17490E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F4DD31-DE7D-45CD-9DB2-B7637FEDF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870729-B9EF-4AF3-AEA2-66E6C2B59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D4B0-22AE-4449-B403-D51F6FD7575F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FF2041-C293-48C6-BC08-74E940520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5BAB61-90F3-4F75-985C-AC2F04A7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4329-2223-4017-8CB2-4C4833421D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47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90F18-9839-47DD-A597-43E67D770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0C3EEF-8ECA-4565-98EC-36E364BF8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19842B-0FF4-428D-8577-EB5865F00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D4B0-22AE-4449-B403-D51F6FD7575F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82A0C4-3ECE-4A6B-8065-C74CFB1B8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3AB9AE-6F13-4FC7-A9D3-EE059A076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4329-2223-4017-8CB2-4C4833421D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16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BA431FB-5E9F-44EF-A62F-B24F2CB10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B99E0C8-3704-4260-AF7F-2E69E28B0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3578DE-F2A2-4734-BA31-1E8CC2BF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3D4B0-22AE-4449-B403-D51F6FD7575F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32113B-6546-4416-81A1-4FFFDC44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8B57DA-0F62-4E61-8F91-2BC2824C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A4329-2223-4017-8CB2-4C4833421D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60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D5916-3F98-4870-ACF9-30C4EB78F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B2782C-9396-455E-BA3E-301635857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F53566-F171-4922-B5A2-0794E7645C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3D4B0-22AE-4449-B403-D51F6FD7575F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566FBB-9094-4EDA-AC5B-DDB83437E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27E244-9F55-4A2F-88F6-41896D7A3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A4329-2223-4017-8CB2-4C4833421D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27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about.gitlab.com/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bitbucket.org/" TargetMode="External"/><Relationship Id="rId4" Type="http://schemas.openxmlformats.org/officeDocument/2006/relationships/hyperlink" Target="https://ru.wikipedia.org/wiki/Git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rangeRedeng/Spring_2025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git-scm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yberspacedk/Git-commands" TargetMode="External"/><Relationship Id="rId3" Type="http://schemas.openxmlformats.org/officeDocument/2006/relationships/hyperlink" Target="https://try.github.io/" TargetMode="External"/><Relationship Id="rId7" Type="http://schemas.openxmlformats.org/officeDocument/2006/relationships/hyperlink" Target="https://habr.com/ru/post/541258/" TargetMode="External"/><Relationship Id="rId2" Type="http://schemas.openxmlformats.org/officeDocument/2006/relationships/hyperlink" Target="http://githowto.com/ru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abr.com/ru/sandbox/156522/" TargetMode="External"/><Relationship Id="rId5" Type="http://schemas.openxmlformats.org/officeDocument/2006/relationships/hyperlink" Target="http://cluster.krc.karelia.ru/doc/rukovodstvo_GIT.pdf" TargetMode="External"/><Relationship Id="rId4" Type="http://schemas.openxmlformats.org/officeDocument/2006/relationships/hyperlink" Target="http://pcottle.github.io/learnGitBranch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4725-4174-439A-8547-78004F0F5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4945"/>
            <a:ext cx="9144000" cy="2387600"/>
          </a:xfrm>
        </p:spPr>
        <p:txBody>
          <a:bodyPr/>
          <a:lstStyle/>
          <a:p>
            <a:r>
              <a:rPr lang="ru-RU" dirty="0">
                <a:latin typeface="-apple-system"/>
              </a:rPr>
              <a:t>Система контроля версий</a:t>
            </a:r>
            <a:br>
              <a:rPr lang="ru-RU" dirty="0">
                <a:latin typeface="-apple-system"/>
              </a:rPr>
            </a:br>
            <a:r>
              <a:rPr lang="ru-RU" dirty="0">
                <a:latin typeface="-apple-system"/>
              </a:rPr>
              <a:t>(</a:t>
            </a:r>
            <a:r>
              <a:rPr lang="en-US" dirty="0">
                <a:latin typeface="-apple-system"/>
              </a:rPr>
              <a:t>Version Control System)</a:t>
            </a:r>
            <a:endParaRPr lang="ru-RU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63092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349C6B-3932-465F-B51D-5136319174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96"/>
          <a:stretch/>
        </p:blipFill>
        <p:spPr>
          <a:xfrm>
            <a:off x="4120731" y="4082471"/>
            <a:ext cx="4689446" cy="269878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2A7ADC-74DA-46CA-BBBF-B298C454E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-apple-system"/>
              </a:rPr>
              <a:t>Что такое система контроля версий?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CB0D40-EA47-4470-8480-00DDD5DF6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>
                <a:solidFill>
                  <a:srgbClr val="111111"/>
                </a:solidFill>
                <a:latin typeface="-apple-system"/>
              </a:rPr>
              <a:t>С</a:t>
            </a: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истема контроля версий 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– это система, записывающая изменения в файл или набор файлов в течение времени и позволяющая вернуться позже к определенной версии.</a:t>
            </a:r>
          </a:p>
          <a:p>
            <a:pPr marL="0" indent="0">
              <a:buNone/>
            </a:pP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Задачи</a:t>
            </a:r>
            <a:r>
              <a:rPr lang="en-US" sz="2200" b="0" i="0" dirty="0">
                <a:solidFill>
                  <a:srgbClr val="111111"/>
                </a:solidFill>
                <a:effectLst/>
                <a:latin typeface="-apple-system"/>
              </a:rPr>
              <a:t>:</a:t>
            </a:r>
            <a:endParaRPr lang="ru-RU" sz="2200" b="0" i="0" dirty="0">
              <a:solidFill>
                <a:srgbClr val="111111"/>
              </a:solidFill>
              <a:effectLst/>
              <a:latin typeface="-apple-system"/>
            </a:endParaRPr>
          </a:p>
          <a:p>
            <a:r>
              <a:rPr lang="ru-RU" sz="2200" dirty="0">
                <a:latin typeface="-apple-system"/>
              </a:rPr>
              <a:t>хранение всех выполненных изменений, возможность посмотреть кем и когда они были выполнены, возможность «откатить» неудачные изменения</a:t>
            </a:r>
          </a:p>
          <a:p>
            <a:r>
              <a:rPr lang="ru-RU" sz="2200" dirty="0">
                <a:latin typeface="-apple-system"/>
              </a:rPr>
              <a:t>возможность параллельной и независимой работы над данными</a:t>
            </a:r>
          </a:p>
          <a:p>
            <a:r>
              <a:rPr lang="ru-RU" sz="2200" dirty="0">
                <a:latin typeface="-apple-system"/>
              </a:rPr>
              <a:t>возможность использовать изменения выполненные другими членами команды</a:t>
            </a:r>
          </a:p>
          <a:p>
            <a:pPr marL="0" indent="0">
              <a:buNone/>
            </a:pPr>
            <a:r>
              <a:rPr lang="ru-RU" sz="2200" dirty="0">
                <a:latin typeface="-apple-system"/>
              </a:rPr>
              <a:t>Основное применение систем контроля версий: </a:t>
            </a:r>
          </a:p>
          <a:p>
            <a:pPr marL="0" indent="0">
              <a:buNone/>
            </a:pPr>
            <a:r>
              <a:rPr lang="ru-RU" sz="2200" b="1" dirty="0">
                <a:latin typeface="-apple-system"/>
              </a:rPr>
              <a:t>организация работы группы программистов над проектом</a:t>
            </a:r>
            <a:endParaRPr lang="ru-RU" sz="2200" dirty="0">
              <a:latin typeface="-apple-system"/>
            </a:endParaRPr>
          </a:p>
          <a:p>
            <a:endParaRPr lang="ru-RU" sz="2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4640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22DD6-65F6-4A20-8186-215D05A83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-apple-system"/>
              </a:rPr>
              <a:t>Виды СКВ</a:t>
            </a:r>
            <a:r>
              <a:rPr lang="en-US" sz="3600" dirty="0">
                <a:latin typeface="-apple-system"/>
              </a:rPr>
              <a:t>: </a:t>
            </a:r>
            <a:r>
              <a:rPr lang="en-US" sz="3600" b="1" i="0" dirty="0">
                <a:solidFill>
                  <a:srgbClr val="111111"/>
                </a:solidFill>
                <a:effectLst/>
                <a:latin typeface="-apple-system"/>
              </a:rPr>
              <a:t>Copy-paste</a:t>
            </a:r>
            <a:endParaRPr lang="ru-RU" sz="3600" b="1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E7C9DB-2D84-4918-B7BB-3AA54FBC6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326" y="2021258"/>
            <a:ext cx="7573819" cy="28154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Известный метод при применении к данной задаче может выглядеть следующим образом: будем называть файлы по шаблону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filename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_{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version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}, возможно с добавлением времени создания или изменения.</a:t>
            </a:r>
            <a:br>
              <a:rPr lang="ru-RU" sz="2200" dirty="0">
                <a:latin typeface="-apple-system"/>
              </a:rPr>
            </a:br>
            <a:br>
              <a:rPr lang="ru-RU" sz="2200" dirty="0">
                <a:latin typeface="-apple-system"/>
              </a:rPr>
            </a:b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Данный способ является очень простым, но он подвержен различным ошибкам: можно случайно изменить не тот файл, можно скопировать не из той директории (ведь именно так переносятся файлы в этой модели).</a:t>
            </a:r>
            <a:endParaRPr lang="ru-RU" sz="2200" dirty="0">
              <a:latin typeface="-apple-system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08FA4B-7AFC-4F54-B67B-0EFD1CCE29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30" t="16282" r="13604" b="20269"/>
          <a:stretch/>
        </p:blipFill>
        <p:spPr>
          <a:xfrm>
            <a:off x="838200" y="2190338"/>
            <a:ext cx="2676571" cy="247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25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4E8F1-7546-4AB7-976B-F2DFB25A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50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0" i="0" dirty="0">
                <a:solidFill>
                  <a:srgbClr val="111111"/>
                </a:solidFill>
                <a:effectLst/>
                <a:latin typeface="-apple-system"/>
              </a:rPr>
              <a:t>Локальная система контроля версий</a:t>
            </a:r>
            <a:endParaRPr lang="ru-RU" sz="3600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920F06-29A5-4112-9C1A-EBEDF19A9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9118" y="1376219"/>
            <a:ext cx="7779327" cy="54817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Следующим шагом в развитии систем контроля - </a:t>
            </a: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локальные системы контроля версий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. Они представляли из себя простейшую базу данных, которая хранит записи обо всех изменениях в файлах.</a:t>
            </a:r>
            <a:br>
              <a:rPr lang="ru-RU" sz="2200" dirty="0"/>
            </a:br>
            <a:br>
              <a:rPr lang="ru-RU" sz="2200" dirty="0"/>
            </a:b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Одним из примеров таких систем является система контроля версий RCS, которая была разработана в 1985 году (последний патч был написан в 2015 году) и хранит изменений в файлах (патчи), осуществляя контроль версий. Набор этих изменений позволяет восстановить любое состояние файла. RCS поставляется с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Linux'ом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  <a:br>
              <a:rPr lang="ru-RU" sz="2200" dirty="0"/>
            </a:br>
            <a:br>
              <a:rPr lang="ru-RU" sz="2200" dirty="0"/>
            </a:b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Локальная система контроля версий хорошо решает поставленную перед ней задачу, однако ее проблемой является основное свойство — локальность. Она совершенно не предназначена для коллективного использования.</a:t>
            </a:r>
            <a:endParaRPr lang="ru-RU" sz="22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B27F8A-83F7-4892-9678-61FE40B63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55" y="2353958"/>
            <a:ext cx="3650272" cy="318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29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35D5F7-C8A8-46BF-9ADA-183271DE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0" i="0" dirty="0">
                <a:solidFill>
                  <a:srgbClr val="111111"/>
                </a:solidFill>
                <a:effectLst/>
                <a:latin typeface="-apple-system"/>
              </a:rPr>
              <a:t>Централизованная система контроля версий</a:t>
            </a:r>
            <a:endParaRPr lang="ru-RU" sz="3600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AFB629-6BD6-4F96-8BB3-1BB796ED5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8019" y="1363447"/>
            <a:ext cx="6400800" cy="34078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Централизованная система контроля версий 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предназначена решает вышеописанную проблему.</a:t>
            </a:r>
            <a:br>
              <a:rPr lang="ru-RU" sz="2200" dirty="0">
                <a:latin typeface="-apple-system"/>
              </a:rPr>
            </a:br>
            <a:br>
              <a:rPr lang="ru-RU" sz="2200" dirty="0">
                <a:latin typeface="-apple-system"/>
              </a:rPr>
            </a:b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Для организации такой системы контроля версий используется </a:t>
            </a: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единственный сервер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, который содержит </a:t>
            </a: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все версии файлов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. Клиенты, обращаясь к этому серверу, получают их из этого централизованного хранилища. На протяжении многих лет являлись стандартом. К ним относятся CVS,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Subversion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,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Perforce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  <a:br>
              <a:rPr lang="ru-RU" sz="2200" dirty="0">
                <a:latin typeface="-apple-system"/>
              </a:rPr>
            </a:br>
            <a:br>
              <a:rPr lang="ru-RU" sz="2200" dirty="0">
                <a:latin typeface="-apple-system"/>
              </a:rPr>
            </a:br>
            <a:endParaRPr lang="ru-RU" sz="2200" dirty="0">
              <a:latin typeface="-apple-system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9F2B81-C446-4C78-9C75-71D592792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81" y="1633659"/>
            <a:ext cx="5387110" cy="26632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B6E71D-1470-4537-93DA-DB4D7C63FCA3}"/>
              </a:ext>
            </a:extLst>
          </p:cNvPr>
          <p:cNvSpPr txBox="1"/>
          <p:nvPr/>
        </p:nvSpPr>
        <p:spPr>
          <a:xfrm>
            <a:off x="173181" y="4898229"/>
            <a:ext cx="1184563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Такими системами легко управлять из-за наличия единственного сервера. Но это приводит к возникновению единой точки отказа в виде этого самого сервера. В случае отключения нельзя будет выкачивать файлы. В худшем сценарии (физическое уничтожение сервера или вылет жесткого диска) – полная потеря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51917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045A01-1D97-496C-BF4A-EED0D9301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64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0" i="0" dirty="0">
                <a:solidFill>
                  <a:srgbClr val="111111"/>
                </a:solidFill>
                <a:effectLst/>
                <a:latin typeface="-apple-system"/>
              </a:rPr>
              <a:t>Распределенная система контроля версий</a:t>
            </a:r>
            <a:endParaRPr lang="ru-RU" sz="3600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AF3504-43A2-4775-BD2A-366060D7A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6763" y="1173991"/>
            <a:ext cx="5763490" cy="4627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Для устранения единой точки отказа используются </a:t>
            </a: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распределенные системы контроля версий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. Они подразумевают, что клиент </a:t>
            </a: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выкачает себе весь репозиторий целиком 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заместо выкачки конкретных интересующих клиента файлов. Если умрет любая копия репозитория, то это не приведет к потере кодовой базы, поскольку она может быть восстановлена с компьютера любого разработчика. Каждая копия является полным бэкапом данных.</a:t>
            </a:r>
            <a:br>
              <a:rPr lang="ru-RU" sz="2200" dirty="0"/>
            </a:br>
            <a:br>
              <a:rPr lang="ru-RU" sz="2200" dirty="0"/>
            </a:b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Все копии являются равноправным и могут синхронизироваться между собой. </a:t>
            </a:r>
            <a:br>
              <a:rPr lang="ru-RU" sz="2000" dirty="0"/>
            </a:br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8E52E2-C5ED-40A3-BAE3-796C875BF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47" y="1173991"/>
            <a:ext cx="5525871" cy="4338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18B0FA-4CE3-4962-9BFB-7C4752CE0688}"/>
              </a:ext>
            </a:extLst>
          </p:cNvPr>
          <p:cNvSpPr txBox="1"/>
          <p:nvPr/>
        </p:nvSpPr>
        <p:spPr>
          <a:xfrm>
            <a:off x="145472" y="5650145"/>
            <a:ext cx="117047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К данному виду систем контроля версий относятся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Mercurial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,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Bazaar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,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Darcs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 и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Git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. Последняя система контроля версий и будет рассмотрена нами далее более детально.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382577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63745A-2DEE-496A-8751-AC87A64AA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8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-apple-system"/>
              </a:rPr>
              <a:t>Краткая история </a:t>
            </a:r>
            <a:r>
              <a:rPr lang="en-US" sz="3600" dirty="0">
                <a:latin typeface="-apple-system"/>
              </a:rPr>
              <a:t>Git</a:t>
            </a:r>
            <a:endParaRPr lang="ru-RU" sz="3600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C61823-E78B-4B6B-A9A9-D1A841F2C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8" y="1446898"/>
            <a:ext cx="11508509" cy="5240229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ru-RU" b="0" i="0" dirty="0">
                <a:effectLst/>
                <a:latin typeface="-apple-system"/>
              </a:rPr>
              <a:t>Как и многие вещи в жизни, </a:t>
            </a:r>
            <a:r>
              <a:rPr lang="ru-RU" b="0" i="0" dirty="0" err="1">
                <a:effectLst/>
                <a:latin typeface="-apple-system"/>
              </a:rPr>
              <a:t>Git</a:t>
            </a:r>
            <a:r>
              <a:rPr lang="ru-RU" b="0" i="0" dirty="0">
                <a:effectLst/>
                <a:latin typeface="-apple-system"/>
              </a:rPr>
              <a:t> начинался с капелькой творческого хаоса и бурных споров.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-apple-system"/>
              </a:rPr>
              <a:t>Ядро </a:t>
            </a:r>
            <a:r>
              <a:rPr lang="ru-RU" b="1" i="0" dirty="0">
                <a:effectLst/>
                <a:latin typeface="-apple-system"/>
              </a:rPr>
              <a:t>Linux</a:t>
            </a:r>
            <a:r>
              <a:rPr lang="ru-RU" b="0" i="0" dirty="0">
                <a:effectLst/>
                <a:latin typeface="-apple-system"/>
              </a:rPr>
              <a:t> — это достаточно большой проект с открытым исходным кодом. Большую часть времени разработки ядра Linux (1991–2002 гг.) изменения передавались между разработчиками в виде патчей и архивов. В 2002 году проект ядра Linux начал использовать проприетарную децентрализованную СКВ </a:t>
            </a:r>
            <a:r>
              <a:rPr lang="ru-RU" b="0" i="0" dirty="0" err="1">
                <a:effectLst/>
                <a:latin typeface="-apple-system"/>
              </a:rPr>
              <a:t>BitKeeper</a:t>
            </a:r>
            <a:r>
              <a:rPr lang="ru-RU" b="0" i="0" dirty="0">
                <a:effectLst/>
                <a:latin typeface="-apple-system"/>
              </a:rPr>
              <a:t>.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-apple-system"/>
              </a:rPr>
              <a:t>В 2005 году отношения между сообществом разработчиков ядра Linux и коммерческой компанией, которая разрабатывала </a:t>
            </a:r>
            <a:r>
              <a:rPr lang="ru-RU" b="0" i="0" dirty="0" err="1">
                <a:effectLst/>
                <a:latin typeface="-apple-system"/>
              </a:rPr>
              <a:t>BitKeeper</a:t>
            </a:r>
            <a:r>
              <a:rPr lang="ru-RU" b="0" i="0" dirty="0">
                <a:effectLst/>
                <a:latin typeface="-apple-system"/>
              </a:rPr>
              <a:t>, прекратились, и бесплатное использование утилиты стало невозможным. Это сподвигло сообщество разработчиков ядра Linux (а в частности </a:t>
            </a:r>
            <a:r>
              <a:rPr lang="ru-RU" b="0" i="0" dirty="0" err="1">
                <a:effectLst/>
                <a:latin typeface="-apple-system"/>
              </a:rPr>
              <a:t>Линуса</a:t>
            </a:r>
            <a:r>
              <a:rPr lang="ru-RU" b="0" i="0" dirty="0">
                <a:effectLst/>
                <a:latin typeface="-apple-system"/>
              </a:rPr>
              <a:t> </a:t>
            </a:r>
            <a:r>
              <a:rPr lang="ru-RU" b="0" i="0" dirty="0" err="1">
                <a:effectLst/>
                <a:latin typeface="-apple-system"/>
              </a:rPr>
              <a:t>Торвальдса</a:t>
            </a:r>
            <a:r>
              <a:rPr lang="ru-RU" b="0" i="0" dirty="0">
                <a:effectLst/>
                <a:latin typeface="-apple-system"/>
              </a:rPr>
              <a:t> — создателя Linux) разработать свою собственную утилиту, учитывая уроки, полученные при работе с </a:t>
            </a:r>
            <a:r>
              <a:rPr lang="ru-RU" b="0" i="0" dirty="0" err="1">
                <a:effectLst/>
                <a:latin typeface="-apple-system"/>
              </a:rPr>
              <a:t>BitKeeper</a:t>
            </a:r>
            <a:r>
              <a:rPr lang="ru-RU" b="0" i="0" dirty="0">
                <a:effectLst/>
                <a:latin typeface="-apple-system"/>
              </a:rPr>
              <a:t>. Некоторыми </a:t>
            </a:r>
            <a:r>
              <a:rPr lang="ru-RU" b="1" i="0" dirty="0">
                <a:effectLst/>
                <a:latin typeface="-apple-system"/>
              </a:rPr>
              <a:t>целями, которые преследовала новая система, были</a:t>
            </a:r>
            <a:r>
              <a:rPr lang="ru-RU" b="0" i="0" dirty="0">
                <a:effectLst/>
                <a:latin typeface="-apple-system"/>
              </a:rPr>
              <a:t>:</a:t>
            </a:r>
          </a:p>
          <a:p>
            <a:r>
              <a:rPr lang="ru-RU" b="0" i="0" dirty="0">
                <a:effectLst/>
                <a:latin typeface="-apple-system"/>
              </a:rPr>
              <a:t>Скорость</a:t>
            </a:r>
          </a:p>
          <a:p>
            <a:r>
              <a:rPr lang="ru-RU" b="0" i="0" dirty="0">
                <a:effectLst/>
                <a:latin typeface="-apple-system"/>
              </a:rPr>
              <a:t>Простая архитектура</a:t>
            </a:r>
          </a:p>
          <a:p>
            <a:r>
              <a:rPr lang="ru-RU" b="0" i="0" dirty="0">
                <a:effectLst/>
                <a:latin typeface="-apple-system"/>
              </a:rPr>
              <a:t>Хорошая поддержка нелинейной разработки (тысячи параллельных веток)</a:t>
            </a:r>
          </a:p>
          <a:p>
            <a:r>
              <a:rPr lang="ru-RU" b="0" i="0" dirty="0">
                <a:effectLst/>
                <a:latin typeface="-apple-system"/>
              </a:rPr>
              <a:t>Полная децентрализация</a:t>
            </a:r>
          </a:p>
          <a:p>
            <a:pPr marL="0" indent="0" algn="l">
              <a:buNone/>
            </a:pPr>
            <a:r>
              <a:rPr lang="ru-RU" b="0" i="0" dirty="0">
                <a:effectLst/>
                <a:latin typeface="-apple-system"/>
              </a:rPr>
              <a:t>Возможность эффективного управления большими проектами, такими как ядро Linux (скорость работы и разумное использование дискового пространства).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923D238-EABC-467B-BFE3-0929E11F29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8" r="59910" b="34046"/>
          <a:stretch/>
        </p:blipFill>
        <p:spPr>
          <a:xfrm>
            <a:off x="637709" y="121335"/>
            <a:ext cx="2345636" cy="103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16FDC8E-0901-4692-A8DC-45586D5C7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891" y="535708"/>
            <a:ext cx="11665527" cy="644698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000" b="1" i="0" dirty="0" err="1">
                <a:solidFill>
                  <a:srgbClr val="111111"/>
                </a:solidFill>
                <a:effectLst/>
                <a:latin typeface="-apple-system"/>
              </a:rPr>
              <a:t>Git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- крайне полезный инструмент при командной разработке. Возможность вносить изменения в репозиторий нелинейно (независимые изменения в разных ветках) позволяет организовать коллективную работу над проектом. Каждый участник разработки имеет собственную копию репозитория (</a:t>
            </a:r>
            <a:r>
              <a:rPr lang="ru-RU" sz="2000" b="0" i="1" dirty="0">
                <a:solidFill>
                  <a:srgbClr val="111111"/>
                </a:solidFill>
                <a:effectLst/>
                <a:latin typeface="-apple-system"/>
              </a:rPr>
              <a:t>локальный репозиторий, </a:t>
            </a:r>
            <a:r>
              <a:rPr lang="ru-RU" sz="2000" b="0" i="1" dirty="0" err="1">
                <a:solidFill>
                  <a:srgbClr val="111111"/>
                </a:solidFill>
                <a:effectLst/>
                <a:latin typeface="-apple-system"/>
              </a:rPr>
              <a:t>local</a:t>
            </a:r>
            <a:r>
              <a:rPr lang="ru-RU" sz="2000" b="0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2000" b="0" i="1" dirty="0" err="1">
                <a:solidFill>
                  <a:srgbClr val="111111"/>
                </a:solidFill>
                <a:effectLst/>
                <a:latin typeface="-apple-system"/>
              </a:rPr>
              <a:t>repository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), в которой может вести работу независимо от остальных. Для синхронизации внесенных изменений используется общая копия репозитория (</a:t>
            </a:r>
            <a:r>
              <a:rPr lang="ru-RU" sz="2000" b="0" i="1" dirty="0">
                <a:solidFill>
                  <a:srgbClr val="111111"/>
                </a:solidFill>
                <a:effectLst/>
                <a:latin typeface="-apple-system"/>
              </a:rPr>
              <a:t>удаленный репозиторий, </a:t>
            </a:r>
            <a:r>
              <a:rPr lang="ru-RU" sz="2000" b="0" i="1" dirty="0" err="1">
                <a:solidFill>
                  <a:srgbClr val="111111"/>
                </a:solidFill>
                <a:effectLst/>
                <a:latin typeface="-apple-system"/>
              </a:rPr>
              <a:t>remote</a:t>
            </a:r>
            <a:r>
              <a:rPr lang="ru-RU" sz="2000" b="0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2000" b="0" i="1" dirty="0" err="1">
                <a:solidFill>
                  <a:srgbClr val="111111"/>
                </a:solidFill>
                <a:effectLst/>
                <a:latin typeface="-apple-system"/>
              </a:rPr>
              <a:t>repository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), которая размещается на отдельном сервере (GitHub, GitLab, </a:t>
            </a:r>
            <a:r>
              <a:rPr lang="ru-RU" sz="2000" b="0" i="0" dirty="0" err="1">
                <a:solidFill>
                  <a:srgbClr val="111111"/>
                </a:solidFill>
                <a:effectLst/>
                <a:latin typeface="-apple-system"/>
              </a:rPr>
              <a:t>Bitbucket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, собственный сервер и т.д.).</a:t>
            </a:r>
          </a:p>
          <a:p>
            <a:pPr marL="0" indent="0">
              <a:buNone/>
            </a:pPr>
            <a:r>
              <a:rPr lang="ru-RU" sz="2000" b="1" dirty="0">
                <a:solidFill>
                  <a:srgbClr val="111111"/>
                </a:solidFill>
                <a:latin typeface="-apple-system"/>
              </a:rPr>
              <a:t>Какие бывают удаленные репозитории? </a:t>
            </a:r>
          </a:p>
          <a:p>
            <a:r>
              <a:rPr lang="ru-RU" sz="2000" b="1" dirty="0">
                <a:solidFill>
                  <a:srgbClr val="111111"/>
                </a:solidFill>
                <a:latin typeface="-apple-system"/>
                <a:hlinkClick r:id="rId2"/>
              </a:rPr>
              <a:t>GitHub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 — это крупнейшее хранилище для репозиториев и совместной разработки.</a:t>
            </a:r>
          </a:p>
          <a:p>
            <a:r>
              <a:rPr lang="ru-RU" sz="2000" b="1" dirty="0">
                <a:solidFill>
                  <a:srgbClr val="111111"/>
                </a:solidFill>
                <a:latin typeface="-apple-system"/>
                <a:hlinkClick r:id="rId3"/>
              </a:rPr>
              <a:t>GitLab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 — веб-инструмент жизненного цикла DevOps с открытым исходным кодом, </a:t>
            </a:r>
            <a:r>
              <a:rPr lang="en-US" sz="2000" dirty="0">
                <a:solidFill>
                  <a:srgbClr val="111111"/>
                </a:solidFill>
                <a:latin typeface="-apple-system"/>
              </a:rPr>
              <a:t>                  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представляющий систему управления репозиториями кода для </a:t>
            </a:r>
            <a:r>
              <a:rPr lang="ru-RU" sz="2000" dirty="0" err="1">
                <a:solidFill>
                  <a:srgbClr val="111111"/>
                </a:solidFill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 с собственной вики</a:t>
            </a:r>
            <a:r>
              <a:rPr lang="en-US" sz="2000" dirty="0">
                <a:solidFill>
                  <a:srgbClr val="111111"/>
                </a:solidFill>
                <a:latin typeface="-apple-system"/>
              </a:rPr>
              <a:t>,              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системой</a:t>
            </a:r>
            <a:r>
              <a:rPr lang="en-US" sz="2000" dirty="0">
                <a:solidFill>
                  <a:srgbClr val="111111"/>
                </a:solidFill>
                <a:latin typeface="-apple-system"/>
              </a:rPr>
              <a:t> 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отслеживания ошибок, CI/CD </a:t>
            </a:r>
            <a:r>
              <a:rPr lang="ru-RU" sz="2000" dirty="0" err="1">
                <a:solidFill>
                  <a:srgbClr val="111111"/>
                </a:solidFill>
                <a:latin typeface="-apple-system"/>
              </a:rPr>
              <a:t>пайплайн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 и другими функциями.</a:t>
            </a:r>
          </a:p>
          <a:p>
            <a:r>
              <a:rPr lang="ru-RU" sz="2000" b="1" dirty="0" err="1">
                <a:solidFill>
                  <a:srgbClr val="111111"/>
                </a:solidFill>
                <a:latin typeface="-apple-system"/>
                <a:hlinkClick r:id="rId5"/>
              </a:rPr>
              <a:t>BitBucket</a:t>
            </a:r>
            <a:r>
              <a:rPr lang="ru-RU" sz="2000" dirty="0">
                <a:solidFill>
                  <a:srgbClr val="111111"/>
                </a:solidFill>
                <a:latin typeface="-apple-system"/>
                <a:hlinkClick r:id="rId5"/>
              </a:rPr>
              <a:t> 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— веб-сервис для хостинга проектов и их совместной разработки, основанный </a:t>
            </a:r>
            <a:r>
              <a:rPr lang="en-US" sz="2000" dirty="0">
                <a:solidFill>
                  <a:srgbClr val="111111"/>
                </a:solidFill>
                <a:latin typeface="-apple-system"/>
              </a:rPr>
              <a:t>                         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на системе контроля версий </a:t>
            </a:r>
            <a:r>
              <a:rPr lang="ru-RU" sz="2000" dirty="0" err="1">
                <a:solidFill>
                  <a:srgbClr val="111111"/>
                </a:solidFill>
                <a:latin typeface="-apple-system"/>
              </a:rPr>
              <a:t>Mercurial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 и </a:t>
            </a:r>
            <a:r>
              <a:rPr lang="ru-RU" sz="2000" dirty="0" err="1">
                <a:solidFill>
                  <a:srgbClr val="111111"/>
                </a:solidFill>
                <a:latin typeface="-apple-system"/>
              </a:rPr>
              <a:t>Git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. </a:t>
            </a:r>
          </a:p>
          <a:p>
            <a:r>
              <a:rPr lang="ru-RU" sz="2000" dirty="0">
                <a:solidFill>
                  <a:srgbClr val="111111"/>
                </a:solidFill>
                <a:latin typeface="-apple-system"/>
              </a:rPr>
              <a:t>И другие (зеркало</a:t>
            </a:r>
            <a:r>
              <a:rPr lang="en-US" sz="2000" dirty="0">
                <a:solidFill>
                  <a:srgbClr val="111111"/>
                </a:solidFill>
                <a:latin typeface="-apple-system"/>
              </a:rPr>
              <a:t>/</a:t>
            </a:r>
            <a:r>
              <a:rPr lang="ru-RU" sz="2000" dirty="0">
                <a:solidFill>
                  <a:srgbClr val="111111"/>
                </a:solidFill>
                <a:latin typeface="-apple-system"/>
              </a:rPr>
              <a:t>национальный репозиторий)</a:t>
            </a:r>
          </a:p>
          <a:p>
            <a:pPr marL="0" indent="0">
              <a:buNone/>
            </a:pP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Наличие удаленного репозитория может быть полезным и при одиночной разработке: оно позволяет синхронизировать состояние проекта на разных компьютерах и просто сохранить проект на внешнем сервере.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C4F902-9E94-472E-BBB1-95E592F75D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727" y="2311973"/>
            <a:ext cx="2050473" cy="138407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551F5E3-9401-4084-A440-8FA69ECDC3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0271" y="3336953"/>
            <a:ext cx="1704498" cy="154512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6F377C1-8FD5-460C-8152-20D98CE204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488" y="4412583"/>
            <a:ext cx="2224712" cy="138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68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582FE-84A9-401B-B070-5C6F56648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-113724"/>
            <a:ext cx="10515600" cy="1325563"/>
          </a:xfrm>
        </p:spPr>
        <p:txBody>
          <a:bodyPr/>
          <a:lstStyle/>
          <a:p>
            <a:pPr algn="ctr"/>
            <a:r>
              <a:rPr lang="ru-RU" sz="4400" dirty="0"/>
              <a:t>Основные термины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F02136-C2B7-4052-A116-FA509D27D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059" y="868218"/>
            <a:ext cx="11869881" cy="5818909"/>
          </a:xfrm>
        </p:spPr>
        <p:txBody>
          <a:bodyPr>
            <a:normAutofit/>
          </a:bodyPr>
          <a:lstStyle/>
          <a:p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Репозиторий (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repository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)</a:t>
            </a:r>
            <a:r>
              <a:rPr lang="ru-RU" sz="1800" b="1" i="0" dirty="0">
                <a:solidFill>
                  <a:srgbClr val="111111"/>
                </a:solidFill>
                <a:effectLst/>
                <a:latin typeface="-apple-system"/>
              </a:rPr>
              <a:t> 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— совокупность файлов, состояние которых отслеживается, и история их изменений. 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Коммит (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commit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)</a:t>
            </a:r>
            <a:r>
              <a:rPr lang="ru-RU" sz="1800" b="1" i="0" dirty="0">
                <a:solidFill>
                  <a:srgbClr val="111111"/>
                </a:solidFill>
                <a:effectLst/>
                <a:latin typeface="-apple-system"/>
              </a:rPr>
              <a:t> 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— сохраненное состояние (версия) файлов репозитория.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Ветка (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branch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)</a:t>
            </a:r>
            <a:r>
              <a:rPr lang="ru-RU" sz="1800" b="1" i="0" dirty="0">
                <a:solidFill>
                  <a:srgbClr val="111111"/>
                </a:solidFill>
                <a:effectLst/>
                <a:latin typeface="-apple-system"/>
              </a:rPr>
              <a:t> 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— последовательность коммитов (история изменения состояния репозитория). Каждый коммит в ветке имеет «родителя» (</a:t>
            </a:r>
            <a:r>
              <a:rPr lang="ru-RU" sz="1800" b="0" i="1" dirty="0" err="1">
                <a:solidFill>
                  <a:srgbClr val="111111"/>
                </a:solidFill>
                <a:effectLst/>
                <a:latin typeface="-apple-system"/>
              </a:rPr>
              <a:t>parent</a:t>
            </a:r>
            <a:r>
              <a:rPr lang="ru-RU" sz="1800" b="0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0" i="1" dirty="0" err="1">
                <a:solidFill>
                  <a:srgbClr val="111111"/>
                </a:solidFill>
                <a:effectLst/>
                <a:latin typeface="-apple-system"/>
              </a:rPr>
              <a:t>commit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) — коммит, на основе которого был получен текущий. В репозитории может быть несколько веток (в случаях, когда к одной версии репозитория применяется несколько независимых изменений).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Мердж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 (слияние,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merge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)</a:t>
            </a:r>
            <a:r>
              <a:rPr lang="ru-RU" sz="1800" b="1" i="0" dirty="0">
                <a:solidFill>
                  <a:srgbClr val="111111"/>
                </a:solidFill>
                <a:effectLst/>
                <a:latin typeface="-apple-system"/>
              </a:rPr>
              <a:t> 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— объединение двух или более веток. В процессе 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мерджа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 изменения с указанной ветки переносятся (копируются) в текущую.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Мастер (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master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,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main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)</a:t>
            </a:r>
            <a:r>
              <a:rPr lang="ru-RU" sz="1800" b="1" i="0" dirty="0">
                <a:solidFill>
                  <a:srgbClr val="111111"/>
                </a:solidFill>
                <a:effectLst/>
                <a:latin typeface="-apple-system"/>
              </a:rPr>
              <a:t> 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— основная ветка репозитория, создается автоматически при создании репозитория.</a:t>
            </a:r>
          </a:p>
          <a:p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Мердж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 коммит (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merge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commit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)</a:t>
            </a:r>
            <a:r>
              <a:rPr lang="ru-RU" sz="1800" b="1" i="0" dirty="0">
                <a:solidFill>
                  <a:srgbClr val="111111"/>
                </a:solidFill>
                <a:effectLst/>
                <a:latin typeface="-apple-system"/>
              </a:rPr>
              <a:t> 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— коммит, который создается автоматически по завершению процесса слияния веток. 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Мердж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 коммит содержит в себе все изменения целевой ветки 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мерджа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, которые отсутствуют в текущей (все коммиты целевой ветки, которые начиная с базы слияния, но не включая её).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Мердж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 конфликт (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merge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conflict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)</a:t>
            </a:r>
            <a:r>
              <a:rPr lang="ru-RU" sz="1800" b="1" i="0" dirty="0">
                <a:solidFill>
                  <a:srgbClr val="111111"/>
                </a:solidFill>
                <a:effectLst/>
                <a:latin typeface="-apple-system"/>
              </a:rPr>
              <a:t> 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— ситуация, когда при слиянии веток в один или несколько файлов вносились независимые изменения. В некоторых случаях (например, если изменялись разные, не пересекающиеся части одного файла) 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git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 способен самостоятельно решить, как выполнять слияние таких файлов. Если автоматически это сделать не удалось — возникает конфликт. В таком случае необходимо самостоятельно указать, как выполнять слияние конфликтующих версий (</a:t>
            </a:r>
            <a:r>
              <a:rPr lang="ru-RU" sz="1800" b="0" i="1" dirty="0">
                <a:solidFill>
                  <a:srgbClr val="111111"/>
                </a:solidFill>
                <a:effectLst/>
                <a:latin typeface="-apple-system"/>
              </a:rPr>
              <a:t>решить конфликт, </a:t>
            </a:r>
            <a:r>
              <a:rPr lang="ru-RU" sz="1800" b="0" i="1" dirty="0" err="1">
                <a:solidFill>
                  <a:srgbClr val="111111"/>
                </a:solidFill>
                <a:effectLst/>
                <a:latin typeface="-apple-system"/>
              </a:rPr>
              <a:t>resolve</a:t>
            </a:r>
            <a:r>
              <a:rPr lang="ru-RU" sz="1800" b="0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0" i="1" dirty="0" err="1">
                <a:solidFill>
                  <a:srgbClr val="111111"/>
                </a:solidFill>
                <a:effectLst/>
                <a:latin typeface="-apple-system"/>
              </a:rPr>
              <a:t>merge</a:t>
            </a:r>
            <a:r>
              <a:rPr lang="ru-RU" sz="1800" b="0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0" i="1" dirty="0" err="1">
                <a:solidFill>
                  <a:srgbClr val="111111"/>
                </a:solidFill>
                <a:effectLst/>
                <a:latin typeface="-apple-system"/>
              </a:rPr>
              <a:t>conflict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). Изменения, внесенные в процессе решения конфликта автоматически попадают в 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мердж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 коммит.</a:t>
            </a:r>
          </a:p>
        </p:txBody>
      </p:sp>
    </p:spTree>
    <p:extLst>
      <p:ext uri="{BB962C8B-B14F-4D97-AF65-F5344CB8AC3E}">
        <p14:creationId xmlns:p14="http://schemas.microsoft.com/office/powerpoint/2010/main" val="2636210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7A71B-CC72-4D21-A7E6-A424B6E80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0317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Ветки (</a:t>
            </a:r>
            <a:r>
              <a:rPr lang="en-US" dirty="0"/>
              <a:t>branch)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12606-0E43-4E34-990E-D0A099CDD588}"/>
              </a:ext>
            </a:extLst>
          </p:cNvPr>
          <p:cNvSpPr txBox="1"/>
          <p:nvPr/>
        </p:nvSpPr>
        <p:spPr>
          <a:xfrm>
            <a:off x="3177308" y="870840"/>
            <a:ext cx="881149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Представьте, что вам нужно внести множество изменений в файлы вашего рабочего каталога, но эта работа 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экспериментальная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– не факт, что всё получится хорошо. Вы бы не хотели, чтобы ваши изменения увидели другие сотрудники до тех пор, пока работа не будет закончена. Может просто ничего не коммитить до тех пор? 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Это плохой вариант.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b="1" i="1" dirty="0">
                <a:solidFill>
                  <a:srgbClr val="111111"/>
                </a:solidFill>
                <a:effectLst/>
                <a:latin typeface="-apple-system"/>
              </a:rPr>
              <a:t>Частые коммиты и пуши – залог сохранности вашей работы, 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а также возможность посмотреть историю изменений. К счастью, в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Git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есть механизм веток, который позволит нам коммитить и пушить, но не мешать другим сотрудникам.</a:t>
            </a:r>
          </a:p>
          <a:p>
            <a:endParaRPr lang="ru-RU" b="0" i="0" dirty="0">
              <a:solidFill>
                <a:srgbClr val="111111"/>
              </a:solidFill>
              <a:effectLst/>
              <a:latin typeface="-apple-system"/>
            </a:endParaRPr>
          </a:p>
          <a:p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Перед началом экспериментальных изменений вы должны создать 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ветку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 У ветки есть имя. Пусть она будет называться </a:t>
            </a:r>
            <a:r>
              <a:rPr lang="ru-RU" b="1" i="1" dirty="0" err="1">
                <a:solidFill>
                  <a:srgbClr val="111111"/>
                </a:solidFill>
                <a:effectLst/>
                <a:latin typeface="-apple-system"/>
              </a:rPr>
              <a:t>my</a:t>
            </a:r>
            <a:r>
              <a:rPr lang="ru-RU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b="1" i="1" dirty="0" err="1">
                <a:solidFill>
                  <a:srgbClr val="111111"/>
                </a:solidFill>
                <a:effectLst/>
                <a:latin typeface="-apple-system"/>
              </a:rPr>
              <a:t>test</a:t>
            </a:r>
            <a:r>
              <a:rPr lang="ru-RU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b="1" i="1" dirty="0" err="1">
                <a:solidFill>
                  <a:srgbClr val="111111"/>
                </a:solidFill>
                <a:effectLst/>
                <a:latin typeface="-apple-system"/>
              </a:rPr>
              <a:t>work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 Теперь все ваши коммиты будут идти именно туда. До этого они шли в основную ветку разработки – будем называть её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master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 Другими словами, раньше вы были в ветке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master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(хоть и не знали этого), а сейчас переключились на ветку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my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test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work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 </a:t>
            </a:r>
          </a:p>
          <a:p>
            <a:endParaRPr lang="ru-RU" b="0" i="0" dirty="0">
              <a:solidFill>
                <a:srgbClr val="111111"/>
              </a:solidFill>
              <a:effectLst/>
              <a:latin typeface="-apple-system"/>
            </a:endParaRPr>
          </a:p>
          <a:p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После коммита «3» создана ветка и ваши новые коммиты «4»и «5» пошли в неё. А ваши коллеги остались в ветке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master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, поэтому их новые коммиты «6», «7», «8» добавляются в ветку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master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 История перестала быть линейной.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На что это повлияло? Сотрудники теперь не видят изменений файлов, которые вы делаете. А вы не видите их изменений в своих рабочих файлах. Хотя историю изменений в ветке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master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вы все-таки посмотреть можете.</a:t>
            </a:r>
            <a:br>
              <a:rPr lang="ru-RU" dirty="0"/>
            </a:br>
            <a:endParaRPr lang="ru-RU" dirty="0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B97188BC-3B5B-4BD9-992C-26F129423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72" y="1908743"/>
            <a:ext cx="2656401" cy="3627269"/>
          </a:xfrm>
        </p:spPr>
      </p:pic>
    </p:spTree>
    <p:extLst>
      <p:ext uri="{BB962C8B-B14F-4D97-AF65-F5344CB8AC3E}">
        <p14:creationId xmlns:p14="http://schemas.microsoft.com/office/powerpoint/2010/main" val="3132952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FC32F-63AB-4528-AB11-C6F782E8A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6394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Слияние веток</a:t>
            </a:r>
            <a:r>
              <a:rPr lang="en-US" dirty="0"/>
              <a:t> (merge)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D6C8B0-D884-4EBA-B932-E9EF8C7CF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95153"/>
            <a:ext cx="11104419" cy="507097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Теперь мы знаем, что каждый может создать ветки и работать независимо. Можно по очереди работать то в одной ветке, то в другой – переключаясь между ними. Ветки переключает команда </a:t>
            </a:r>
            <a:r>
              <a:rPr lang="ru-RU" sz="1800" b="1" dirty="0" err="1">
                <a:solidFill>
                  <a:srgbClr val="111111"/>
                </a:solidFill>
                <a:effectLst/>
                <a:latin typeface="-apple-system"/>
              </a:rPr>
              <a:t>checkout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  <a:br>
              <a:rPr lang="ru-RU" sz="1800" dirty="0"/>
            </a:br>
            <a:br>
              <a:rPr lang="ru-RU" sz="1800" dirty="0"/>
            </a:b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Но вернёмся к примеру с вашей экспериментальной работой. Допустим мы решили, что она не удалась. Вы вернулись в ветку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master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 и потеряли изменения, сделанные в ветке 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my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test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work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. А если все получилось? Вы хотите перенести свои изменения в ветку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master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, чтобы их увидели сотрудники, которые с ней работают. </a:t>
            </a:r>
            <a:r>
              <a:rPr lang="ru-RU" sz="1800" b="1" i="0" dirty="0" err="1">
                <a:solidFill>
                  <a:srgbClr val="111111"/>
                </a:solidFill>
                <a:effectLst/>
                <a:latin typeface="-apple-system"/>
              </a:rPr>
              <a:t>Git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 может помочь – выполним команду </a:t>
            </a:r>
            <a:r>
              <a:rPr lang="ru-RU" sz="1800" b="1" i="0" dirty="0" err="1">
                <a:solidFill>
                  <a:srgbClr val="111111"/>
                </a:solidFill>
                <a:effectLst/>
                <a:latin typeface="-apple-system"/>
              </a:rPr>
              <a:t>merge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 ветки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my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test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work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в ветку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master</a:t>
            </a:r>
            <a:r>
              <a:rPr lang="ru-RU" sz="1800" dirty="0">
                <a:solidFill>
                  <a:srgbClr val="111111"/>
                </a:solidFill>
                <a:latin typeface="-apple-system"/>
              </a:rPr>
              <a:t>.</a:t>
            </a:r>
            <a:endParaRPr lang="ru-RU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3C051B-765B-4D45-95C7-779297B11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75" y="2942777"/>
            <a:ext cx="2958730" cy="35174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FDF07C-501A-44AB-BBC3-68AFA767CD34}"/>
              </a:ext>
            </a:extLst>
          </p:cNvPr>
          <p:cNvSpPr txBox="1"/>
          <p:nvPr/>
        </p:nvSpPr>
        <p:spPr>
          <a:xfrm>
            <a:off x="3244608" y="3016300"/>
            <a:ext cx="869801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Здесь коммит «8» – это </a:t>
            </a:r>
            <a:r>
              <a:rPr lang="ru-RU" b="1" i="0" dirty="0" err="1">
                <a:solidFill>
                  <a:srgbClr val="111111"/>
                </a:solidFill>
                <a:effectLst/>
                <a:latin typeface="-apple-system"/>
              </a:rPr>
              <a:t>merge-commit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 Когда мы выполняем команду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merge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, система сама создает этот коммит. В нём объединены изменения ваших коллег из коммитов «5», «6», «7», а также ваша работа из коммитов «3», «4».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Изменения из коммитов «1» и «2» объединять не нужно, ведь они были сделаны до создания ветки. А значит изначально были и в ветке </a:t>
            </a:r>
            <a:r>
              <a:rPr lang="ru-RU" b="1" i="1" dirty="0" err="1">
                <a:solidFill>
                  <a:srgbClr val="111111"/>
                </a:solidFill>
                <a:effectLst/>
                <a:latin typeface="-apple-system"/>
              </a:rPr>
              <a:t>master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, и в ветке </a:t>
            </a:r>
            <a:r>
              <a:rPr lang="ru-RU" b="1" i="1" dirty="0" err="1">
                <a:solidFill>
                  <a:srgbClr val="111111"/>
                </a:solidFill>
                <a:effectLst/>
                <a:latin typeface="-apple-system"/>
              </a:rPr>
              <a:t>my</a:t>
            </a:r>
            <a:r>
              <a:rPr lang="ru-RU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b="1" i="1" dirty="0" err="1">
                <a:solidFill>
                  <a:srgbClr val="111111"/>
                </a:solidFill>
                <a:effectLst/>
                <a:latin typeface="-apple-system"/>
              </a:rPr>
              <a:t>test</a:t>
            </a:r>
            <a:r>
              <a:rPr lang="ru-RU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b="1" i="1" dirty="0" err="1">
                <a:solidFill>
                  <a:srgbClr val="111111"/>
                </a:solidFill>
                <a:effectLst/>
                <a:latin typeface="-apple-system"/>
              </a:rPr>
              <a:t>work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Команда </a:t>
            </a:r>
            <a:r>
              <a:rPr lang="ru-RU" b="1" i="0" dirty="0" err="1">
                <a:solidFill>
                  <a:srgbClr val="111111"/>
                </a:solidFill>
                <a:effectLst/>
                <a:latin typeface="-apple-system"/>
              </a:rPr>
              <a:t>merge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ничего не посылает в </a:t>
            </a:r>
            <a:r>
              <a:rPr lang="ru-RU" b="1" i="1" dirty="0" err="1">
                <a:solidFill>
                  <a:srgbClr val="111111"/>
                </a:solidFill>
                <a:effectLst/>
                <a:latin typeface="-apple-system"/>
              </a:rPr>
              <a:t>origin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 Единственный ее результат – это </a:t>
            </a:r>
            <a:r>
              <a:rPr lang="ru-RU" b="1" dirty="0" err="1">
                <a:solidFill>
                  <a:srgbClr val="111111"/>
                </a:solidFill>
                <a:effectLst/>
                <a:latin typeface="-apple-system"/>
              </a:rPr>
              <a:t>merge-commit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(на рисунке кружок с номером 8), который появится у вас на компьютере. Его нужно запушить, как и ваши обычные коммиты. Только после этого </a:t>
            </a:r>
            <a:r>
              <a:rPr lang="ru-RU" b="1" dirty="0" err="1">
                <a:solidFill>
                  <a:srgbClr val="111111"/>
                </a:solidFill>
                <a:effectLst/>
                <a:latin typeface="-apple-system"/>
              </a:rPr>
              <a:t>merge-commit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отправится на </a:t>
            </a:r>
            <a:r>
              <a:rPr lang="ru-RU" b="1" i="1" dirty="0" err="1">
                <a:solidFill>
                  <a:srgbClr val="111111"/>
                </a:solidFill>
                <a:effectLst/>
                <a:latin typeface="-apple-system"/>
              </a:rPr>
              <a:t>origin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– тогда коллеги увидят результат вашей работы, сделав </a:t>
            </a:r>
            <a:r>
              <a:rPr lang="ru-RU" b="1" i="0" dirty="0" err="1">
                <a:solidFill>
                  <a:srgbClr val="111111"/>
                </a:solidFill>
                <a:effectLst/>
                <a:latin typeface="-apple-system"/>
              </a:rPr>
              <a:t>pull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7689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73D18-A94E-4CA0-A10A-0A2F50F63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10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Несколько слияний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48103C-0BB2-42BA-9A37-0961FF42E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825" y="1714411"/>
            <a:ext cx="6469677" cy="3689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Мы уже узнали, как сделать новую ветку, поработать в ней и залить изменения в главную ветку. На картинке после объединения ветки слились вместе. Означает ли это, что в ветке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my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test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work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теперь работать нельзя – она ведь уже объединилась с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master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? Нет, вы можете продолжать коммитить в ветку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my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test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1" i="1" dirty="0" err="1">
                <a:solidFill>
                  <a:srgbClr val="111111"/>
                </a:solidFill>
                <a:effectLst/>
                <a:latin typeface="-apple-system"/>
              </a:rPr>
              <a:t>work</a:t>
            </a:r>
            <a:r>
              <a:rPr lang="ru-RU" sz="1800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и периодически 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мержить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 в главную ветку. 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111111"/>
                </a:solidFill>
                <a:latin typeface="-apple-system"/>
              </a:rPr>
              <a:t>Можно ли </a:t>
            </a:r>
            <a:r>
              <a:rPr lang="ru-RU" sz="1800" dirty="0" err="1">
                <a:solidFill>
                  <a:srgbClr val="111111"/>
                </a:solidFill>
                <a:latin typeface="-apple-system"/>
              </a:rPr>
              <a:t>мержить</a:t>
            </a:r>
            <a:r>
              <a:rPr lang="ru-RU" sz="1800" dirty="0">
                <a:solidFill>
                  <a:srgbClr val="111111"/>
                </a:solidFill>
                <a:latin typeface="-apple-system"/>
              </a:rPr>
              <a:t> в обратную сторону и есть ли в этом смысл? Можно. Есть.</a:t>
            </a:r>
            <a:br>
              <a:rPr lang="ru-RU" sz="1800" dirty="0">
                <a:solidFill>
                  <a:srgbClr val="111111"/>
                </a:solidFill>
                <a:latin typeface="-apple-system"/>
              </a:rPr>
            </a:br>
            <a:br>
              <a:rPr lang="ru-RU" sz="1800" dirty="0">
                <a:solidFill>
                  <a:srgbClr val="111111"/>
                </a:solidFill>
                <a:latin typeface="-apple-system"/>
              </a:rPr>
            </a:br>
            <a:r>
              <a:rPr lang="ru-RU" sz="1800" dirty="0">
                <a:solidFill>
                  <a:srgbClr val="111111"/>
                </a:solidFill>
                <a:latin typeface="-apple-system"/>
              </a:rPr>
              <a:t>Если вы долго работаете в своей ветке, рекомендуется периодически делать </a:t>
            </a:r>
            <a:r>
              <a:rPr lang="ru-RU" sz="1800" dirty="0" err="1">
                <a:solidFill>
                  <a:srgbClr val="111111"/>
                </a:solidFill>
                <a:latin typeface="-apple-system"/>
              </a:rPr>
              <a:t>мерж</a:t>
            </a:r>
            <a:r>
              <a:rPr lang="ru-RU" sz="1800" dirty="0">
                <a:solidFill>
                  <a:srgbClr val="111111"/>
                </a:solidFill>
                <a:latin typeface="-apple-system"/>
              </a:rPr>
              <a:t> в неё из главной ветки. Это необходимо, чтобы вы работали с актуальными версиями файлов, которые меняют другие люди.</a:t>
            </a:r>
          </a:p>
          <a:p>
            <a:pPr marL="0" indent="0">
              <a:buNone/>
            </a:pPr>
            <a:endParaRPr lang="ru-RU" sz="1800" dirty="0">
              <a:solidFill>
                <a:srgbClr val="111111"/>
              </a:solidFill>
              <a:latin typeface="-apple-system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914BE14-13CB-46CC-88BE-57C53579D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85" y="1413325"/>
            <a:ext cx="2641270" cy="429206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C5608FC-7A6B-414B-8643-96C0CA0BA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555" y="1244873"/>
            <a:ext cx="2412698" cy="436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783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437AD7-8C37-4566-B64F-A0387E47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7178"/>
            <a:ext cx="10515600" cy="1325563"/>
          </a:xfrm>
        </p:spPr>
        <p:txBody>
          <a:bodyPr/>
          <a:lstStyle/>
          <a:p>
            <a:pPr algn="ctr"/>
            <a:r>
              <a:rPr lang="ru-RU" b="0" i="0" dirty="0">
                <a:solidFill>
                  <a:srgbClr val="11111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dirty="0"/>
              <a:t>Коммиты и их </a:t>
            </a:r>
            <a:r>
              <a:rPr lang="ru-RU" dirty="0" err="1"/>
              <a:t>хеши</a:t>
            </a:r>
            <a:r>
              <a:rPr lang="en-US" dirty="0"/>
              <a:t>, </a:t>
            </a:r>
            <a:r>
              <a:rPr lang="ru-RU" dirty="0"/>
              <a:t>теги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8079EF-AA83-409B-A5B4-1D75BBD36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410" y="972252"/>
            <a:ext cx="6087292" cy="56871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Как 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Git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 различает коммиты? На картинках мы для простоты помечали их порядковыми номерами (или буквами). На самом деле каждый коммит в 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Git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 обозначается вот такой строкой:</a:t>
            </a:r>
            <a:br>
              <a:rPr lang="ru-RU" sz="1800" dirty="0">
                <a:latin typeface="-apple-system"/>
              </a:rPr>
            </a:br>
            <a:br>
              <a:rPr lang="ru-RU" sz="1800" dirty="0">
                <a:latin typeface="-apple-system"/>
              </a:rPr>
            </a:b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e09844739f6f355e169f701a5b7ae02c214d5fb0</a:t>
            </a:r>
            <a:br>
              <a:rPr lang="ru-RU" sz="1800" dirty="0">
                <a:latin typeface="-apple-system"/>
              </a:rPr>
            </a:br>
            <a:br>
              <a:rPr lang="ru-RU" sz="1800" dirty="0">
                <a:latin typeface="-apple-system"/>
              </a:rPr>
            </a:b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Это «названия» коммитов, которые 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Git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 автоматически даёт им при создании. Вообще, такие строки принято называть «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хеш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». У каждого коммита 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хеш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 разный. Если вы хотите кому-то сообщить об определённом коммите, можно отправить человеку 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хеш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 этого коммита. Зная </a:t>
            </a:r>
            <a:r>
              <a:rPr lang="ru-RU" sz="1800" b="0" i="0" dirty="0" err="1">
                <a:solidFill>
                  <a:srgbClr val="111111"/>
                </a:solidFill>
                <a:effectLst/>
                <a:latin typeface="-apple-system"/>
              </a:rPr>
              <a:t>хеш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, он сможет найти этот коммит (если это ваш коммит, то, конечно, его надо сначала запушить).</a:t>
            </a:r>
            <a:endParaRPr lang="en-US" sz="1800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0" indent="0">
              <a:buNone/>
            </a:pPr>
            <a:r>
              <a:rPr lang="ru-RU" sz="1800" b="1" i="1" dirty="0">
                <a:solidFill>
                  <a:srgbClr val="111111"/>
                </a:solidFill>
                <a:latin typeface="-apple-system"/>
              </a:rPr>
              <a:t>Теги</a:t>
            </a:r>
            <a:r>
              <a:rPr lang="en-US" sz="1800" b="1" i="1" dirty="0">
                <a:solidFill>
                  <a:srgbClr val="111111"/>
                </a:solidFill>
                <a:latin typeface="-apple-system"/>
              </a:rPr>
              <a:t> (Tags)</a:t>
            </a:r>
            <a:r>
              <a:rPr lang="ru-RU" sz="1800" dirty="0">
                <a:solidFill>
                  <a:srgbClr val="111111"/>
                </a:solidFill>
                <a:latin typeface="-apple-system"/>
              </a:rPr>
              <a:t> — это ссылки, указывающие на определенные точки в истории </a:t>
            </a:r>
            <a:r>
              <a:rPr lang="ru-RU" sz="1800" dirty="0" err="1">
                <a:solidFill>
                  <a:srgbClr val="111111"/>
                </a:solidFill>
                <a:latin typeface="-apple-system"/>
              </a:rPr>
              <a:t>Git</a:t>
            </a:r>
            <a:r>
              <a:rPr lang="ru-RU" sz="1800" dirty="0">
                <a:solidFill>
                  <a:srgbClr val="111111"/>
                </a:solidFill>
                <a:latin typeface="-apple-system"/>
              </a:rPr>
              <a:t>. </a:t>
            </a:r>
            <a:r>
              <a:rPr lang="ru-RU" sz="1800" b="1" dirty="0">
                <a:solidFill>
                  <a:srgbClr val="111111"/>
                </a:solidFill>
                <a:latin typeface="-apple-system"/>
              </a:rPr>
              <a:t>Команда </a:t>
            </a:r>
            <a:r>
              <a:rPr lang="ru-RU" sz="1800" b="1" dirty="0" err="1">
                <a:solidFill>
                  <a:srgbClr val="111111"/>
                </a:solidFill>
                <a:latin typeface="-apple-system"/>
              </a:rPr>
              <a:t>git</a:t>
            </a:r>
            <a:r>
              <a:rPr lang="ru-RU" sz="1800" b="1" dirty="0">
                <a:solidFill>
                  <a:srgbClr val="111111"/>
                </a:solidFill>
                <a:latin typeface="-apple-system"/>
              </a:rPr>
              <a:t> </a:t>
            </a:r>
            <a:r>
              <a:rPr lang="ru-RU" sz="1800" b="1" dirty="0" err="1">
                <a:solidFill>
                  <a:srgbClr val="111111"/>
                </a:solidFill>
                <a:latin typeface="-apple-system"/>
              </a:rPr>
              <a:t>tag</a:t>
            </a:r>
            <a:r>
              <a:rPr lang="ru-RU" sz="1800" b="1" dirty="0">
                <a:solidFill>
                  <a:srgbClr val="111111"/>
                </a:solidFill>
                <a:latin typeface="-apple-system"/>
              </a:rPr>
              <a:t> </a:t>
            </a:r>
            <a:r>
              <a:rPr lang="ru-RU" sz="1800" dirty="0">
                <a:solidFill>
                  <a:srgbClr val="111111"/>
                </a:solidFill>
                <a:latin typeface="-apple-system"/>
              </a:rPr>
              <a:t>обычно используется для захвата некой точки в истории, которая используется для релиза нумерованной версии (например, v1.0.1). Теги похожи на неизменяемые ветки, но они, в отличие от веток, не имеют истории коммитов после создания.</a:t>
            </a:r>
          </a:p>
          <a:p>
            <a:pPr marL="0" indent="0">
              <a:buNone/>
            </a:pP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Выше мы часто упоминали </a:t>
            </a:r>
            <a:r>
              <a:rPr lang="ru-RU" sz="1800" b="1" i="0" dirty="0">
                <a:solidFill>
                  <a:srgbClr val="111111"/>
                </a:solidFill>
                <a:effectLst/>
                <a:latin typeface="-apple-system"/>
              </a:rPr>
              <a:t>пуш</a:t>
            </a:r>
            <a:r>
              <a:rPr lang="ru-RU" sz="1800" b="1" dirty="0">
                <a:solidFill>
                  <a:srgbClr val="111111"/>
                </a:solidFill>
                <a:latin typeface="-apple-system"/>
              </a:rPr>
              <a:t>и (</a:t>
            </a:r>
            <a:r>
              <a:rPr lang="en-US" sz="1800" b="1" dirty="0">
                <a:solidFill>
                  <a:srgbClr val="111111"/>
                </a:solidFill>
                <a:latin typeface="-apple-system"/>
              </a:rPr>
              <a:t>push)</a:t>
            </a:r>
            <a:r>
              <a:rPr lang="ru-RU" sz="1800" dirty="0">
                <a:solidFill>
                  <a:srgbClr val="111111"/>
                </a:solidFill>
                <a:latin typeface="-apple-system"/>
              </a:rPr>
              <a:t>, так что же это такое? </a:t>
            </a:r>
            <a:r>
              <a:rPr lang="ru-RU" sz="1800" b="0" i="0" dirty="0">
                <a:solidFill>
                  <a:srgbClr val="111111"/>
                </a:solidFill>
                <a:effectLst/>
                <a:latin typeface="-apple-system"/>
              </a:rPr>
              <a:t>Есть два варианта синхронизации изменений проекта</a:t>
            </a:r>
            <a:r>
              <a:rPr lang="en-US" sz="1800" dirty="0">
                <a:solidFill>
                  <a:srgbClr val="111111"/>
                </a:solidFill>
                <a:latin typeface="-apple-system"/>
              </a:rPr>
              <a:t>.</a:t>
            </a:r>
            <a:endParaRPr lang="ru-RU" sz="1800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marL="0" indent="0">
              <a:buNone/>
            </a:pPr>
            <a:endParaRPr lang="ru-RU" sz="1800" dirty="0">
              <a:solidFill>
                <a:srgbClr val="111111"/>
              </a:solidFill>
              <a:latin typeface="-apple-system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0F32E90-8770-410C-BF93-359357E20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27" y="1061245"/>
            <a:ext cx="5324080" cy="532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856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CBFAE-A001-49A7-8757-9614E6A58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9178"/>
            <a:ext cx="10515600" cy="1325563"/>
          </a:xfrm>
        </p:spPr>
        <p:txBody>
          <a:bodyPr/>
          <a:lstStyle/>
          <a:p>
            <a:pPr algn="ctr"/>
            <a:r>
              <a:rPr lang="ru-RU" dirty="0" err="1"/>
              <a:t>пулл</a:t>
            </a:r>
            <a:r>
              <a:rPr lang="ru-RU" dirty="0"/>
              <a:t> (</a:t>
            </a:r>
            <a:r>
              <a:rPr lang="en-US" dirty="0"/>
              <a:t>pull)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BA2578-2F2D-45A8-9BED-909D5067A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9417" y="1478252"/>
            <a:ext cx="5347853" cy="44105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i="1" dirty="0" err="1">
                <a:solidFill>
                  <a:srgbClr val="111111"/>
                </a:solidFill>
                <a:effectLst/>
                <a:latin typeface="-apple-system"/>
              </a:rPr>
              <a:t>пулл</a:t>
            </a:r>
            <a:r>
              <a:rPr lang="ru-RU" sz="2200" b="1" i="1" dirty="0">
                <a:solidFill>
                  <a:srgbClr val="111111"/>
                </a:solidFill>
                <a:effectLst/>
                <a:latin typeface="-apple-system"/>
              </a:rPr>
              <a:t> (</a:t>
            </a:r>
            <a:r>
              <a:rPr lang="ru-RU" sz="2200" b="1" i="1" dirty="0" err="1">
                <a:solidFill>
                  <a:srgbClr val="111111"/>
                </a:solidFill>
                <a:effectLst/>
                <a:latin typeface="-apple-system"/>
              </a:rPr>
              <a:t>pull</a:t>
            </a:r>
            <a:r>
              <a:rPr lang="ru-RU" sz="2200" b="1" i="1" dirty="0">
                <a:solidFill>
                  <a:srgbClr val="111111"/>
                </a:solidFill>
                <a:effectLst/>
                <a:latin typeface="-apple-system"/>
              </a:rPr>
              <a:t>)</a:t>
            </a: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 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— слияние состояния удаленного репозитория и локального (обычно — в отдельной ветке). </a:t>
            </a:r>
            <a:r>
              <a:rPr lang="ru-RU" sz="2200" b="1" i="0" dirty="0" err="1">
                <a:solidFill>
                  <a:srgbClr val="111111"/>
                </a:solidFill>
                <a:effectLst/>
                <a:latin typeface="-apple-system"/>
              </a:rPr>
              <a:t>Пулл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 может выполняться как для одной и той же ветки (с одинаковым именем), так и для разных. </a:t>
            </a:r>
            <a:r>
              <a:rPr lang="ru-RU" sz="2200" b="1" i="0" dirty="0" err="1">
                <a:solidFill>
                  <a:srgbClr val="111111"/>
                </a:solidFill>
                <a:effectLst/>
                <a:latin typeface="-apple-system"/>
              </a:rPr>
              <a:t>Пулл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 являет собою обычный </a:t>
            </a:r>
            <a:r>
              <a:rPr lang="ru-RU" sz="2200" b="1" i="0" dirty="0" err="1">
                <a:solidFill>
                  <a:srgbClr val="111111"/>
                </a:solidFill>
                <a:effectLst/>
                <a:latin typeface="-apple-system"/>
              </a:rPr>
              <a:t>мердж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, но целевая ветка при этом находится не в том же репозитории, в котором выполняется </a:t>
            </a:r>
            <a:r>
              <a:rPr lang="ru-RU" sz="2200" b="1" i="0" dirty="0" err="1">
                <a:solidFill>
                  <a:srgbClr val="111111"/>
                </a:solidFill>
                <a:effectLst/>
                <a:latin typeface="-apple-system"/>
              </a:rPr>
              <a:t>пулл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, а в удаленном. Как следствие, при </a:t>
            </a:r>
            <a:r>
              <a:rPr lang="ru-RU" sz="2200" b="1" i="0" dirty="0" err="1">
                <a:solidFill>
                  <a:srgbClr val="111111"/>
                </a:solidFill>
                <a:effectLst/>
                <a:latin typeface="-apple-system"/>
              </a:rPr>
              <a:t>пулле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 так же создается </a:t>
            </a:r>
            <a:r>
              <a:rPr lang="ru-RU" sz="2200" b="1" i="0" dirty="0" err="1">
                <a:solidFill>
                  <a:srgbClr val="111111"/>
                </a:solidFill>
                <a:effectLst/>
                <a:latin typeface="-apple-system"/>
              </a:rPr>
              <a:t>мердж</a:t>
            </a: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 коммит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,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пулл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 можно </a:t>
            </a: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отменить (</a:t>
            </a:r>
            <a:r>
              <a:rPr lang="ru-RU" sz="2200" b="1" i="0" dirty="0" err="1">
                <a:solidFill>
                  <a:srgbClr val="111111"/>
                </a:solidFill>
                <a:effectLst/>
                <a:latin typeface="-apple-system"/>
              </a:rPr>
              <a:t>заревертить</a:t>
            </a: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)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 и в его процессе может возникнуть </a:t>
            </a:r>
            <a:r>
              <a:rPr lang="ru-RU" sz="2200" b="1" i="0" dirty="0" err="1">
                <a:solidFill>
                  <a:srgbClr val="111111"/>
                </a:solidFill>
                <a:effectLst/>
                <a:latin typeface="-apple-system"/>
              </a:rPr>
              <a:t>мердж</a:t>
            </a: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 конфликт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B3A37C-DC80-44EA-90BF-12CC3DC1E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91" y="1690688"/>
            <a:ext cx="6148825" cy="368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53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CE20F-D106-41DE-8118-7C92E9A5B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29327"/>
            <a:ext cx="10515600" cy="1325563"/>
          </a:xfrm>
        </p:spPr>
        <p:txBody>
          <a:bodyPr/>
          <a:lstStyle/>
          <a:p>
            <a:pPr algn="ctr"/>
            <a:r>
              <a:rPr lang="ru-RU" dirty="0" err="1"/>
              <a:t>пуш</a:t>
            </a:r>
            <a:r>
              <a:rPr lang="ru-RU" dirty="0"/>
              <a:t> (</a:t>
            </a:r>
            <a:r>
              <a:rPr lang="ru-RU" dirty="0" err="1"/>
              <a:t>push</a:t>
            </a:r>
            <a:r>
              <a:rPr lang="ru-RU" dirty="0"/>
              <a:t>) 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FF6F81-706F-4602-819E-ACA7F464B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055318"/>
            <a:ext cx="6096000" cy="430953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200" b="1" i="1" dirty="0" err="1">
                <a:solidFill>
                  <a:srgbClr val="111111"/>
                </a:solidFill>
                <a:effectLst/>
                <a:latin typeface="-apple-system"/>
              </a:rPr>
              <a:t>пуш</a:t>
            </a:r>
            <a:r>
              <a:rPr lang="ru-RU" sz="2200" b="1" i="1" dirty="0">
                <a:solidFill>
                  <a:srgbClr val="111111"/>
                </a:solidFill>
                <a:effectLst/>
                <a:latin typeface="-apple-system"/>
              </a:rPr>
              <a:t> (</a:t>
            </a:r>
            <a:r>
              <a:rPr lang="ru-RU" sz="2200" b="1" i="1" dirty="0" err="1">
                <a:solidFill>
                  <a:srgbClr val="111111"/>
                </a:solidFill>
                <a:effectLst/>
                <a:latin typeface="-apple-system"/>
              </a:rPr>
              <a:t>push</a:t>
            </a:r>
            <a:r>
              <a:rPr lang="ru-RU" sz="2200" b="1" i="1" dirty="0">
                <a:solidFill>
                  <a:srgbClr val="111111"/>
                </a:solidFill>
                <a:effectLst/>
                <a:latin typeface="-apple-system"/>
              </a:rPr>
              <a:t>) 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— обратный </a:t>
            </a:r>
            <a:r>
              <a:rPr lang="ru-RU" sz="2200" b="1" i="0" dirty="0" err="1">
                <a:solidFill>
                  <a:srgbClr val="111111"/>
                </a:solidFill>
                <a:effectLst/>
                <a:latin typeface="-apple-system"/>
              </a:rPr>
              <a:t>пуллу</a:t>
            </a: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процесс. При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пуше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 изменения из локального репозитория переносятся в удаленный.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Пуш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 обновляет состояние текущей ветки в удаленном репозитории и </a:t>
            </a: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не является </a:t>
            </a:r>
            <a:r>
              <a:rPr lang="ru-RU" sz="2200" b="1" i="0" dirty="0" err="1">
                <a:solidFill>
                  <a:srgbClr val="111111"/>
                </a:solidFill>
                <a:effectLst/>
                <a:latin typeface="-apple-system"/>
              </a:rPr>
              <a:t>мерджем</a:t>
            </a:r>
            <a:r>
              <a:rPr lang="ru-RU" sz="2200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(не создает дополнительные коммиты и не может привести к конфликтам). Если в ветке удаленного репозитория присутствуют коммиты, которых нет в локальном репозитории, сигнализируется ошибка о несовпадении истории изменений (</a:t>
            </a:r>
            <a:r>
              <a:rPr lang="ru-RU" sz="2200" b="1" i="1" dirty="0" err="1">
                <a:solidFill>
                  <a:srgbClr val="111111"/>
                </a:solidFill>
                <a:effectLst/>
                <a:latin typeface="-apple-system"/>
              </a:rPr>
              <a:t>non</a:t>
            </a:r>
            <a:r>
              <a:rPr lang="ru-RU" sz="2200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2200" b="1" i="1" dirty="0" err="1">
                <a:solidFill>
                  <a:srgbClr val="111111"/>
                </a:solidFill>
                <a:effectLst/>
                <a:latin typeface="-apple-system"/>
              </a:rPr>
              <a:t>fast-forward</a:t>
            </a:r>
            <a:r>
              <a:rPr lang="ru-RU" sz="2200" b="1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2200" b="1" i="1" dirty="0" err="1">
                <a:solidFill>
                  <a:srgbClr val="111111"/>
                </a:solidFill>
                <a:effectLst/>
                <a:latin typeface="-apple-system"/>
              </a:rPr>
              <a:t>merge</a:t>
            </a:r>
            <a:r>
              <a:rPr lang="ru-RU" sz="2200" b="1" i="1" dirty="0">
                <a:solidFill>
                  <a:srgbClr val="111111"/>
                </a:solidFill>
                <a:effectLst/>
                <a:latin typeface="-apple-system"/>
              </a:rPr>
              <a:t>)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,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пуш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 выполнить не получится. В таком случае необходимо сначала синхронизировать состояние локального репозитория (получить недостающие коммиты с помощью </a:t>
            </a:r>
            <a:r>
              <a:rPr lang="ru-RU" sz="2200" b="0" i="0" dirty="0" err="1">
                <a:solidFill>
                  <a:srgbClr val="111111"/>
                </a:solidFill>
                <a:effectLst/>
                <a:latin typeface="-apple-system"/>
              </a:rPr>
              <a:t>пулла</a:t>
            </a:r>
            <a:r>
              <a:rPr lang="ru-RU" sz="2200" b="0" i="0" dirty="0">
                <a:solidFill>
                  <a:srgbClr val="111111"/>
                </a:solidFill>
                <a:effectLst/>
                <a:latin typeface="-apple-system"/>
              </a:rPr>
              <a:t>), и только после этого повторить процесс пуша.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A7A84F-D9E0-4B4A-AD38-F5E93D177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54" y="1992844"/>
            <a:ext cx="5712018" cy="27092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CD8929-4184-42E1-BBBD-BC4436A7F7E2}"/>
              </a:ext>
            </a:extLst>
          </p:cNvPr>
          <p:cNvSpPr txBox="1"/>
          <p:nvPr/>
        </p:nvSpPr>
        <p:spPr>
          <a:xfrm>
            <a:off x="430163" y="4918278"/>
            <a:ext cx="1162329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Нередко возникает необходимость обновить информацию о состоянии удаленного репозитория (существующих ветках и коммитах в них) без выполнения 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слияния (</a:t>
            </a:r>
            <a:r>
              <a:rPr lang="ru-RU" sz="2000" b="1" i="0" dirty="0" err="1">
                <a:solidFill>
                  <a:srgbClr val="111111"/>
                </a:solidFill>
                <a:effectLst/>
                <a:latin typeface="-apple-system"/>
              </a:rPr>
              <a:t>пулла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). 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Такой процесс называется </a:t>
            </a:r>
            <a:r>
              <a:rPr lang="ru-RU" sz="2000" b="1" i="1" dirty="0" err="1">
                <a:solidFill>
                  <a:srgbClr val="111111"/>
                </a:solidFill>
                <a:effectLst/>
                <a:latin typeface="-apple-system"/>
              </a:rPr>
              <a:t>фетчем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 </a:t>
            </a:r>
            <a:r>
              <a:rPr lang="ru-RU" sz="2000" b="1" i="1" dirty="0">
                <a:solidFill>
                  <a:srgbClr val="111111"/>
                </a:solidFill>
                <a:effectLst/>
                <a:latin typeface="-apple-system"/>
              </a:rPr>
              <a:t>(</a:t>
            </a:r>
            <a:r>
              <a:rPr lang="ru-RU" sz="2000" b="1" i="1" dirty="0" err="1">
                <a:solidFill>
                  <a:srgbClr val="111111"/>
                </a:solidFill>
                <a:effectLst/>
                <a:latin typeface="-apple-system"/>
              </a:rPr>
              <a:t>fetch</a:t>
            </a:r>
            <a:r>
              <a:rPr lang="ru-RU" sz="2000" b="1" i="1" dirty="0">
                <a:solidFill>
                  <a:srgbClr val="111111"/>
                </a:solidFill>
                <a:effectLst/>
                <a:latin typeface="-apple-system"/>
              </a:rPr>
              <a:t>)</a:t>
            </a:r>
            <a:r>
              <a:rPr lang="ru-RU" sz="2000" b="0" i="1" dirty="0">
                <a:solidFill>
                  <a:srgbClr val="111111"/>
                </a:solidFill>
                <a:effectLst/>
                <a:latin typeface="-apple-system"/>
              </a:rPr>
              <a:t>. 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Таким образом, </a:t>
            </a:r>
            <a:r>
              <a:rPr lang="ru-RU" sz="2000" b="1" i="0" dirty="0" err="1">
                <a:solidFill>
                  <a:srgbClr val="111111"/>
                </a:solidFill>
                <a:effectLst/>
                <a:latin typeface="-apple-system"/>
              </a:rPr>
              <a:t>пулл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является комбинаций </a:t>
            </a:r>
            <a:r>
              <a:rPr lang="ru-RU" sz="2000" b="1" i="0" dirty="0" err="1">
                <a:solidFill>
                  <a:srgbClr val="111111"/>
                </a:solidFill>
                <a:effectLst/>
                <a:latin typeface="-apple-system"/>
              </a:rPr>
              <a:t>фетча</a:t>
            </a:r>
            <a:r>
              <a:rPr lang="ru-RU" sz="2000" b="1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и </a:t>
            </a:r>
            <a:r>
              <a:rPr lang="ru-RU" sz="2000" b="1" i="0" dirty="0" err="1">
                <a:solidFill>
                  <a:srgbClr val="111111"/>
                </a:solidFill>
                <a:effectLst/>
                <a:latin typeface="-apple-system"/>
              </a:rPr>
              <a:t>мерджа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-apple-system"/>
              </a:rPr>
              <a:t>: сперва обновляется информация о состоянии целевой ветки в удаленном репозитории, а затем ее изменения вливаются в текущую ветку в локальном репозитории.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452589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ACAF9-19A1-4527-839A-219DFC21E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>
                <a:latin typeface="-apple-system"/>
              </a:rPr>
              <a:t>Лабораторная работа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1B0D96-ED74-406C-8A63-7CCB8EAC5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>
                <a:latin typeface="-apple-system"/>
              </a:rPr>
              <a:t>установить СКВ  </a:t>
            </a:r>
          </a:p>
          <a:p>
            <a:r>
              <a:rPr lang="ru-RU" sz="2400" dirty="0">
                <a:latin typeface="-apple-system"/>
              </a:rPr>
              <a:t>создать репозиторий, выполнить операции: добавление файлов и папок в </a:t>
            </a:r>
            <a:r>
              <a:rPr lang="en-US" sz="2400" dirty="0">
                <a:latin typeface="-apple-system"/>
              </a:rPr>
              <a:t>    </a:t>
            </a:r>
            <a:r>
              <a:rPr lang="ru-RU" sz="2400" dirty="0">
                <a:latin typeface="-apple-system"/>
              </a:rPr>
              <a:t>репозиторий, создание версий файлов</a:t>
            </a:r>
            <a:r>
              <a:rPr lang="en-US" sz="2400" dirty="0">
                <a:latin typeface="-apple-system"/>
              </a:rPr>
              <a:t> </a:t>
            </a:r>
            <a:r>
              <a:rPr lang="ru-RU" sz="2400" dirty="0">
                <a:latin typeface="-apple-system"/>
              </a:rPr>
              <a:t>(подробнее в задании).</a:t>
            </a:r>
          </a:p>
          <a:p>
            <a:r>
              <a:rPr lang="ru-RU" sz="2400" dirty="0">
                <a:latin typeface="-apple-system"/>
              </a:rPr>
              <a:t>залить ваши лабораторные в репозиторий </a:t>
            </a:r>
            <a:r>
              <a:rPr lang="en-US" sz="2400" dirty="0">
                <a:latin typeface="-apple-system"/>
                <a:hlinkClick r:id="rId2"/>
              </a:rPr>
              <a:t>https://github.com/OrangeRedeng/Spring_2025</a:t>
            </a:r>
            <a:r>
              <a:rPr lang="ru-RU" sz="2400" dirty="0">
                <a:latin typeface="-apple-system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5648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4D26F-97D7-4DB7-9CED-B252D3F71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44442"/>
            <a:ext cx="10515600" cy="1325563"/>
          </a:xfrm>
        </p:spPr>
        <p:txBody>
          <a:bodyPr/>
          <a:lstStyle/>
          <a:p>
            <a:pPr algn="ctr"/>
            <a:r>
              <a:rPr lang="ru-RU" sz="3600" dirty="0">
                <a:latin typeface="-apple-system"/>
              </a:rPr>
              <a:t>Установка</a:t>
            </a:r>
            <a:r>
              <a:rPr lang="ru-RU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51C212-09B5-4B3B-9AAB-A7C320CA7DA5}"/>
              </a:ext>
            </a:extLst>
          </p:cNvPr>
          <p:cNvSpPr txBox="1"/>
          <p:nvPr/>
        </p:nvSpPr>
        <p:spPr>
          <a:xfrm>
            <a:off x="397164" y="6255563"/>
            <a:ext cx="114530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200" dirty="0">
                <a:latin typeface="-apple-system"/>
              </a:rPr>
              <a:t>Официальный сайт: </a:t>
            </a:r>
            <a:r>
              <a:rPr lang="en-US" sz="2200" dirty="0">
                <a:latin typeface="-apple-system"/>
                <a:hlinkClick r:id="rId2"/>
              </a:rPr>
              <a:t>http://git-scm.com/</a:t>
            </a:r>
            <a:r>
              <a:rPr lang="ru-RU" sz="2200" dirty="0">
                <a:latin typeface="-apple-system"/>
              </a:rPr>
              <a:t> (установочные параметры стандартные)</a:t>
            </a:r>
            <a:endParaRPr lang="en-US" sz="2200" dirty="0">
              <a:latin typeface="-apple-system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5988931-E7D8-4CC5-96E2-AFFB36D93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9405"/>
            <a:ext cx="12192000" cy="525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78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CA3580-9D90-4C8D-B5C9-216F980DA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363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/>
              <a:t>Командная строка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756CB5-6BC4-4C1A-BB01-0C08AFB5D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37" y="1565503"/>
            <a:ext cx="2495550" cy="28765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BCCBAC-F063-4DCF-92A7-723A80934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259" y="961016"/>
            <a:ext cx="6415377" cy="4085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F42F5C-826D-4C1C-A4A9-B7834C4A612F}"/>
              </a:ext>
            </a:extLst>
          </p:cNvPr>
          <p:cNvSpPr txBox="1"/>
          <p:nvPr/>
        </p:nvSpPr>
        <p:spPr>
          <a:xfrm>
            <a:off x="674255" y="5173709"/>
            <a:ext cx="113792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ru-RU" sz="2200" dirty="0">
                <a:latin typeface="-apple-system"/>
              </a:rPr>
              <a:t>Навигация по файловой системе: команда </a:t>
            </a:r>
            <a:r>
              <a:rPr lang="en-US" sz="2200" b="1" dirty="0">
                <a:latin typeface="-apple-system"/>
              </a:rPr>
              <a:t>cd</a:t>
            </a:r>
            <a:r>
              <a:rPr lang="ru-RU" sz="2200" dirty="0">
                <a:latin typeface="-apple-system"/>
              </a:rPr>
              <a:t>(использование: </a:t>
            </a:r>
            <a:r>
              <a:rPr lang="en-US" sz="2200" dirty="0">
                <a:latin typeface="-apple-system"/>
              </a:rPr>
              <a:t>cd</a:t>
            </a:r>
            <a:r>
              <a:rPr lang="ru-RU" sz="2200" dirty="0">
                <a:latin typeface="-apple-system"/>
              </a:rPr>
              <a:t>&lt;путь к папке&gt;)</a:t>
            </a:r>
            <a:br>
              <a:rPr lang="ru-RU" sz="2200" dirty="0">
                <a:latin typeface="-apple-system"/>
              </a:rPr>
            </a:br>
            <a:r>
              <a:rPr lang="ru-RU" sz="2200" dirty="0">
                <a:latin typeface="-apple-system"/>
              </a:rPr>
              <a:t>Посмотреть содержимое папки: команда </a:t>
            </a:r>
            <a:r>
              <a:rPr lang="en-US" sz="2200" b="1" dirty="0">
                <a:latin typeface="-apple-system"/>
              </a:rPr>
              <a:t>ls</a:t>
            </a:r>
            <a:br>
              <a:rPr lang="ru-RU" sz="2200" dirty="0">
                <a:latin typeface="-apple-system"/>
              </a:rPr>
            </a:br>
            <a:r>
              <a:rPr lang="ru-RU" sz="2200" dirty="0">
                <a:latin typeface="-apple-system"/>
              </a:rPr>
              <a:t>Создать папку: команда </a:t>
            </a:r>
            <a:r>
              <a:rPr lang="en-US" sz="2200" b="1" dirty="0" err="1">
                <a:latin typeface="-apple-system"/>
              </a:rPr>
              <a:t>mkdir</a:t>
            </a:r>
            <a:r>
              <a:rPr lang="ru-RU" sz="2200" dirty="0">
                <a:latin typeface="-apple-system"/>
              </a:rPr>
              <a:t> (использование: </a:t>
            </a:r>
            <a:r>
              <a:rPr lang="en-US" sz="2200" dirty="0" err="1">
                <a:latin typeface="-apple-system"/>
              </a:rPr>
              <a:t>mkdir</a:t>
            </a:r>
            <a:r>
              <a:rPr lang="ru-RU" sz="2200" dirty="0">
                <a:latin typeface="-apple-system"/>
              </a:rPr>
              <a:t>&lt;имя папки&gt;)</a:t>
            </a:r>
            <a:br>
              <a:rPr lang="ru-RU" sz="2200" dirty="0">
                <a:latin typeface="-apple-system"/>
              </a:rPr>
            </a:br>
            <a:r>
              <a:rPr lang="ru-RU" sz="2200" dirty="0">
                <a:latin typeface="-apple-system"/>
              </a:rPr>
              <a:t>Создать файл: команда </a:t>
            </a:r>
            <a:r>
              <a:rPr lang="en-US" sz="2200" b="1" dirty="0">
                <a:latin typeface="-apple-system"/>
              </a:rPr>
              <a:t>touch</a:t>
            </a:r>
            <a:r>
              <a:rPr lang="ru-RU" sz="2200" dirty="0">
                <a:latin typeface="-apple-system"/>
              </a:rPr>
              <a:t> (использование: </a:t>
            </a:r>
            <a:r>
              <a:rPr lang="en-US" sz="2200" dirty="0">
                <a:latin typeface="-apple-system"/>
              </a:rPr>
              <a:t>touch</a:t>
            </a:r>
            <a:r>
              <a:rPr lang="ru-RU" sz="2200" dirty="0">
                <a:latin typeface="-apple-system"/>
              </a:rPr>
              <a:t>&lt;имя файла&gt;)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8DF9C38C-0806-4ED9-9B8A-D6959EEC37E8}"/>
              </a:ext>
            </a:extLst>
          </p:cNvPr>
          <p:cNvCxnSpPr>
            <a:endCxn id="7" idx="1"/>
          </p:cNvCxnSpPr>
          <p:nvPr/>
        </p:nvCxnSpPr>
        <p:spPr>
          <a:xfrm flipV="1">
            <a:off x="3241387" y="3003778"/>
            <a:ext cx="1299872" cy="2566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08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120F7-2E56-46E7-8CB2-E5BACEC14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Основные команды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3C47B5-9806-4984-A732-8591F4FA4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3000" b="1" dirty="0">
                <a:latin typeface="-apple-system"/>
              </a:rPr>
              <a:t>git clone </a:t>
            </a:r>
            <a:r>
              <a:rPr lang="en-US" sz="3000" dirty="0">
                <a:latin typeface="-apple-system"/>
              </a:rPr>
              <a:t>– </a:t>
            </a:r>
            <a:r>
              <a:rPr lang="ru-RU" sz="3000" dirty="0">
                <a:latin typeface="-apple-system"/>
              </a:rPr>
              <a:t>клонирование репозитория </a:t>
            </a:r>
            <a:endParaRPr lang="en-US" sz="3000" dirty="0"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3000" b="1" i="0" dirty="0">
                <a:effectLst/>
                <a:latin typeface="-apple-system"/>
              </a:rPr>
              <a:t>git status</a:t>
            </a:r>
            <a:r>
              <a:rPr lang="ru-RU" sz="3000" b="1" i="0" dirty="0">
                <a:effectLst/>
                <a:latin typeface="-apple-system"/>
              </a:rPr>
              <a:t> </a:t>
            </a:r>
            <a:r>
              <a:rPr lang="ru-RU" sz="3000" b="0" i="0" dirty="0">
                <a:effectLst/>
                <a:latin typeface="-apple-system"/>
              </a:rPr>
              <a:t>– проверка статуса репозитория </a:t>
            </a:r>
            <a:endParaRPr lang="ru-RU" sz="3000" dirty="0"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3000" b="1" dirty="0">
                <a:latin typeface="-apple-system"/>
              </a:rPr>
              <a:t>git add </a:t>
            </a:r>
            <a:r>
              <a:rPr lang="en-US" sz="3000" dirty="0">
                <a:latin typeface="-apple-system"/>
              </a:rPr>
              <a:t>– </a:t>
            </a:r>
            <a:r>
              <a:rPr lang="ru-RU" sz="3000" dirty="0">
                <a:latin typeface="-apple-system"/>
              </a:rPr>
              <a:t>добавление изменений из индекса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3000" b="1" dirty="0">
                <a:latin typeface="-apple-system"/>
              </a:rPr>
              <a:t>git reset </a:t>
            </a:r>
            <a:r>
              <a:rPr lang="en-US" sz="3000" dirty="0">
                <a:latin typeface="-apple-system"/>
              </a:rPr>
              <a:t>– </a:t>
            </a:r>
            <a:r>
              <a:rPr lang="ru-RU" sz="3000" dirty="0">
                <a:latin typeface="-apple-system"/>
              </a:rPr>
              <a:t>удаление изменений из индекса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3000" b="1" dirty="0">
                <a:latin typeface="-apple-system"/>
              </a:rPr>
              <a:t>git commit </a:t>
            </a:r>
            <a:r>
              <a:rPr lang="en-US" sz="3000" dirty="0">
                <a:latin typeface="-apple-system"/>
              </a:rPr>
              <a:t>– </a:t>
            </a:r>
            <a:r>
              <a:rPr lang="ru-RU" sz="3000" dirty="0">
                <a:latin typeface="-apple-system"/>
              </a:rPr>
              <a:t>зафиксировать в коммите проиндексированные изменения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3000" b="1" dirty="0">
                <a:latin typeface="-apple-system"/>
              </a:rPr>
              <a:t>git tag </a:t>
            </a:r>
            <a:r>
              <a:rPr lang="en-US" sz="3000" dirty="0">
                <a:latin typeface="-apple-system"/>
              </a:rPr>
              <a:t>– </a:t>
            </a:r>
            <a:r>
              <a:rPr lang="ru-RU" sz="3000" dirty="0">
                <a:latin typeface="-apple-system"/>
              </a:rPr>
              <a:t>создать тег с указанным именем на коммите</a:t>
            </a:r>
            <a:endParaRPr lang="en-US" sz="3000" dirty="0"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3000" b="1" dirty="0">
                <a:latin typeface="-apple-system"/>
              </a:rPr>
              <a:t>git branch </a:t>
            </a:r>
            <a:r>
              <a:rPr lang="en-US" sz="3000" dirty="0">
                <a:latin typeface="-apple-system"/>
              </a:rPr>
              <a:t>– </a:t>
            </a:r>
            <a:r>
              <a:rPr lang="ru-RU" sz="3000" dirty="0">
                <a:latin typeface="-apple-system"/>
              </a:rPr>
              <a:t>показать список веток </a:t>
            </a:r>
            <a:endParaRPr lang="en-US" sz="3000" dirty="0"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3000" b="1" dirty="0">
                <a:latin typeface="-apple-system"/>
              </a:rPr>
              <a:t>git merge</a:t>
            </a:r>
            <a:r>
              <a:rPr lang="ru-RU" sz="3000" b="1" dirty="0">
                <a:latin typeface="-apple-system"/>
              </a:rPr>
              <a:t> </a:t>
            </a:r>
            <a:r>
              <a:rPr lang="ru-RU" sz="3000" dirty="0">
                <a:latin typeface="-apple-system"/>
              </a:rPr>
              <a:t>– слияние веток </a:t>
            </a:r>
            <a:endParaRPr lang="en-US" sz="3000" dirty="0">
              <a:latin typeface="-apple-system"/>
            </a:endParaRPr>
          </a:p>
          <a:p>
            <a:pPr marL="0" indent="0">
              <a:lnSpc>
                <a:spcPct val="100000"/>
              </a:lnSpc>
              <a:spcBef>
                <a:spcPct val="20000"/>
              </a:spcBef>
              <a:buNone/>
              <a:defRPr/>
            </a:pPr>
            <a:r>
              <a:rPr lang="en-US" sz="3000" b="1" dirty="0">
                <a:latin typeface="-apple-system"/>
              </a:rPr>
              <a:t>git pull </a:t>
            </a:r>
            <a:r>
              <a:rPr lang="en-US" sz="3000" dirty="0">
                <a:latin typeface="-apple-system"/>
              </a:rPr>
              <a:t>– </a:t>
            </a:r>
            <a:r>
              <a:rPr lang="ru-RU" sz="3000" dirty="0">
                <a:latin typeface="-apple-system"/>
              </a:rPr>
              <a:t>влить изменения в локальный репозиторий </a:t>
            </a:r>
            <a:endParaRPr lang="en-US" sz="3000" dirty="0"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3000" b="1" dirty="0">
                <a:latin typeface="-apple-system"/>
              </a:rPr>
              <a:t>git push </a:t>
            </a:r>
            <a:r>
              <a:rPr lang="ru-RU" sz="3000" dirty="0">
                <a:latin typeface="-apple-system"/>
              </a:rPr>
              <a:t>– влить изменения в удаленный репозиторий</a:t>
            </a:r>
            <a:endParaRPr lang="en-US" sz="3000" dirty="0">
              <a:latin typeface="-apple-system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1329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Объект 4">
            <a:extLst>
              <a:ext uri="{FF2B5EF4-FFF2-40B4-BE49-F238E27FC236}">
                <a16:creationId xmlns:a16="http://schemas.microsoft.com/office/drawing/2014/main" id="{5470B364-9DAB-42B5-8BEB-0C511A475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4109" y="1213834"/>
            <a:ext cx="4008583" cy="5010730"/>
          </a:xfrm>
          <a:prstGeom prst="rect">
            <a:avLst/>
          </a:prstGeom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1215AE8E-E2E2-4D94-BAAC-9E64E1E2E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08" y="633435"/>
            <a:ext cx="8368145" cy="5591129"/>
          </a:xfrm>
        </p:spPr>
      </p:pic>
    </p:spTree>
    <p:extLst>
      <p:ext uri="{BB962C8B-B14F-4D97-AF65-F5344CB8AC3E}">
        <p14:creationId xmlns:p14="http://schemas.microsoft.com/office/powerpoint/2010/main" val="2562185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EB31F87-DF6E-4EEF-901E-4CC050340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2182"/>
            <a:ext cx="10515600" cy="5795817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ru-RU" sz="2000" dirty="0"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2000" dirty="0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се изменения</a:t>
            </a:r>
            <a:r>
              <a:rPr lang="ru-RU" sz="2000" b="1" dirty="0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git </a:t>
            </a:r>
            <a:r>
              <a:rPr lang="ru-RU" sz="2000" dirty="0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сохраняются в системной папке </a:t>
            </a:r>
            <a:r>
              <a:rPr lang="ru-RU" sz="2000" b="1" dirty="0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2000" b="1" dirty="0" err="1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git</a:t>
            </a:r>
            <a:r>
              <a:rPr lang="ru-RU" sz="2000" dirty="0">
                <a:effectLst/>
                <a:latin typeface="-apple-system"/>
                <a:ea typeface="Calibri" panose="020F0502020204030204" pitchFamily="34" charset="0"/>
                <a:cs typeface="Times New Roman" panose="02020603050405020304" pitchFamily="18" charset="0"/>
              </a:rPr>
              <a:t>, находящейся в корне репозитория, и ее лучше не трогать</a:t>
            </a:r>
            <a:endParaRPr lang="en-US" sz="2000" dirty="0">
              <a:latin typeface="-apple-system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ru-RU" sz="2000" dirty="0">
                <a:latin typeface="-apple-system"/>
              </a:rPr>
              <a:t>Мы хотим хранить только исходный код и ничего другого в репозитории. А что может быть еще? Как минимум, скомпилированные классы и/или файлы, которые создают среды разработки. Чтобы гит их игнорировал, есть специальный файл, который нужно создать. Делаем это: создаем файл в корне проекта с названием </a:t>
            </a:r>
            <a:r>
              <a:rPr lang="ru-RU" sz="2000" b="1" dirty="0">
                <a:latin typeface="-apple-system"/>
              </a:rPr>
              <a:t>.</a:t>
            </a:r>
            <a:r>
              <a:rPr lang="ru-RU" sz="2000" b="1" dirty="0" err="1">
                <a:latin typeface="-apple-system"/>
              </a:rPr>
              <a:t>gitignore</a:t>
            </a:r>
            <a:r>
              <a:rPr lang="ru-RU" sz="2000" dirty="0">
                <a:latin typeface="-apple-system"/>
              </a:rPr>
              <a:t>, и в этом файле каждая строка будет шаблоном для игнорирования. Пример</a:t>
            </a:r>
            <a:r>
              <a:rPr lang="en-US" sz="2000" dirty="0">
                <a:latin typeface="-apple-system"/>
              </a:rPr>
              <a:t>:</a:t>
            </a:r>
          </a:p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endParaRPr lang="en-US" sz="20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marL="0" indent="0" algn="ctr">
              <a:lnSpc>
                <a:spcPct val="80000"/>
              </a:lnSpc>
              <a:spcBef>
                <a:spcPct val="20000"/>
              </a:spcBef>
              <a:buNone/>
              <a:defRPr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-apple-system"/>
              </a:rPr>
              <a:t>*.class </a:t>
            </a:r>
          </a:p>
          <a:p>
            <a:pPr marL="0" indent="0" algn="ctr">
              <a:lnSpc>
                <a:spcPct val="80000"/>
              </a:lnSpc>
              <a:spcBef>
                <a:spcPct val="20000"/>
              </a:spcBef>
              <a:buNone/>
              <a:defRPr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-apple-system"/>
              </a:rPr>
              <a:t>target/ </a:t>
            </a:r>
          </a:p>
          <a:p>
            <a:pPr marL="0" indent="0" algn="ctr">
              <a:lnSpc>
                <a:spcPct val="80000"/>
              </a:lnSpc>
              <a:spcBef>
                <a:spcPct val="20000"/>
              </a:spcBef>
              <a:buNone/>
              <a:defRPr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-apple-system"/>
              </a:rPr>
              <a:t>*.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-apple-system"/>
              </a:rPr>
              <a:t>iml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-apple-system"/>
              </a:rPr>
              <a:t> </a:t>
            </a:r>
          </a:p>
          <a:p>
            <a:pPr marL="0" indent="0" algn="ctr">
              <a:lnSpc>
                <a:spcPct val="80000"/>
              </a:lnSpc>
              <a:spcBef>
                <a:spcPct val="20000"/>
              </a:spcBef>
              <a:buNone/>
              <a:defRPr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-apple-system"/>
              </a:rPr>
              <a:t>.idea/</a:t>
            </a:r>
          </a:p>
          <a:p>
            <a:pPr marL="0" indent="0" algn="ctr">
              <a:lnSpc>
                <a:spcPct val="80000"/>
              </a:lnSpc>
              <a:spcBef>
                <a:spcPct val="20000"/>
              </a:spcBef>
              <a:buNone/>
              <a:defRPr/>
            </a:pPr>
            <a:endParaRPr lang="en-US" sz="20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-apple-system"/>
              </a:rPr>
              <a:t>первая строка — это игнорирование всех файлов с расширением .</a:t>
            </a:r>
            <a:r>
              <a:rPr lang="ru-RU" sz="2000" dirty="0" err="1">
                <a:latin typeface="-apple-system"/>
              </a:rPr>
              <a:t>class</a:t>
            </a:r>
            <a:r>
              <a:rPr lang="ru-RU" sz="2000" dirty="0">
                <a:latin typeface="-apple-system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-apple-system"/>
              </a:rPr>
              <a:t>вторая строка — это игнорирование папки </a:t>
            </a:r>
            <a:r>
              <a:rPr lang="ru-RU" sz="2000" dirty="0" err="1">
                <a:latin typeface="-apple-system"/>
              </a:rPr>
              <a:t>target</a:t>
            </a:r>
            <a:r>
              <a:rPr lang="ru-RU" sz="2000" dirty="0">
                <a:latin typeface="-apple-system"/>
              </a:rPr>
              <a:t> и всего, что она содержит;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-apple-system"/>
              </a:rPr>
              <a:t>третья строка — это игнорирование всех файлов с расширением .</a:t>
            </a:r>
            <a:r>
              <a:rPr lang="ru-RU" sz="2000" dirty="0" err="1">
                <a:latin typeface="-apple-system"/>
              </a:rPr>
              <a:t>iml</a:t>
            </a:r>
            <a:r>
              <a:rPr lang="ru-RU" sz="2000" dirty="0">
                <a:latin typeface="-apple-system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-apple-system"/>
              </a:rPr>
              <a:t>четвертая строка — это игнорирование папки .</a:t>
            </a:r>
            <a:r>
              <a:rPr lang="ru-RU" sz="2000" dirty="0" err="1">
                <a:latin typeface="-apple-system"/>
              </a:rPr>
              <a:t>idea</a:t>
            </a:r>
            <a:r>
              <a:rPr lang="ru-RU" sz="2000" dirty="0">
                <a:latin typeface="-apple-system"/>
              </a:rPr>
              <a:t>.</a:t>
            </a:r>
          </a:p>
          <a:p>
            <a:pPr marL="0" indent="0" algn="ctr">
              <a:lnSpc>
                <a:spcPct val="80000"/>
              </a:lnSpc>
              <a:spcBef>
                <a:spcPct val="20000"/>
              </a:spcBef>
              <a:buNone/>
              <a:defRPr/>
            </a:pPr>
            <a:endParaRPr lang="ru-RU" dirty="0">
              <a:latin typeface="-apple-system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C86BB55-1ABA-44F9-A7D9-A35ADCBA0897}"/>
              </a:ext>
            </a:extLst>
          </p:cNvPr>
          <p:cNvSpPr txBox="1">
            <a:spLocks/>
          </p:cNvSpPr>
          <p:nvPr/>
        </p:nvSpPr>
        <p:spPr>
          <a:xfrm>
            <a:off x="83820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.git &amp; .</a:t>
            </a:r>
            <a:r>
              <a:rPr lang="en-US" dirty="0" err="1"/>
              <a:t>gitignore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7247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9F2447-0F79-4F4C-AE4C-37DD60527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8494"/>
            <a:ext cx="10515600" cy="1325563"/>
          </a:xfrm>
        </p:spPr>
        <p:txBody>
          <a:bodyPr/>
          <a:lstStyle/>
          <a:p>
            <a:r>
              <a:rPr lang="en-US" dirty="0"/>
              <a:t>GitHub Desktop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6D57ACF-A6E5-4541-9EA1-39D1B729B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9" y="901988"/>
            <a:ext cx="10843382" cy="5692775"/>
          </a:xfrm>
        </p:spPr>
      </p:pic>
    </p:spTree>
    <p:extLst>
      <p:ext uri="{BB962C8B-B14F-4D97-AF65-F5344CB8AC3E}">
        <p14:creationId xmlns:p14="http://schemas.microsoft.com/office/powerpoint/2010/main" val="1634052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78F3D8-B6DE-4797-AE80-34829B7E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537"/>
            <a:ext cx="10515600" cy="1325563"/>
          </a:xfrm>
        </p:spPr>
        <p:txBody>
          <a:bodyPr/>
          <a:lstStyle/>
          <a:p>
            <a:r>
              <a:rPr lang="ru-RU" dirty="0"/>
              <a:t>Полезные ссылки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E8EEB0-0D3A-470E-BCF6-2C53FB914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3950"/>
            <a:ext cx="10515600" cy="5053013"/>
          </a:xfrm>
        </p:spPr>
        <p:txBody>
          <a:bodyPr>
            <a:noAutofit/>
          </a:bodyPr>
          <a:lstStyle/>
          <a:p>
            <a:pPr marL="311785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2000" dirty="0"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1. Интерактивные </a:t>
            </a:r>
            <a:r>
              <a:rPr lang="ru-RU" sz="2000" dirty="0" err="1"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туториалы</a:t>
            </a:r>
            <a:r>
              <a:rPr lang="ru-RU" sz="2000" dirty="0"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u-RU" sz="20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>
              <a:lnSpc>
                <a:spcPct val="115000"/>
              </a:lnSpc>
              <a:spcAft>
                <a:spcPts val="1000"/>
              </a:spcAft>
            </a:pP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http://githowto.com/ru</a:t>
            </a:r>
            <a:endParaRPr lang="ru-RU" sz="20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>
              <a:lnSpc>
                <a:spcPct val="115000"/>
              </a:lnSpc>
              <a:spcAft>
                <a:spcPts val="1000"/>
              </a:spcAft>
            </a:pP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https://try.github.io</a:t>
            </a:r>
            <a:r>
              <a:rPr lang="ru-RU" sz="2000" dirty="0"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>
              <a:lnSpc>
                <a:spcPct val="115000"/>
              </a:lnSpc>
              <a:spcAft>
                <a:spcPts val="1000"/>
              </a:spcAft>
            </a:pP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http://pcottle.github.io/learnGitBranching/</a:t>
            </a:r>
            <a:r>
              <a:rPr lang="ru-RU" sz="2000" dirty="0"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11785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2000" dirty="0"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2. Руководства для начинающих: </a:t>
            </a:r>
            <a:endParaRPr lang="ru-RU" sz="20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>
              <a:lnSpc>
                <a:spcPct val="115000"/>
              </a:lnSpc>
              <a:spcAft>
                <a:spcPts val="1000"/>
              </a:spcAft>
            </a:pP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http://cluster.krc.karelia.ru/doc/rukovodstvo_GIT.pdf</a:t>
            </a:r>
            <a:endParaRPr lang="ru-RU" sz="20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>
              <a:lnSpc>
                <a:spcPct val="115000"/>
              </a:lnSpc>
              <a:spcAft>
                <a:spcPts val="1000"/>
              </a:spcAft>
            </a:pPr>
            <a:r>
              <a:rPr lang="en-US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</a:t>
            </a: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://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habr</a:t>
            </a: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.</a:t>
            </a:r>
            <a:r>
              <a:rPr lang="en-US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com</a:t>
            </a: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/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ru</a:t>
            </a: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/</a:t>
            </a:r>
            <a:r>
              <a:rPr lang="en-US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sandbox</a:t>
            </a: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/156522/</a:t>
            </a:r>
            <a:r>
              <a:rPr lang="ru-RU" sz="2000" dirty="0"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 - основные понятия </a:t>
            </a:r>
            <a:endParaRPr lang="ru-RU" sz="20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>
              <a:lnSpc>
                <a:spcPct val="115000"/>
              </a:lnSpc>
              <a:spcAft>
                <a:spcPts val="1000"/>
              </a:spcAft>
            </a:pPr>
            <a:r>
              <a:rPr lang="en-US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</a:t>
            </a: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://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habr</a:t>
            </a: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.</a:t>
            </a:r>
            <a:r>
              <a:rPr lang="en-US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com</a:t>
            </a: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/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ru</a:t>
            </a: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/</a:t>
            </a:r>
            <a:r>
              <a:rPr lang="en-US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post</a:t>
            </a: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/541258/</a:t>
            </a:r>
            <a:r>
              <a:rPr lang="ru-RU" sz="2000" dirty="0"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000" dirty="0"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sz="2000" dirty="0"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 для новичков </a:t>
            </a:r>
            <a:endParaRPr lang="ru-RU" sz="20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>
              <a:lnSpc>
                <a:spcPct val="115000"/>
              </a:lnSpc>
              <a:spcAft>
                <a:spcPts val="1000"/>
              </a:spcAft>
            </a:pPr>
            <a:r>
              <a:rPr lang="en-US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</a:t>
            </a: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://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github</a:t>
            </a: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.</a:t>
            </a:r>
            <a:r>
              <a:rPr lang="en-US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com</a:t>
            </a: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/</a:t>
            </a:r>
            <a:r>
              <a:rPr lang="en-US" sz="2000" u="sng" dirty="0" err="1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cyberspacedk</a:t>
            </a: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/</a:t>
            </a:r>
            <a:r>
              <a:rPr lang="en-US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Git</a:t>
            </a:r>
            <a:r>
              <a:rPr lang="ru-RU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-</a:t>
            </a:r>
            <a:r>
              <a:rPr lang="en-US" sz="2000" u="sng" dirty="0">
                <a:solidFill>
                  <a:srgbClr val="0000FF"/>
                </a:solidFill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commands</a:t>
            </a:r>
            <a:r>
              <a:rPr lang="ru-RU" sz="2000" dirty="0"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 - шпаргалка по командам </a:t>
            </a:r>
            <a:r>
              <a:rPr lang="en-US" sz="2000" dirty="0">
                <a:effectLst/>
                <a:latin typeface="-apple-system"/>
                <a:ea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endParaRPr lang="ru-RU" sz="2000" dirty="0">
              <a:effectLst/>
              <a:latin typeface="-apple-system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3430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2662</Words>
  <Application>Microsoft Office PowerPoint</Application>
  <PresentationFormat>Широкоэкранный</PresentationFormat>
  <Paragraphs>109</Paragraphs>
  <Slides>23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-apple-system</vt:lpstr>
      <vt:lpstr>Arial</vt:lpstr>
      <vt:lpstr>Calibri</vt:lpstr>
      <vt:lpstr>Calibri Light</vt:lpstr>
      <vt:lpstr>Тема Office</vt:lpstr>
      <vt:lpstr>Система контроля версий (Version Control System)</vt:lpstr>
      <vt:lpstr>Что такое система контроля версий? </vt:lpstr>
      <vt:lpstr>Виды СКВ: Copy-paste</vt:lpstr>
      <vt:lpstr>Локальная система контроля версий</vt:lpstr>
      <vt:lpstr>Централизованная система контроля версий</vt:lpstr>
      <vt:lpstr>Распределенная система контроля версий</vt:lpstr>
      <vt:lpstr>Краткая история Git</vt:lpstr>
      <vt:lpstr>Презентация PowerPoint</vt:lpstr>
      <vt:lpstr>Основные термины</vt:lpstr>
      <vt:lpstr>Ветки (branch)</vt:lpstr>
      <vt:lpstr>Слияние веток (merge)</vt:lpstr>
      <vt:lpstr>Несколько слияний</vt:lpstr>
      <vt:lpstr> Коммиты и их хеши, теги</vt:lpstr>
      <vt:lpstr>пулл (pull) </vt:lpstr>
      <vt:lpstr>пуш (push) </vt:lpstr>
      <vt:lpstr>Лабораторная работа </vt:lpstr>
      <vt:lpstr>Установка </vt:lpstr>
      <vt:lpstr>Командная строка </vt:lpstr>
      <vt:lpstr>Основные команды</vt:lpstr>
      <vt:lpstr>Презентация PowerPoint</vt:lpstr>
      <vt:lpstr>Презентация PowerPoint</vt:lpstr>
      <vt:lpstr>GitHub Desktop</vt:lpstr>
      <vt:lpstr>Полезные ссылки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контроля версий (Version Control System</dc:title>
  <dc:creator>Artyom Savkin</dc:creator>
  <cp:lastModifiedBy>Савкин Артем</cp:lastModifiedBy>
  <cp:revision>36</cp:revision>
  <dcterms:created xsi:type="dcterms:W3CDTF">2022-10-30T17:45:11Z</dcterms:created>
  <dcterms:modified xsi:type="dcterms:W3CDTF">2026-01-25T10:09:54Z</dcterms:modified>
</cp:coreProperties>
</file>